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</p:sldIdLst>
  <p:notesMasterIdLst>
    <p:notesMasterId r:id="rId12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notesMaster" Target="notesMasters/notesMaster1.xml"/><Relationship Id="rId124" Type="http://schemas.openxmlformats.org/officeDocument/2006/relationships/presProps" Target="presProps.xml"/><Relationship Id="rId125" Type="http://schemas.openxmlformats.org/officeDocument/2006/relationships/viewProps" Target="viewProps.xml"/><Relationship Id="rId126" Type="http://schemas.openxmlformats.org/officeDocument/2006/relationships/theme" Target="theme/theme1.xml"/><Relationship Id="rId1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body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99120"/>
            <a:ext cx="10566400" cy="40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12801"/>
            <a:ext cx="10566400" cy="443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/>
          <p:nvPr>
            <p:ph type="title"/>
          </p:nvPr>
        </p:nvSpPr>
        <p:spPr>
          <a:xfrm>
            <a:off x="812800" y="899120"/>
            <a:ext cx="10566400" cy="40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15000"/>
              </a:lnSpc>
              <a:buNone/>
              <a:defRPr lang="en-US" sz="280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defRPr>
            </a:lvl1pPr>
          </a:lstStyle>
          <a:p>
            <a:pPr algn="l" indent="0" marL="0">
              <a:lnSpc>
                <a:spcPct val="115000"/>
              </a:lnSpc>
              <a:buNone/>
            </a:pPr>
            <a:endParaRPr lang="en-US" sz="2800" dirty="0"/>
          </a:p>
        </p:txBody>
      </p:sp>
      <p:sp>
        <p:nvSpPr>
          <p:cNvPr id="3" name="Text Placeholder 2"/>
          <p:cNvSpPr/>
          <p:nvPr>
            <p:ph idx="101" type="body"/>
          </p:nvPr>
        </p:nvSpPr>
        <p:spPr>
          <a:xfrm>
            <a:off x="812800" y="1612801"/>
            <a:ext cx="10566400" cy="443239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algn="l" indent="0" marL="0">
              <a:lnSpc>
                <a:spcPct val="140000"/>
              </a:lnSpc>
              <a:buNone/>
              <a:defRPr lang="en-US" sz="1600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defRPr>
            </a:lvl1pPr>
          </a:lstStyle>
          <a:p>
            <a:pPr algn="l" indent="0" marL="0">
              <a:lnSpc>
                <a:spcPct val="140000"/>
              </a:lnSpc>
              <a:buNone/>
            </a:pPr>
            <a:endParaRPr lang="en-US" sz="160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3-1.png"/><Relationship Id="rId2" Type="http://schemas.openxmlformats.org/officeDocument/2006/relationships/image" Target="../media/image-33-2.png"/><Relationship Id="rId3" Type="http://schemas.openxmlformats.org/officeDocument/2006/relationships/image" Target="../media/image-33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jpeg"/><Relationship Id="rId2" Type="http://schemas.openxmlformats.org/officeDocument/2006/relationships/image" Target="../media/image-49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image" Target="../media/image-52-3.png"/><Relationship Id="rId4" Type="http://schemas.openxmlformats.org/officeDocument/2006/relationships/image" Target="../media/image-52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5-1.jpeg"/><Relationship Id="rId2" Type="http://schemas.openxmlformats.org/officeDocument/2006/relationships/image" Target="../media/image-55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6-1.jpeg"/><Relationship Id="rId2" Type="http://schemas.openxmlformats.org/officeDocument/2006/relationships/image" Target="../media/image-56-2.jpeg"/><Relationship Id="rId3" Type="http://schemas.openxmlformats.org/officeDocument/2006/relationships/image" Target="../media/image-56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7-1.jpeg"/><Relationship Id="rId2" Type="http://schemas.openxmlformats.org/officeDocument/2006/relationships/image" Target="../media/image-57-2.jpeg"/><Relationship Id="rId3" Type="http://schemas.openxmlformats.org/officeDocument/2006/relationships/image" Target="../media/image-57-3.jpe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jpeg"/><Relationship Id="rId2" Type="http://schemas.openxmlformats.org/officeDocument/2006/relationships/image" Target="../media/image-5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9-1.jpeg"/><Relationship Id="rId2" Type="http://schemas.openxmlformats.org/officeDocument/2006/relationships/image" Target="../media/image-59-2.jpeg"/><Relationship Id="rId3" Type="http://schemas.openxmlformats.org/officeDocument/2006/relationships/image" Target="../media/image-59-3.jpeg"/><Relationship Id="rId4" Type="http://schemas.openxmlformats.org/officeDocument/2006/relationships/image" Target="../media/image-59-4.jpeg"/><Relationship Id="rId5" Type="http://schemas.openxmlformats.org/officeDocument/2006/relationships/image" Target="../media/image-59-5.jpe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2-1.jpeg"/><Relationship Id="rId2" Type="http://schemas.openxmlformats.org/officeDocument/2006/relationships/image" Target="../media/image-62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4-1.png"/><Relationship Id="rId2" Type="http://schemas.openxmlformats.org/officeDocument/2006/relationships/image" Target="../media/image-64-2.png"/><Relationship Id="rId3" Type="http://schemas.openxmlformats.org/officeDocument/2006/relationships/image" Target="../media/image-64-3.png"/><Relationship Id="rId4" Type="http://schemas.openxmlformats.org/officeDocument/2006/relationships/image" Target="../media/image-64-4.png"/><Relationship Id="rId5" Type="http://schemas.openxmlformats.org/officeDocument/2006/relationships/image" Target="../media/image-64-5.png"/><Relationship Id="rId6" Type="http://schemas.openxmlformats.org/officeDocument/2006/relationships/image" Target="../media/image-64-6.png"/><Relationship Id="rId7" Type="http://schemas.openxmlformats.org/officeDocument/2006/relationships/slideLayout" Target="../slideLayouts/slideLayout2.xml"/><Relationship Id="rId8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5-1.png"/><Relationship Id="rId2" Type="http://schemas.openxmlformats.org/officeDocument/2006/relationships/image" Target="../media/image-65-2.png"/><Relationship Id="rId3" Type="http://schemas.openxmlformats.org/officeDocument/2006/relationships/image" Target="../media/image-65-3.png"/><Relationship Id="rId4" Type="http://schemas.openxmlformats.org/officeDocument/2006/relationships/image" Target="../media/image-65-4.png"/><Relationship Id="rId5" Type="http://schemas.openxmlformats.org/officeDocument/2006/relationships/image" Target="../media/image-65-5.png"/><Relationship Id="rId6" Type="http://schemas.openxmlformats.org/officeDocument/2006/relationships/image" Target="../media/image-65-6.png"/><Relationship Id="rId7" Type="http://schemas.openxmlformats.org/officeDocument/2006/relationships/image" Target="../media/image-65-7.png"/><Relationship Id="rId8" Type="http://schemas.openxmlformats.org/officeDocument/2006/relationships/slideLayout" Target="../slideLayouts/slideLayout2.xml"/><Relationship Id="rId9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4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4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5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6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8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79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0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1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3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4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5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5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6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8-1.png"/><Relationship Id="rId2" Type="http://schemas.openxmlformats.org/officeDocument/2006/relationships/image" Target="../media/image-88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88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9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0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1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2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3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3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4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5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6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7-1.png"/><Relationship Id="rId2" Type="http://schemas.openxmlformats.org/officeDocument/2006/relationships/image" Target="../media/image-9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8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99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0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1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2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3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4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5.xml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6.xml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7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7.xml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8.xml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09.xml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0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0.xml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1.xml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2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2.xml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3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3.xml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4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4.xml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5.xml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6-1.png"/><Relationship Id="rId2" Type="http://schemas.openxmlformats.org/officeDocument/2006/relationships/image" Target="../media/image-116-2.png"/><Relationship Id="rId3" Type="http://schemas.openxmlformats.org/officeDocument/2006/relationships/image" Target="../media/image-116-3.png"/><Relationship Id="rId4" Type="http://schemas.openxmlformats.org/officeDocument/2006/relationships/slideLayout" Target="../slideLayouts/slideLayout2.xml"/><Relationship Id="rId5" Type="http://schemas.openxmlformats.org/officeDocument/2006/relationships/notesSlide" Target="../notesSlides/notesSlide116.xml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7.xml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8-1.jpeg"/><Relationship Id="rId2" Type="http://schemas.openxmlformats.org/officeDocument/2006/relationships/image" Target="../media/image-118-2.jpe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118.xml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9-1.jpe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19.xml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0.xml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CD9B34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E6CF9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한국보험금융(주)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12800" y="2392065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CD9B3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2026년 2월</a:t>
            </a:r>
            <a:endParaRPr lang="en-US" sz="2000" dirty="0"/>
          </a:p>
        </p:txBody>
      </p:sp>
      <p:sp>
        <p:nvSpPr>
          <p:cNvPr id="5" name="Text 3"/>
          <p:cNvSpPr/>
          <p:nvPr>
            <p:ph type="title"/>
          </p:nvPr>
        </p:nvSpPr>
        <p:spPr>
          <a:xfrm>
            <a:off x="812800" y="2950865"/>
            <a:ext cx="10883392" cy="958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350"/>
              </a:lnSpc>
              <a:buNone/>
            </a:pPr>
            <a:r>
              <a:rPr lang="en-US" sz="7000" b="1" i="0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Issue &amp; Concept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812800" y="4087515"/>
            <a:ext cx="10883392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C9D2E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노후 건강보험료 · 단기납 종신 vs 간병보험 · 납입면제 · 유니버셜달러종신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12800" y="5760740"/>
            <a:ext cx="2942749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F3F5F8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전략채널본부 조진열 관리부장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588000" y="5831880"/>
            <a:ext cx="57912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AB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본 자료는 내부 교육용 자료이므로 고객 상담 시 직접 사용하실 수 없습니다.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CONTENTS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오늘 다룰 내용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673126"/>
            <a:ext cx="10566400" cy="0"/>
          </a:xfrm>
          <a:prstGeom prst="line">
            <a:avLst/>
          </a:prstGeom>
          <a:noFill/>
          <a:ln w="19050">
            <a:solidFill>
              <a:srgbClr val="0F23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911251"/>
            <a:ext cx="812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PART 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879600" y="1860451"/>
            <a:ext cx="40551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노후 재정 전략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6121400" y="1911251"/>
            <a:ext cx="541553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국민건강보험료 부과체계 · 피부양자 자격 · 과세 vs 비과세 연금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812800" y="3006626"/>
            <a:ext cx="105664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800" y="2571651"/>
            <a:ext cx="812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PART 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879600" y="2520851"/>
            <a:ext cx="40551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단기납 종신 vs 간병보험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6121400" y="2571651"/>
            <a:ext cx="541553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환급률 · 절세혜택 · 보험금 비교, 케어백 간병플러스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812800" y="3673376"/>
            <a:ext cx="105664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800" y="3238401"/>
            <a:ext cx="812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PART 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879600" y="3187601"/>
            <a:ext cx="40551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보험료 납입면제 활용 방안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121400" y="3238401"/>
            <a:ext cx="541553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생손보 비교 · 연령별 발생률 · 장애와 장해 · 상품별 납입면제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812800" y="4340126"/>
            <a:ext cx="105664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12800" y="3905151"/>
            <a:ext cx="81280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PART 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879600" y="3854351"/>
            <a:ext cx="4055110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무배당 유니버셜달러종신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121400" y="3905151"/>
            <a:ext cx="541553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달러 자산 · 상품 포인트 · 판매 컨셉 · 가입설계 · 유의사항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CD9B34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221109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200" kern="0" dirty="0">
                <a:solidFill>
                  <a:srgbClr val="CD9B3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PART 1 · 노후 재정 전략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2698750"/>
            <a:ext cx="10883392" cy="1427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800" b="1" i="0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“세금보다 무서운</a:t>
            </a:r>
            <a:endParaRPr lang="en-US" sz="4800" dirty="0"/>
          </a:p>
          <a:p>
            <a:pPr algn="l" indent="0" marL="0">
              <a:lnSpc>
                <a:spcPts val="5520"/>
              </a:lnSpc>
              <a:buNone/>
            </a:pPr>
            <a:r>
              <a:rPr lang="en-US" sz="4800" b="1" i="0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국민건강보험료”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12800" y="4303911"/>
            <a:ext cx="10883392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C9D2E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건강보험료 부과체계와 피부양자 자격 조건, 그리고 비과세 연금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노후 재정 전략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국민건강보험료: 가입자가 내는 일정한 돈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74701"/>
          <a:ext cx="10553700" cy="3699669"/>
        </p:xfrm>
        <a:graphic>
          <a:graphicData uri="http://schemas.openxmlformats.org/drawingml/2006/table">
            <a:tbl>
              <a:tblPr/>
              <a:tblGrid>
                <a:gridCol w="1477518"/>
                <a:gridCol w="3166110"/>
                <a:gridCol w="2955036"/>
                <a:gridCol w="2955036"/>
              </a:tblGrid>
              <a:tr h="351036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구분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직장가입자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지역가입자 ①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지역가입자 ②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</a:tr>
              <a:tr h="57388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조건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연봉 6,000만원(직장인)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연금소득 1,200만원 / 주택(자가) 과표 5억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연금소득 3,000만원 / 주택(자가) 과표 10억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51036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산출 기준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건강보험료율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기본적으로 소득, 재산 등을 참작하여 계산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기본적으로 소득, 재산 등을 참작하여 계산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7388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산출 근거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건강보험료율 7.09%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소득월액 보험료 (소득월액 × 건강보험료율) 35,450원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소득월액 보험료 (소득월액 × 건강보험료율) 88,625원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036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요양보험료율 0.9182%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재산보험료 157,758원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재산보험료 208,608원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796727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(500만원 × 7.09%) + (500만원 × 0.9182%) = 354,500원 + 45,910원 = 400,410원 ÷ 2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건강보험료 193,200원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건강보험료 297,230원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036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667185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–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장기요양보험료 25,020원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장기요양보험료 38,490원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1036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보험료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200,205원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218,220원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335,720원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노후 재정 전략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65세부터 90세까지 매월 납부한다면?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612801"/>
            <a:ext cx="10566400" cy="762000"/>
          </a:xfrm>
          <a:prstGeom prst="roundRect">
            <a:avLst>
              <a:gd name="adj" fmla="val 6667"/>
            </a:avLst>
          </a:prstGeom>
          <a:solidFill>
            <a:srgbClr val="F3F5F8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1866801"/>
            <a:ext cx="213082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지역가입자 ① 월 보험료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197622" y="1816001"/>
            <a:ext cx="5915025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218,220원 × 12개월 × 25년 = 65,466,000원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19150" y="2685951"/>
            <a:ext cx="5130800" cy="3352899"/>
          </a:xfrm>
          <a:prstGeom prst="roundRect">
            <a:avLst>
              <a:gd name="adj" fmla="val 1326"/>
            </a:avLst>
          </a:prstGeom>
          <a:solidFill>
            <a:srgbClr val="FFFFFF"/>
          </a:solidFill>
          <a:ln w="12700">
            <a:solidFill>
              <a:srgbClr val="E1E6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30300" y="3242270"/>
            <a:ext cx="464375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A318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과세 대상 소득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130300" y="3643511"/>
            <a:ext cx="464375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은퇴 후 65세부터 90세까지 총 25년 동안 매월 100만원씩 과세 대상 소득을 수령하는 사람은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30300" y="4405511"/>
            <a:ext cx="4643755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A3182E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65,466,000원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1130300" y="5197971"/>
            <a:ext cx="464375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의 건보료를 납입해야 합니다.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223000" y="2692301"/>
            <a:ext cx="5143500" cy="3340199"/>
          </a:xfrm>
          <a:prstGeom prst="roundRect">
            <a:avLst>
              <a:gd name="adj" fmla="val 1141"/>
            </a:avLst>
          </a:prstGeom>
          <a:solidFill>
            <a:srgbClr val="FFFFFF"/>
          </a:solidFill>
          <a:ln w="25400">
            <a:solidFill>
              <a:srgbClr val="0F234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40500" y="3242270"/>
            <a:ext cx="464375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E6B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비과세 대상 소득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540500" y="3643511"/>
            <a:ext cx="4643755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은퇴 후 65세부터 90세까지 총 25년 동안 매월 100만원씩 비과세 대상 소득을 수령하는 사람은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40500" y="4405511"/>
            <a:ext cx="4643755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65,466,000원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540500" y="5197971"/>
            <a:ext cx="464375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E6B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의 건보료를 납입하지 않아도 됩니다.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08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노후 재정 전략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7975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건강보험료 부과체계 및 피부양자 자격 조건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422301"/>
          <a:ext cx="10553700" cy="3647877"/>
        </p:xfrm>
        <a:graphic>
          <a:graphicData uri="http://schemas.openxmlformats.org/drawingml/2006/table">
            <a:tbl>
              <a:tblPr/>
              <a:tblGrid>
                <a:gridCol w="1266444"/>
                <a:gridCol w="2321814"/>
                <a:gridCol w="3482721"/>
                <a:gridCol w="3482721"/>
              </a:tblGrid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구분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항목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과거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2단계 개편 후 ~ 현재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</a:tr>
              <a:tr h="51534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지역가입자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재산보험료 공제 확대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500~1,350만원 (재산금액 구간 별 차등 공제)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1억원 일괄공제 (예: 재산세 과표(공시지가 × 공정시장가액비율) - 1억)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지역가입자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소득점수 폐지, 정률제 도입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소득점수제(등급별)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정률제(직장가입자와 동일한 보험료율 적용)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34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지역가입자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자동차보험료 부과대상 축소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배기량 기준 별 차등부과 (1,600cc 이하, 1,600~3,000cc 등)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폐지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지역가입자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최저보험료 기준 변경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연소득 100만원 이하 → 월 14,560원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연소득 336만원 이하 → 월 19,780원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직장가입자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보수 외 소득보험료 적용 강화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연간 3,400만원 초과하는 경우 건보료 추가 부담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연간 2,000만원 초과하는 경우 건보료 추가 부담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피부양자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자격기준 강화 (소득)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연소득 3,400만원 초과 시 지역가입자 전환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318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연소득 2,000만원 초과 시 지역가입자 전환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</a:tr>
              <a:tr h="713383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피부양자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자격기준 강화 (재산, 과거·현재 공통)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재산세 과표 5.4억원 초과 ~ 9억원 이하 &amp; 연소득 1,000만원 초과 or 재산세 과표 9억원 초과 시 지역가입자 전환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재산세 과표 5.4억원 초과 ~ 9억원 이하 &amp; 연소득 1,000만원 초과 or 재산세 과표 9억원 초과 시 지역가입자 전환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</a:tr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공통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연금·근로소득 반영율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30%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50%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노후 재정 전략 · 피부양자 인정기준 ①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소득요건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571526"/>
            <a:ext cx="10566400" cy="0"/>
          </a:xfrm>
          <a:prstGeom prst="line">
            <a:avLst/>
          </a:prstGeom>
          <a:noFill/>
          <a:ln w="19050">
            <a:solidFill>
              <a:srgbClr val="0F23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2139851"/>
            <a:ext cx="105664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1727101"/>
            <a:ext cx="457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①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22400" y="1720751"/>
            <a:ext cx="1025550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사업자등록자로 사업소득이 없는 경우</a:t>
            </a: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</a:t>
            </a:r>
            <a:r>
              <a:rPr lang="en-US" sz="1500" dirty="0">
                <a:solidFill>
                  <a:srgbClr val="A318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(1원이라도 발생 시 건보료 부과 = 지역가입자로 전환)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12800" y="2701826"/>
            <a:ext cx="105664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2800" y="2289076"/>
            <a:ext cx="457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②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422400" y="2282726"/>
            <a:ext cx="1025550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사업자등록이 없고 사업소득이 연간 500만원 이하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12800" y="2705001"/>
            <a:ext cx="10566400" cy="561975"/>
          </a:xfrm>
          <a:prstGeom prst="rect">
            <a:avLst/>
          </a:prstGeom>
          <a:solidFill>
            <a:srgbClr val="FBF4E3"/>
          </a:solidFill>
          <a:ln/>
        </p:spPr>
      </p:sp>
      <p:sp>
        <p:nvSpPr>
          <p:cNvPr id="12" name="Shape 10"/>
          <p:cNvSpPr/>
          <p:nvPr/>
        </p:nvSpPr>
        <p:spPr>
          <a:xfrm>
            <a:off x="812800" y="3263801"/>
            <a:ext cx="105664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800" y="2851051"/>
            <a:ext cx="457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③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422400" y="2844701"/>
            <a:ext cx="1025550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모든 소득(금융, 사업, 근로, 연금, 기타 등)을 합하여 연간 </a:t>
            </a:r>
            <a:r>
              <a:rPr lang="en-US" sz="1500" b="1" dirty="0">
                <a:solidFill>
                  <a:srgbClr val="A318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2,000만원</a:t>
            </a: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이하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812800" y="4102001"/>
            <a:ext cx="105664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12800" y="3413026"/>
            <a:ext cx="457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422400" y="3406676"/>
            <a:ext cx="10255504" cy="5778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피부양자가 기혼자인 경우에는 부부 모두 소득요건을 충족해야 함</a:t>
            </a:r>
            <a:endParaRPr lang="en-US" sz="1500" dirty="0"/>
          </a:p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(소득요건: 부부 합산소득 2,000만원 이하, 재산요건: 부부 별도)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12800" y="4663976"/>
            <a:ext cx="105664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2800" y="4251226"/>
            <a:ext cx="457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422400" y="4244876"/>
            <a:ext cx="1025550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주택임대소득자의 경우 사업자등록 유무에 관계없이 소득이 있는 경우 제외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812800" y="5225951"/>
            <a:ext cx="105664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2800" y="4813201"/>
            <a:ext cx="4572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22400" y="4806851"/>
            <a:ext cx="10255504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장애인, 국가유공, 보훈보상대상자는 사업자등록 유무와 관계없이 연간 소득 500만원 이하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노후 재정 전략 · 피부양자 인정기준 ②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재산요건 · 부양요건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565176"/>
            <a:ext cx="5149850" cy="4476849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73150" y="1822351"/>
            <a:ext cx="477456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재산요건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073150" y="2254151"/>
            <a:ext cx="477456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① 재산과표가 </a:t>
            </a:r>
            <a:r>
              <a:rPr lang="en-US" sz="1400" b="1" dirty="0">
                <a:solidFill>
                  <a:srgbClr val="A318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5.4억원</a:t>
            </a:r>
            <a:r>
              <a:rPr lang="en-US" sz="14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이하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73150" y="2647851"/>
            <a:ext cx="477456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② 재산과표가 5.4억원을 초과하면서 9억원 이하인 경우에는 연간 소득 </a:t>
            </a:r>
            <a:r>
              <a:rPr lang="en-US" sz="1400" b="1" dirty="0">
                <a:solidFill>
                  <a:srgbClr val="A318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1,000만원</a:t>
            </a:r>
            <a:r>
              <a:rPr lang="en-US" sz="14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이하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3150" y="3308251"/>
            <a:ext cx="477456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③ 형제자매는 재산과표 1.8억원 이하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73150" y="3701951"/>
            <a:ext cx="477456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재산의 종류: 토지, 건축물, 주택, 선박, 항공기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226175" y="1565176"/>
            <a:ext cx="5149850" cy="4476849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83350" y="1822351"/>
            <a:ext cx="4774565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부양요건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483350" y="2254151"/>
            <a:ext cx="477456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① 직장가입자의 배우자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83350" y="2647851"/>
            <a:ext cx="477456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② 직장가입자의 직계존속 (배우자의 직계존속 포함)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83350" y="3041551"/>
            <a:ext cx="48895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③ 직장가입자의 직계비속 (배우자의 직계비속 포함)과 그 배우자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83350" y="3435251"/>
            <a:ext cx="4774565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④ 소득, 재산요건을 충족하는 형제, 자매 중 미혼으로 65세 이상, 30세 미만, 장애인, 국가유공, 보훈대상자 등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노후 재정 전략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비과세 소득은 건보료 제외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562001"/>
            <a:ext cx="7010400" cy="4483199"/>
          </a:xfrm>
          <a:prstGeom prst="roundRect">
            <a:avLst>
              <a:gd name="adj" fmla="val 1133"/>
            </a:avLst>
          </a:prstGeom>
          <a:solidFill>
            <a:srgbClr val="F3F5F8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790601"/>
            <a:ext cx="664514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국민건강보험법 시행령 제41조(소득월액)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92200" y="2102941"/>
            <a:ext cx="664514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① 법 제71조제1항에 따른 소득월액 산정에 포함되는 소득은 다음 각 호와 같다. </a:t>
            </a:r>
            <a:r>
              <a:rPr lang="en-US" sz="12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 경우 「소득세법」에 따른 비과세소득은 제외한다.</a:t>
            </a:r>
            <a:r>
              <a:rPr lang="en-US" sz="12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〈개정 2020. 10. 7., 2022. 6. 30.〉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92200" y="2623641"/>
            <a:ext cx="664514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 </a:t>
            </a:r>
            <a:r>
              <a:rPr lang="en-US" sz="12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</a:t>
            </a: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자소득: 「소득세법」 제16조에 따른 소득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2200" y="2915741"/>
            <a:ext cx="664514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2. </a:t>
            </a:r>
            <a:r>
              <a:rPr lang="en-US" sz="12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배</a:t>
            </a: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당소득: 「소득세법」 제17조에 따른 소득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2200" y="3207841"/>
            <a:ext cx="664514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3. </a:t>
            </a:r>
            <a:r>
              <a:rPr lang="en-US" sz="12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</a:t>
            </a: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업소득: 「소득세법」 제19조에 따른 소득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2200" y="3499941"/>
            <a:ext cx="664514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4. </a:t>
            </a:r>
            <a:r>
              <a:rPr lang="en-US" sz="12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근</a:t>
            </a: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로소득: 「소득세법」 제20조에 따른 소득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2200" y="3792041"/>
            <a:ext cx="6645148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5. </a:t>
            </a:r>
            <a:r>
              <a:rPr lang="en-US" sz="12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연</a:t>
            </a: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금소득: 「소득세법」 제20조의3에 따른 소득. 다만, 같은 조 제1항제1호의 공적연금소득의 경우에는 같은 조 제2항을 적용하지 않고 해당 과세기간에 발생한 연금소득 전부를 연금소득으로 한다.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2200" y="4312741"/>
            <a:ext cx="664514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6. </a:t>
            </a:r>
            <a:r>
              <a:rPr lang="en-US" sz="12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</a:t>
            </a: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타소득: 「소득세법」 제21조에 따른 소득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077200" y="1562001"/>
            <a:ext cx="3302000" cy="4483199"/>
          </a:xfrm>
          <a:prstGeom prst="roundRect">
            <a:avLst>
              <a:gd name="adj" fmla="val 1538"/>
            </a:avLst>
          </a:prstGeom>
          <a:solidFill>
            <a:srgbClr val="0F2340"/>
          </a:solidFill>
          <a:ln/>
        </p:spPr>
      </p:sp>
      <p:sp>
        <p:nvSpPr>
          <p:cNvPr id="14" name="Text 12"/>
          <p:cNvSpPr/>
          <p:nvPr/>
        </p:nvSpPr>
        <p:spPr>
          <a:xfrm>
            <a:off x="8382000" y="2831505"/>
            <a:ext cx="2773172" cy="11567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97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이·배·사·근·연·기 소득은 건보료 납부 대상 소득!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82000" y="4166096"/>
            <a:ext cx="277317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E6CF9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하지만 소득세법 상 비과세 소득은 건보료 부과 제외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노후 재정 전략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연금소득 (소득세법 제20조의3)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565176"/>
            <a:ext cx="5149850" cy="2160191"/>
          </a:xfrm>
          <a:prstGeom prst="roundRect">
            <a:avLst>
              <a:gd name="adj" fmla="val 2205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3950" y="1873151"/>
            <a:ext cx="4669917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공적연금 소득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123950" y="2360811"/>
            <a:ext cx="223031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노령연금(국민연금)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3492500" y="2360811"/>
            <a:ext cx="223031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군인연금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123950" y="2746871"/>
            <a:ext cx="223031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공무원연금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492500" y="2746871"/>
            <a:ext cx="223031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별정 우체국 연금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23950" y="3132931"/>
            <a:ext cx="223031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사립학교 교직원 연금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226175" y="1565176"/>
            <a:ext cx="5149850" cy="2160191"/>
          </a:xfrm>
          <a:prstGeom prst="roundRect">
            <a:avLst>
              <a:gd name="adj" fmla="val 2205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4150" y="1873151"/>
            <a:ext cx="4669917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사적연금 소득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534150" y="2360811"/>
            <a:ext cx="466991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연금저축 계좌 </a:t>
            </a:r>
            <a:r>
              <a:rPr lang="en-US" sz="16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(보험, 신탁, 펀드)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534150" y="2818011"/>
            <a:ext cx="4669917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퇴직연금 계좌 </a:t>
            </a:r>
            <a:r>
              <a:rPr lang="en-US" sz="16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(DB, DC, IRP)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12800" y="3982541"/>
            <a:ext cx="10566400" cy="2062659"/>
          </a:xfrm>
          <a:prstGeom prst="roundRect">
            <a:avLst>
              <a:gd name="adj" fmla="val 2463"/>
            </a:avLst>
          </a:prstGeom>
          <a:solidFill>
            <a:srgbClr val="FBF4E3"/>
          </a:solidFill>
          <a:ln/>
        </p:spPr>
        <p:txBody>
          <a:bodyPr wrap="square" lIns="972441" tIns="239121" rIns="972540" bIns="239121" rtlCol="0" anchor="ctr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“대한민국 국민이라면 국민건강보험법에 의거,</a:t>
            </a:r>
            <a:endParaRPr lang="en-US" sz="2200" dirty="0"/>
          </a:p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소득세법에 열거된 연금소득에 대해 건보료 납부 의무가 있습니다!”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BF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1616770"/>
            <a:ext cx="91567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그러나,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12800" y="2053630"/>
            <a:ext cx="9156700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사적연금소득에 건보료를 부과하지 않은 이유?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12800" y="2693690"/>
            <a:ext cx="9156700" cy="6945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공적연금의 보조 역할을 하는 사적연금 시장 활성화를 위해 현재 건보공단에서는 연금 관련 소득증빙 자료를 5대 공적연금 지급 기관에서만 받고 있기 때문!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12800" y="3829546"/>
            <a:ext cx="10566400" cy="0"/>
          </a:xfrm>
          <a:prstGeom prst="line">
            <a:avLst/>
          </a:prstGeom>
          <a:noFill/>
          <a:ln w="19050">
            <a:solidFill>
              <a:srgbClr val="CD9B3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4194671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그러나,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12800" y="4631531"/>
            <a:ext cx="1088339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000" b="1" dirty="0">
                <a:solidFill>
                  <a:srgbClr val="A3182E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사적연금소득에도 건보료 부과 예정!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노후 재정 전략 · 기사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사적 연금도 건보료 부과 대상으로 검토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514376"/>
            <a:ext cx="10560050" cy="4527649"/>
          </a:xfrm>
          <a:prstGeom prst="roundRect">
            <a:avLst>
              <a:gd name="adj" fmla="val 1052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8550" y="2350591"/>
            <a:ext cx="9994900" cy="0"/>
          </a:xfrm>
          <a:prstGeom prst="line">
            <a:avLst/>
          </a:prstGeom>
          <a:noFill/>
          <a:ln w="12700">
            <a:solidFill>
              <a:srgbClr val="182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8550" y="1746151"/>
            <a:ext cx="812330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稅 혜택 당근 주고, 건보료 회수? “말벌집과 서민연금은 함부로 건드리면 안됩니다” (50대 최모씨)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9131300" y="1790601"/>
            <a:ext cx="19621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조선일보 2022.08.11</a:t>
            </a:r>
            <a:endParaRPr lang="en-US" sz="1200" dirty="0"/>
          </a:p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이경은 기자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8550" y="2509341"/>
            <a:ext cx="4990402" cy="537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dirty="0">
                <a:solidFill>
                  <a:srgbClr val="A318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보건복지부와 건강보험공단이 최근 연금저축·퇴직연금 등 사적 연금을 건보료 부과 대상으로 검토하겠다고 밝히면서</a:t>
            </a:r>
            <a:r>
              <a:rPr lang="en-US" sz="13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예비 은퇴자들이 들끓고 있다.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8550" y="3122712"/>
            <a:ext cx="4990402" cy="1048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지금은 피부양자 자격을 따지거나 건보료를 매길 때 공적연금(국민·공무원·사학·군인 등)만 부과 대상으로 잡는다. 노후 연금 제도가 아직 안착하지 않은 상황을 고려해, 정부는 사적 연금을 건보료 부과 소득으로 반영하지 않고 있다.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8550" y="4247852"/>
            <a:ext cx="4990402" cy="793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감사원은 지난달 펴낸 ‘건강보험 재정관리 실태’ 감사 보고서에서 공적 연금과 사적 연금의 건보료 부과 체계가 다른 것은 가입자 간 형평성에도 어긋난다고 지적했다.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48400" y="2509341"/>
            <a:ext cx="4990402" cy="793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감사원은 가입자 형평성과 건보 재정 확충이란 명분을 내걸어 제도 개선을 조치했다. 하지만 노후 전문가들은 “충분한 검토 없는 사적 연금 건보료 부과는 국가적 재앙을 부를 수 있다”고 경고한다.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48400" y="3378597"/>
            <a:ext cx="4990402" cy="79305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건보 재정 확충이 필요하다면, 외국인의 건보 무임승차, 일부 병원들의 거짓 청구와 건강보험증 부정 사용부터 손봐야 한다. 복지부 관계자는 “사회적 논의를 거쳐 결정할 것”이라고 했다.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248400" y="4247852"/>
            <a:ext cx="4990402" cy="537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15"/>
              </a:lnSpc>
              <a:buNone/>
            </a:pPr>
            <a:r>
              <a:rPr lang="en-US" sz="13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하지만 벌써부터 사적 연금 불입을 당분간 </a:t>
            </a:r>
            <a:r>
              <a:rPr lang="en-US" sz="1300" b="1" dirty="0">
                <a:solidFill>
                  <a:srgbClr val="A318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중단</a:t>
            </a:r>
            <a:r>
              <a:rPr lang="en-US" sz="13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하거나 </a:t>
            </a:r>
            <a:r>
              <a:rPr lang="en-US" sz="1300" b="1" dirty="0">
                <a:solidFill>
                  <a:srgbClr val="A318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포기</a:t>
            </a:r>
            <a:r>
              <a:rPr lang="en-US" sz="13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하겠다는 사람들이 나오고 있다.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664200" y="6057900"/>
            <a:ext cx="5715000" cy="444500"/>
          </a:xfrm>
          <a:prstGeom prst="roundRect">
            <a:avLst>
              <a:gd name="adj" fmla="val 5714"/>
            </a:avLst>
          </a:prstGeom>
          <a:solidFill>
            <a:srgbClr val="0F2340"/>
          </a:solidFill>
          <a:ln/>
        </p:spPr>
        <p:txBody>
          <a:bodyPr wrap="square" lIns="89970" tIns="81461" rIns="89970" bIns="56061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Point! 비과세 상품으로 해결 가능</a:t>
            </a:r>
            <a:endParaRPr lang="en-US" sz="15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노후 재정 전략 · 기사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“차라리 국민연금 덜 받겠다” 민원 제기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514376"/>
            <a:ext cx="10560050" cy="4527649"/>
          </a:xfrm>
          <a:prstGeom prst="roundRect">
            <a:avLst>
              <a:gd name="adj" fmla="val 1052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8550" y="2146201"/>
            <a:ext cx="9994900" cy="0"/>
          </a:xfrm>
          <a:prstGeom prst="line">
            <a:avLst/>
          </a:prstGeom>
          <a:noFill/>
          <a:ln w="12700">
            <a:solidFill>
              <a:srgbClr val="18202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98550" y="1746151"/>
            <a:ext cx="760006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국민연금 때문에 땅치고 후회, 연 300만원 건보료 유탄 맞은 퇴직자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08060" y="1790601"/>
            <a:ext cx="248539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매일경제 2023.01.15 류영상 기자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8550" y="2304951"/>
            <a:ext cx="579488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“은퇴하고 추후납부, 반납·연기 등으로 부풀린 국민연금 탓에 건강보험료 유탄 맞았어요.” “건보료가 걱정되는데, 국민연금 좀 덜 주면 안되나요.”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98550" y="2851051"/>
            <a:ext cx="5794883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“퇴직 후 국민연금 수령 시기를 미뤄서 증액했는데 연 300만원(월 25만원) 건보료 폭탄, 말이 됩니까.”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98550" y="3397151"/>
            <a:ext cx="5794883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건보료 제도변경으로 인해 국민연금공단에 관련 민원이 잇따르고 있다. 국민연금 대상자 일부가 바뀐 건강보험의 유탄을 맞았기 때문이다. 보건복지부와 건강보험공단, 국민연금공단에 따르면 지난해 9월부터 건보료 피부양자 자격 요건이 엄격해 졌다.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98550" y="4171851"/>
            <a:ext cx="5794883" cy="939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먼저 소득 기준은 소득세법상 연간 합산소득 3,400만원 이하에서 2,000만원 이하로 낮아졌다. 당초 재산도 과세표준액도 5억4,000만원에서 3억6,000만원 이하로 낮출 계획이었지만, 최근 4년간 집값 폭등에 공시 가격이 55.5% 오르는 등의 상황을 감안해 현행 기준을 유지했다.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029450" y="2304951"/>
            <a:ext cx="418592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건보료 개편으로 가장 큰 피해를 본 사람은 공무원연금이나 사학연금, 군인연금, 국민연금 등 공적연금 소득으로 생계를 꾸리는 생활자들이다.</a:t>
            </a: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</a:t>
            </a:r>
            <a:r>
              <a:rPr lang="en-US" sz="1200" b="1" dirty="0">
                <a:solidFill>
                  <a:srgbClr val="A318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(가망고객 1순위)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029450" y="3092351"/>
            <a:ext cx="418592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공적연금 소득으로 매월 167만원 이상을 타는 은퇴자의 경우 다른 소득이 없더라도 공적연금만으로 연간 2,000만원이 초과 되면서 피부양자 자격을 상실케 된다.</a:t>
            </a:r>
            <a:endParaRPr lang="en-US" sz="1200" dirty="0"/>
          </a:p>
        </p:txBody>
      </p:sp>
      <p:pic>
        <p:nvPicPr>
          <p:cNvPr id="14" name="Image 0" descr="공무원, 직업군인, 교직원 실루엣">    </p:cNvPr>
          <p:cNvPicPr>
            <a:picLocks noChangeAspect="1"/>
          </p:cNvPicPr>
          <p:nvPr/>
        </p:nvPicPr>
        <p:blipFill>
          <a:blip r:embed="rId1"/>
          <a:srcRect l="-7834" r="-7834" t="0" b="0"/>
          <a:stretch/>
        </p:blipFill>
        <p:spPr>
          <a:xfrm>
            <a:off x="7029450" y="3879751"/>
            <a:ext cx="3302000" cy="1206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노후 재정 전략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보험개발원 경험생명표 vs 국민연금공단 경험생명표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74701"/>
          <a:ext cx="10553700" cy="1792684"/>
        </p:xfrm>
        <a:graphic>
          <a:graphicData uri="http://schemas.openxmlformats.org/drawingml/2006/table">
            <a:tbl>
              <a:tblPr/>
              <a:tblGrid>
                <a:gridCol w="1688592"/>
                <a:gridCol w="4432554"/>
                <a:gridCol w="4432554"/>
              </a:tblGrid>
              <a:tr h="38596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구분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보험개발원 경험생명표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국민연금공단 경험생명표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작성 대상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생명보험 가입자의 사망 경험치를 바탕으로 작성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국민연금 가입자의 실제 사망 경험치를 바탕으로 작성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작성 목적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생명보험 및 연금보험의 보험료율 산정에 사용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국민연금의 연금 지급액 산정에 사용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348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데이터 수집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생명보험회사로부터 받은 질병, 재해, 사망 등의 발생 확률을 수집하여 분석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국민연금 가입자의 사망률 데이터를 수집하여 분석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2800" y="3621385"/>
            <a:ext cx="6248400" cy="2423815"/>
          </a:xfrm>
          <a:prstGeom prst="roundRect">
            <a:avLst>
              <a:gd name="adj" fmla="val 2096"/>
            </a:avLst>
          </a:prstGeom>
          <a:solidFill>
            <a:srgbClr val="F3F5F8"/>
          </a:solidFill>
          <a:ln/>
        </p:spPr>
      </p:sp>
      <p:sp>
        <p:nvSpPr>
          <p:cNvPr id="6" name="Text 3"/>
          <p:cNvSpPr/>
          <p:nvPr/>
        </p:nvSpPr>
        <p:spPr>
          <a:xfrm>
            <a:off x="1066800" y="4356993"/>
            <a:ext cx="59126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손보사를 포함한 다른 금융기관에는 종신토록 돈을 지급하는 금융상품 없음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066800" y="4699893"/>
            <a:ext cx="59126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생명표 취급 기관만이 종신토록 금전을 지급하는 상품 계측, 계리, 판매 가능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066800" y="5042793"/>
            <a:ext cx="591261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대한민국 생명표 취급 기관은 둘! [생명보험회사 &amp; 국민연금공단]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7315200" y="3621385"/>
            <a:ext cx="4064000" cy="2423815"/>
          </a:xfrm>
          <a:prstGeom prst="roundRect">
            <a:avLst>
              <a:gd name="adj" fmla="val 2096"/>
            </a:avLst>
          </a:prstGeom>
          <a:solidFill>
            <a:srgbClr val="0F2340"/>
          </a:solidFill>
          <a:ln/>
        </p:spPr>
      </p:sp>
      <p:sp>
        <p:nvSpPr>
          <p:cNvPr id="10" name="Text 7"/>
          <p:cNvSpPr/>
          <p:nvPr/>
        </p:nvSpPr>
        <p:spPr>
          <a:xfrm>
            <a:off x="7569200" y="4195763"/>
            <a:ext cx="3662680" cy="665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죽을 때까지 돈을 지급하는 건 정부나 생보사나 똑같다!</a:t>
            </a:r>
            <a:endParaRPr lang="en-US" sz="1800" dirty="0"/>
          </a:p>
        </p:txBody>
      </p:sp>
      <p:sp>
        <p:nvSpPr>
          <p:cNvPr id="11" name="Text 8"/>
          <p:cNvSpPr/>
          <p:nvPr/>
        </p:nvSpPr>
        <p:spPr>
          <a:xfrm>
            <a:off x="7569200" y="4937323"/>
            <a:ext cx="366268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E6CF9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만약 금전적으로 생보사 상품이 더 유리하다면 판매논리 완성도 UP!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58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노후 재정 전략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483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과세연금 vs 비과세 연금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435001"/>
            <a:ext cx="5207000" cy="485080"/>
          </a:xfrm>
          <a:prstGeom prst="roundRect">
            <a:avLst>
              <a:gd name="adj" fmla="val 10472"/>
            </a:avLst>
          </a:prstGeom>
          <a:solidFill>
            <a:srgbClr val="F3F5F8"/>
          </a:solidFill>
          <a:ln/>
        </p:spPr>
      </p:sp>
      <p:sp>
        <p:nvSpPr>
          <p:cNvPr id="5" name="Text 3"/>
          <p:cNvSpPr/>
          <p:nvPr/>
        </p:nvSpPr>
        <p:spPr>
          <a:xfrm>
            <a:off x="1016000" y="1562001"/>
            <a:ext cx="70699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소득요건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757561" y="1562001"/>
            <a:ext cx="404217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2,400만원 (외 다른 소득 없음) </a:t>
            </a:r>
            <a:r>
              <a:rPr lang="en-US" sz="1300" b="1" dirty="0">
                <a:solidFill>
                  <a:srgbClr val="A318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 건보료 부과 대상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2200" y="1435001"/>
            <a:ext cx="5207000" cy="485080"/>
          </a:xfrm>
          <a:prstGeom prst="roundRect">
            <a:avLst>
              <a:gd name="adj" fmla="val 10472"/>
            </a:avLst>
          </a:prstGeom>
          <a:solidFill>
            <a:srgbClr val="F3F5F8"/>
          </a:solidFill>
          <a:ln/>
        </p:spPr>
      </p:sp>
      <p:sp>
        <p:nvSpPr>
          <p:cNvPr id="8" name="Text 6"/>
          <p:cNvSpPr/>
          <p:nvPr/>
        </p:nvSpPr>
        <p:spPr>
          <a:xfrm>
            <a:off x="6375400" y="1562001"/>
            <a:ext cx="70699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재산요건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116961" y="1562001"/>
            <a:ext cx="335577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주택 과세표준 5.4억원 (외 다른 재산 없음)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110581"/>
          <a:ext cx="10553700" cy="2209205"/>
        </p:xfrm>
        <a:graphic>
          <a:graphicData uri="http://schemas.openxmlformats.org/drawingml/2006/table">
            <a:tbl>
              <a:tblPr/>
              <a:tblGrid>
                <a:gridCol w="2321814"/>
                <a:gridCol w="4115943"/>
                <a:gridCol w="4115943"/>
              </a:tblGrid>
              <a:tr h="36820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구분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과세대상소득 (예: 국민연금)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비과세대상소득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</a:tr>
              <a:tr h="36820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(+) 명목소득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연 2,400만원 (월 200만원) _ 100%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연 2,400만원 (월 200만원) _ 100%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20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(-) 소득세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연 104.5만원 (월 8.7만원) _ 4.4%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6B4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비과세 _ 0%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20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(-) 건보료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연 318만원 (월 26.5만원) _ 12.6%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6B4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건보료 미부과 _ 0%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20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(-) 소득세 + 건보료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A318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연 422.5만원 (월 35.2만원) _ 17.0%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6B4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없음 _ 0%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20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(=) 실질소득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연 1,977.5만원 (월 164.8만원) _ 83.0%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E6B4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연 2,400만원 (월 200만원) _ 100%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</a:tr>
            </a:tbl>
          </a:graphicData>
        </a:graphic>
      </p:graphicFrame>
      <p:sp>
        <p:nvSpPr>
          <p:cNvPr id="11" name="Text 8"/>
          <p:cNvSpPr/>
          <p:nvPr/>
        </p:nvSpPr>
        <p:spPr>
          <a:xfrm>
            <a:off x="812800" y="4497586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국민연금 공제액 730만원(630만원 + (2,400만원 - 1,400만원) × 10%), 기본공제 150만원(본인 1인 기준)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812800" y="4888706"/>
            <a:ext cx="10566400" cy="937121"/>
          </a:xfrm>
          <a:prstGeom prst="roundRect">
            <a:avLst>
              <a:gd name="adj" fmla="val 5421"/>
            </a:avLst>
          </a:prstGeom>
          <a:solidFill>
            <a:srgbClr val="0F2340"/>
          </a:solidFill>
          <a:ln/>
        </p:spPr>
      </p:sp>
      <p:sp>
        <p:nvSpPr>
          <p:cNvPr id="13" name="Text 10"/>
          <p:cNvSpPr/>
          <p:nvPr/>
        </p:nvSpPr>
        <p:spPr>
          <a:xfrm>
            <a:off x="1041400" y="5041106"/>
            <a:ext cx="1041247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CF9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비과세 상품을 이용하면 </a:t>
            </a:r>
            <a:r>
              <a:rPr lang="en-US" sz="1400" b="1" dirty="0">
                <a:solidFill>
                  <a:srgbClr val="E6CF9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명목소득 = 실질소득</a:t>
            </a:r>
            <a:r>
              <a:rPr lang="en-US" sz="1400" dirty="0">
                <a:solidFill>
                  <a:srgbClr val="E6CF9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. 이러한 이유로 5년째 환급률이 높은 단기납 종신보험 유행!</a:t>
            </a:r>
            <a:endParaRPr lang="en-US" sz="1400" dirty="0"/>
          </a:p>
        </p:txBody>
      </p:sp>
      <p:sp>
        <p:nvSpPr>
          <p:cNvPr id="14" name="Text 11"/>
          <p:cNvSpPr/>
          <p:nvPr/>
        </p:nvSpPr>
        <p:spPr>
          <a:xfrm>
            <a:off x="1041400" y="5353447"/>
            <a:ext cx="10412476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만약… 단기납 종신보험보다 더 뛰어난 비과세 상품이 있다면?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CD9B34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256163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200" kern="0" dirty="0">
                <a:solidFill>
                  <a:srgbClr val="CD9B3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PART 2 · 환급률, 국민부담금, 보험금 비교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3049290"/>
            <a:ext cx="10883392" cy="72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800" b="1" i="0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“단기납 종신 vs 간병 보험”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12800" y="3953470"/>
            <a:ext cx="10883392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C9D2E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DB생명 뉴-알차고행복한 Plus 종신보험과 한화생명 케어백 간병플러스보험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단기납 종신 vs 간병보험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환급률: 종신보험 vs 간병보험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562001"/>
            <a:ext cx="52847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종신보험 · DB생명 뉴-알차고행복한 Plus 종신보험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68401"/>
          <a:ext cx="5118100" cy="771922"/>
        </p:xfrm>
        <a:graphic>
          <a:graphicData uri="http://schemas.openxmlformats.org/drawingml/2006/table">
            <a:tbl>
              <a:tblPr/>
              <a:tblGrid>
                <a:gridCol w="1279525"/>
                <a:gridCol w="1279525"/>
                <a:gridCol w="1279525"/>
                <a:gridCol w="1279525"/>
              </a:tblGrid>
              <a:tr h="38596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나이(성별)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납입기간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월초P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총월초P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D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50세(남)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10년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50만원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6,000만원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880023"/>
          <a:ext cx="5118100" cy="1803400"/>
        </p:xfrm>
        <a:graphic>
          <a:graphicData uri="http://schemas.openxmlformats.org/drawingml/2006/table">
            <a:tbl>
              <a:tblPr/>
              <a:tblGrid>
                <a:gridCol w="1637792"/>
                <a:gridCol w="1944878"/>
                <a:gridCol w="1535430"/>
              </a:tblGrid>
              <a:tr h="45085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경과기간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환급금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환급률(%)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D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10년(60세)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65,784,654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108.8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20년(70세)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71,442,628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118.1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30년(80세)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77,504,421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128.1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248400" y="1562001"/>
            <a:ext cx="52847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간병보험 · 한화생명 케어백간병 플러스보험</a:t>
            </a:r>
            <a:endParaRPr lang="en-US" sz="1500" dirty="0"/>
          </a:p>
        </p:txBody>
      </p:sp>
      <p:graphicFrame>
        <p:nvGraphicFramePr>
          <p:cNvPr id="8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1100" y="1968401"/>
          <a:ext cx="5118100" cy="771922"/>
        </p:xfrm>
        <a:graphic>
          <a:graphicData uri="http://schemas.openxmlformats.org/drawingml/2006/table">
            <a:tbl>
              <a:tblPr/>
              <a:tblGrid>
                <a:gridCol w="1279525"/>
                <a:gridCol w="1279525"/>
                <a:gridCol w="1279525"/>
                <a:gridCol w="1279525"/>
              </a:tblGrid>
              <a:tr h="38596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나이(성별)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납입기간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월초P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총월초P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</a:tr>
              <a:tr h="38596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50세(남)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10년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50만원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6,000만원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9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1100" y="2880023"/>
          <a:ext cx="5118100" cy="1803400"/>
        </p:xfrm>
        <a:graphic>
          <a:graphicData uri="http://schemas.openxmlformats.org/drawingml/2006/table">
            <a:tbl>
              <a:tblPr/>
              <a:tblGrid>
                <a:gridCol w="1637792"/>
                <a:gridCol w="1944878"/>
                <a:gridCol w="1535430"/>
              </a:tblGrid>
              <a:tr h="45085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경과기간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환급금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환급률(%)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10년(60세)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67,351,529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112.2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20년(70세)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78,007,268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130.0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30년(80세)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7C591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82,886,699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7C591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138.1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</a:tr>
            </a:tbl>
          </a:graphicData>
        </a:graphic>
      </p:graphicFrame>
      <p:sp>
        <p:nvSpPr>
          <p:cNvPr id="10" name="Shape 4"/>
          <p:cNvSpPr/>
          <p:nvPr/>
        </p:nvSpPr>
        <p:spPr>
          <a:xfrm>
            <a:off x="812800" y="4937423"/>
            <a:ext cx="10566400" cy="695920"/>
          </a:xfrm>
          <a:prstGeom prst="roundRect">
            <a:avLst>
              <a:gd name="adj" fmla="val 7300"/>
            </a:avLst>
          </a:prstGeom>
          <a:solidFill>
            <a:srgbClr val="F3F5F8"/>
          </a:solidFill>
          <a:ln/>
        </p:spPr>
      </p:sp>
      <p:sp>
        <p:nvSpPr>
          <p:cNvPr id="11" name="Text 5"/>
          <p:cNvSpPr/>
          <p:nvPr/>
        </p:nvSpPr>
        <p:spPr>
          <a:xfrm>
            <a:off x="3768229" y="5166023"/>
            <a:ext cx="201672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30년(80세) 시점 환급률</a:t>
            </a:r>
            <a:endParaRPr lang="en-US" sz="1500" dirty="0"/>
          </a:p>
        </p:txBody>
      </p:sp>
      <p:sp>
        <p:nvSpPr>
          <p:cNvPr id="12" name="Text 6"/>
          <p:cNvSpPr/>
          <p:nvPr/>
        </p:nvSpPr>
        <p:spPr>
          <a:xfrm>
            <a:off x="5784949" y="5089823"/>
            <a:ext cx="122614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3D4757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128.1%</a:t>
            </a:r>
            <a:endParaRPr lang="en-US" sz="2200" dirty="0"/>
          </a:p>
        </p:txBody>
      </p:sp>
      <p:sp>
        <p:nvSpPr>
          <p:cNvPr id="13" name="Text 7"/>
          <p:cNvSpPr/>
          <p:nvPr/>
        </p:nvSpPr>
        <p:spPr>
          <a:xfrm>
            <a:off x="7011095" y="5166023"/>
            <a:ext cx="23733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vs</a:t>
            </a:r>
            <a:endParaRPr lang="en-US" sz="1500" dirty="0"/>
          </a:p>
        </p:txBody>
      </p:sp>
      <p:sp>
        <p:nvSpPr>
          <p:cNvPr id="14" name="Text 8"/>
          <p:cNvSpPr/>
          <p:nvPr/>
        </p:nvSpPr>
        <p:spPr>
          <a:xfrm>
            <a:off x="7350026" y="5089823"/>
            <a:ext cx="1288494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138.1%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단기납 종신 vs 간병보험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절세혜택: 종신보험 vs 간병보험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511201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50세(남), 10년납, 월초P 50만원 · 생존 시(80세 시점)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958181"/>
          <a:ext cx="10553700" cy="3022600"/>
        </p:xfrm>
        <a:graphic>
          <a:graphicData uri="http://schemas.openxmlformats.org/drawingml/2006/table">
            <a:tbl>
              <a:tblPr/>
              <a:tblGrid>
                <a:gridCol w="3166110"/>
                <a:gridCol w="3693795"/>
                <a:gridCol w="3693795"/>
              </a:tblGrid>
              <a:tr h="4318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구분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종신보험 (DB생명 뉴-알차고행복한 Plus)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간병보험 (한화생명 케어백 간병플러스)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납입원금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6,000만원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6,000만원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해약환급금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7,750만원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8,289만원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보험차익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1,750만원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2,289만원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이자소득세 (보험차익의 15.4%)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269.5만원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352.5만원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건보료 (보험차익의 8%)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140.0만원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183.1만원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318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절세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409.5만원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7C591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535.6만원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5183981"/>
            <a:ext cx="10566400" cy="861219"/>
          </a:xfrm>
          <a:prstGeom prst="roundRect">
            <a:avLst>
              <a:gd name="adj" fmla="val 5899"/>
            </a:avLst>
          </a:prstGeom>
          <a:solidFill>
            <a:srgbClr val="0F2340"/>
          </a:solidFill>
          <a:ln/>
        </p:spPr>
        <p:txBody>
          <a:bodyPr wrap="square" lIns="137521" tIns="137521" rIns="137521" bIns="137521" rtlCol="0" anchor="ctr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고객 Benefits: </a:t>
            </a:r>
            <a:r>
              <a:rPr lang="en-US" sz="2000" b="1" dirty="0">
                <a:solidFill>
                  <a:srgbClr val="E6CF97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확정적 이자율</a:t>
            </a:r>
            <a:r>
              <a:rPr lang="en-US" sz="20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과 </a:t>
            </a:r>
            <a:r>
              <a:rPr lang="en-US" sz="2000" b="1" dirty="0">
                <a:solidFill>
                  <a:srgbClr val="E6CF97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확정적으로 내지 않아도 되는 세금</a:t>
            </a:r>
            <a:endParaRPr lang="en-US" sz="2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단기납 종신 vs 간병보험 · 보험금 지급 사유가 발생한다면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보험금: 종신보험 vs 간병보험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562001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두 상품 공통: 50세(남) · 납입기간 10년 · 월초P 50만원 · 총월초P 6,000만원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812800" y="2064841"/>
            <a:ext cx="52847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종신보험 · DB생명 뉴-알차고행복한 Plus 종신보험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471241"/>
          <a:ext cx="5118100" cy="2399109"/>
        </p:xfrm>
        <a:graphic>
          <a:graphicData uri="http://schemas.openxmlformats.org/drawingml/2006/table">
            <a:tbl>
              <a:tblPr/>
              <a:tblGrid>
                <a:gridCol w="2303145"/>
                <a:gridCol w="2814955"/>
              </a:tblGrid>
              <a:tr h="47982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경과기간</a:t>
                      </a:r>
                      <a:endParaRPr lang="en-US" sz="16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사망보험금</a:t>
                      </a:r>
                      <a:endParaRPr lang="en-US" sz="16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D"/>
                    </a:solidFill>
                  </a:tcPr>
                </a:tc>
              </a:tr>
              <a:tr h="47982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10년(50세)</a:t>
                      </a:r>
                      <a:endParaRPr lang="en-US" sz="16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8,400만원</a:t>
                      </a:r>
                      <a:endParaRPr lang="en-US" sz="16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982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20년(60세)</a:t>
                      </a:r>
                      <a:endParaRPr lang="en-US" sz="16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8,700만원</a:t>
                      </a:r>
                      <a:endParaRPr lang="en-US" sz="16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982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30년(70세)</a:t>
                      </a:r>
                      <a:endParaRPr lang="en-US" sz="16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9,000만원</a:t>
                      </a:r>
                      <a:endParaRPr lang="en-US" sz="16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982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40년(80세)</a:t>
                      </a:r>
                      <a:endParaRPr lang="en-US" sz="16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9,400만원</a:t>
                      </a:r>
                      <a:endParaRPr lang="en-US" sz="16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6248400" y="2064841"/>
            <a:ext cx="528472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간병보험 · 한화생명 케어백 간병플러스 보험</a:t>
            </a:r>
            <a:endParaRPr lang="en-US" sz="1500" dirty="0"/>
          </a:p>
        </p:txBody>
      </p:sp>
      <p:graphicFrame>
        <p:nvGraphicFramePr>
          <p:cNvPr id="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1100" y="2471241"/>
          <a:ext cx="5118100" cy="2399109"/>
        </p:xfrm>
        <a:graphic>
          <a:graphicData uri="http://schemas.openxmlformats.org/drawingml/2006/table">
            <a:tbl>
              <a:tblPr/>
              <a:tblGrid>
                <a:gridCol w="2303145"/>
                <a:gridCol w="2814955"/>
              </a:tblGrid>
              <a:tr h="47982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경과기간</a:t>
                      </a:r>
                      <a:endParaRPr lang="en-US" sz="16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재가 / 시설 월급여금</a:t>
                      </a:r>
                      <a:endParaRPr lang="en-US" sz="16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</a:tr>
              <a:tr h="47982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10년(50세)</a:t>
                      </a:r>
                      <a:endParaRPr lang="en-US" sz="16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월 100만원 / 100만원</a:t>
                      </a:r>
                      <a:endParaRPr lang="en-US" sz="16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982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20년(60세)</a:t>
                      </a:r>
                      <a:endParaRPr lang="en-US" sz="16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월 136만원 / 136만원</a:t>
                      </a:r>
                      <a:endParaRPr lang="en-US" sz="16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982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30년(70세)</a:t>
                      </a:r>
                      <a:endParaRPr lang="en-US" sz="16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월 136만원 / 136만원</a:t>
                      </a:r>
                      <a:endParaRPr lang="en-US" sz="16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982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40년(80세)</a:t>
                      </a:r>
                      <a:endParaRPr lang="en-US" sz="16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240"/>
                        </a:lnSpc>
                        <a:buNone/>
                      </a:pPr>
                      <a:r>
                        <a:rPr lang="en-US" sz="1600" dirty="0">
                          <a:solidFill>
                            <a:srgbClr val="7C591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월 136만원 / 136만원</a:t>
                      </a:r>
                      <a:endParaRPr lang="en-US" sz="16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1120" marR="71120" marT="71120" marB="71120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단기납 종신 vs 간병보험 · 보험금 지급 사유가 발생한다면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80세에 지급사유가 생기면 보험차익은?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565176"/>
            <a:ext cx="5105400" cy="4476849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3950" y="1873151"/>
            <a:ext cx="462413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종신보험 · 지급사유: 80세 사망</a:t>
            </a:r>
            <a:endParaRPr lang="en-US" sz="15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136650" y="2304951"/>
          <a:ext cx="4508500" cy="1803400"/>
        </p:xfrm>
        <a:graphic>
          <a:graphicData uri="http://schemas.openxmlformats.org/drawingml/2006/table">
            <a:tbl>
              <a:tblPr/>
              <a:tblGrid>
                <a:gridCol w="2254250"/>
                <a:gridCol w="2254250"/>
              </a:tblGrid>
              <a:tr h="45085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구분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금액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D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납입원금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6,000만원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사망보험금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9,400만원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보험차익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3,400만원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123950" y="5326459"/>
            <a:ext cx="112057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납입원금 대비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2244527" y="4951809"/>
            <a:ext cx="2576870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4400" b="1" dirty="0">
                <a:solidFill>
                  <a:srgbClr val="3D4757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156.7%</a:t>
            </a:r>
            <a:endParaRPr lang="en-US" sz="4400" dirty="0"/>
          </a:p>
        </p:txBody>
      </p:sp>
      <p:sp>
        <p:nvSpPr>
          <p:cNvPr id="9" name="Shape 6"/>
          <p:cNvSpPr/>
          <p:nvPr/>
        </p:nvSpPr>
        <p:spPr>
          <a:xfrm>
            <a:off x="6242050" y="1574701"/>
            <a:ext cx="5124450" cy="4457799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 w="25400">
            <a:solidFill>
              <a:srgbClr val="0F234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559550" y="1892201"/>
            <a:ext cx="4624134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간병보험 · 지급사유: 80세 간병상태 </a:t>
            </a:r>
            <a:r>
              <a:rPr lang="en-US" sz="1500" b="1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(10년간 재가급여 가정)</a:t>
            </a:r>
            <a:endParaRPr lang="en-US" sz="15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72250" y="2590701"/>
          <a:ext cx="4457700" cy="1803400"/>
        </p:xfrm>
        <a:graphic>
          <a:graphicData uri="http://schemas.openxmlformats.org/drawingml/2006/table">
            <a:tbl>
              <a:tblPr/>
              <a:tblGrid>
                <a:gridCol w="2228850"/>
                <a:gridCol w="2228850"/>
              </a:tblGrid>
              <a:tr h="45085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구분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금액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납입원금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6,000만원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재가보험금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1억 6,320만원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085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보험차익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7C591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1억 320만원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CBC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6559550" y="5307409"/>
            <a:ext cx="112057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납입원금 대비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680127" y="4932759"/>
            <a:ext cx="2576870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4400" b="1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272.0%</a:t>
            </a:r>
            <a:endParaRPr lang="en-US" sz="4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543607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단기납 종신 vs 간병보험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63332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한화생명 케어백 간병플러스 보험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9106198" y="906760"/>
            <a:ext cx="2273002" cy="401241"/>
          </a:xfrm>
          <a:prstGeom prst="roundRect">
            <a:avLst>
              <a:gd name="adj" fmla="val 6330"/>
            </a:avLst>
          </a:prstGeom>
          <a:solidFill>
            <a:srgbClr val="0F234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공무원 / 직업군인 / 교직원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12800" y="1622326"/>
            <a:ext cx="10566400" cy="0"/>
          </a:xfrm>
          <a:prstGeom prst="line">
            <a:avLst/>
          </a:prstGeom>
          <a:noFill/>
          <a:ln w="19050">
            <a:solidFill>
              <a:srgbClr val="0F234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12800" y="2431455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케어백 간병플러스 보험은 이런 사람에게 적합합니다</a:t>
            </a:r>
            <a:endParaRPr lang="en-US" sz="2200" dirty="0"/>
          </a:p>
        </p:txBody>
      </p:sp>
      <p:sp>
        <p:nvSpPr>
          <p:cNvPr id="7" name="Shape 5"/>
          <p:cNvSpPr/>
          <p:nvPr/>
        </p:nvSpPr>
        <p:spPr>
          <a:xfrm>
            <a:off x="812800" y="2978150"/>
            <a:ext cx="105664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12800" y="3184525"/>
            <a:ext cx="5080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1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524000" y="3235325"/>
            <a:ext cx="8557260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은퇴 후 연금소득이 많아 </a:t>
            </a:r>
            <a:r>
              <a:rPr lang="en-US" sz="19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세금, 건보료</a:t>
            </a:r>
            <a:r>
              <a:rPr lang="en-US" sz="19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 걱정인 사람 </a:t>
            </a:r>
            <a:r>
              <a:rPr lang="en-US" sz="19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(비과세 상품 활용 必)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12800" y="3817541"/>
            <a:ext cx="105664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2800" y="4023916"/>
            <a:ext cx="5080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524000" y="4074716"/>
            <a:ext cx="7642146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사망보험금보다는 </a:t>
            </a:r>
            <a:r>
              <a:rPr lang="en-US" sz="19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종신지급 간병연금</a:t>
            </a:r>
            <a:r>
              <a:rPr lang="en-US" sz="19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에 대한 필요성을 느끼는 사람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812800" y="4656931"/>
            <a:ext cx="105664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12800" y="5496322"/>
            <a:ext cx="105664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12800" y="4863306"/>
            <a:ext cx="5080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1524000" y="4914106"/>
            <a:ext cx="3889534" cy="363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60"/>
              </a:lnSpc>
              <a:buNone/>
            </a:pPr>
            <a:r>
              <a:rPr lang="en-US" sz="19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환급률</a:t>
            </a:r>
            <a:r>
              <a:rPr lang="en-US" sz="19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 높은 상품을 원하는 사람</a:t>
            </a:r>
            <a:endParaRPr lang="en-US" sz="1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58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단기납 종신 vs 간병보험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483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간병 Risk 보장 – 한화생명 케어백간병 플러스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463576"/>
            <a:ext cx="3380284" cy="4781649"/>
          </a:xfrm>
          <a:prstGeom prst="roundRect">
            <a:avLst>
              <a:gd name="adj" fmla="val 1409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96950" y="1644551"/>
            <a:ext cx="3108884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장기요양(1~5등급) 재가급여특약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996950" y="2236291"/>
            <a:ext cx="3108884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보장 정의:</a:t>
            </a: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장기요양 1~5등급으로 판정 받고 노인장기요양보험에서 제공하는 </a:t>
            </a:r>
            <a:r>
              <a:rPr lang="en-US" sz="12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재가급여 서비스</a:t>
            </a: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이용 시 보험금 지급(월 지급형 담보)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996950" y="2962672"/>
            <a:ext cx="31088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주요 재가 급여 종류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96950" y="3257252"/>
            <a:ext cx="3108884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 방문요양: 신체활동 및 가사활동 등을 지원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96950" y="3526433"/>
            <a:ext cx="3108884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2. 방문목욕: 목욕 설비를 갖춘 장비로 목욕 제공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996950" y="3795613"/>
            <a:ext cx="3108884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3. 방문간호: 간호, 진료의 보조, 요양에 관한 상담, 구강 위생 등을 제공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996950" y="4270474"/>
            <a:ext cx="3108884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4. 주야간보호: 일정한 시간 동안 장기요양기관에서 신체·인지활동 지원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96950" y="4745335"/>
            <a:ext cx="3108884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5. 복지용구: 신체활동 등에 필요한 용구 제공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405809" y="1463576"/>
            <a:ext cx="3380383" cy="4781649"/>
          </a:xfrm>
          <a:prstGeom prst="roundRect">
            <a:avLst>
              <a:gd name="adj" fmla="val 1409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86784" y="1644551"/>
            <a:ext cx="3108986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장기요양(1~5등급) 시설급여특약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586784" y="2236291"/>
            <a:ext cx="3108986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보장 정의:</a:t>
            </a: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장기요양 1~5등급으로 판정 받고 노인장기요양보험에서 제공하는 </a:t>
            </a:r>
            <a:r>
              <a:rPr lang="en-US" sz="12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시설급여 서비스</a:t>
            </a: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이용 시 보험금 지급(월 지급형 담보)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86784" y="2962672"/>
            <a:ext cx="310898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주요 시설 급여 종류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86784" y="3257252"/>
            <a:ext cx="3108986" cy="848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 노인요양시설(요양원): 노인성질환으로 심신에 상당한 장애가 발생하여 도움을 필요로 하는 노인을 </a:t>
            </a:r>
            <a:r>
              <a:rPr lang="en-US" sz="12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시설</a:t>
            </a: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에 입소시켜 급식, 요양과 그 밖에 일상생활에 필요한 편의를 제공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586784" y="4143474"/>
            <a:ext cx="3108986" cy="8481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2. 노인요양공동생활가정: 노인성질환으로 심신에 상당한 장애가 발생하여 도움을 필요로 하는 노인에게 </a:t>
            </a:r>
            <a:r>
              <a:rPr lang="en-US" sz="12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가정</a:t>
            </a: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과 같은 주거여건에서 급식, 요양과 그 밖에 일상생활에 필요한 편의를 제공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995741" y="1463576"/>
            <a:ext cx="3380284" cy="4781649"/>
          </a:xfrm>
          <a:prstGeom prst="roundRect">
            <a:avLst>
              <a:gd name="adj" fmla="val 1409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76716" y="1644551"/>
            <a:ext cx="3108884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80"/>
              </a:lnSpc>
              <a:buNone/>
            </a:pPr>
            <a:r>
              <a:rPr lang="en-US" sz="16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장기요양(1~5등급) 복합재가급여특약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176716" y="2236291"/>
            <a:ext cx="3108884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보장 정의:</a:t>
            </a: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장기요양 1~5등급으로 판정 받고 노인장기요양보험에서 제공하는 </a:t>
            </a:r>
            <a:r>
              <a:rPr lang="en-US" sz="12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재가급여 서비스를 2가지 이상</a:t>
            </a: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이용 시 보험금 지급(월 지급형 담보)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8176716" y="2962672"/>
            <a:ext cx="31088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복합재가급여 예시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176716" y="3257252"/>
            <a:ext cx="3108884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 방문요양 + 방문요양 이용: </a:t>
            </a:r>
            <a:r>
              <a:rPr lang="en-US" sz="1200" b="1" dirty="0">
                <a:solidFill>
                  <a:srgbClr val="A318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보장 X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 같은 서비스를 2번 이용했기 때문에 복합재가 해당 X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176716" y="3937794"/>
            <a:ext cx="3108884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2. 방문요양 + 방문목욕 이용: </a:t>
            </a:r>
            <a:r>
              <a:rPr lang="en-US" sz="1200" b="1" dirty="0">
                <a:solidFill>
                  <a:srgbClr val="1E6B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보장 O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 서로 다른 2가지 서비스 이용했기 때문에 복합재가에 해당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176716" y="4618335"/>
            <a:ext cx="3108884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3. 방문요양 + 복지용구 이용: </a:t>
            </a:r>
            <a:r>
              <a:rPr lang="en-US" sz="1200" b="1" dirty="0">
                <a:solidFill>
                  <a:srgbClr val="A318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보장 X</a:t>
            </a:r>
            <a:endParaRPr lang="en-US" sz="1200" dirty="0"/>
          </a:p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→ 복지용구는 복합재가특약에서 보장하는 서비스가 아님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케어백 간병플러스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납입보험료와 환급률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536601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상해 1급, 40세 남자, 110세 만기 기준 · 보험료 단위: 원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812800" y="1996281"/>
            <a:ext cx="405511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가입 담보</a:t>
            </a:r>
            <a:endParaRPr lang="en-US" sz="14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359422"/>
          <a:ext cx="3924300" cy="2019102"/>
        </p:xfrm>
        <a:graphic>
          <a:graphicData uri="http://schemas.openxmlformats.org/drawingml/2006/table">
            <a:tbl>
              <a:tblPr/>
              <a:tblGrid>
                <a:gridCol w="2668524"/>
                <a:gridCol w="1255776"/>
              </a:tblGrid>
              <a:tr h="40382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담보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가입금액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</a:tr>
              <a:tr h="40382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주계약(사망)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1,000만원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2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장기요양(1~5등급) 재가급여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50만원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2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장기요양(1~5등급) 시설급여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50만원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2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장기요양(1~5등급) 복합재가급여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50만원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54600" y="1996281"/>
            <a:ext cx="651433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납입기간별 보험료 · 환급률(환급금)</a:t>
            </a:r>
            <a:endParaRPr lang="en-US" sz="1400" dirty="0"/>
          </a:p>
        </p:txBody>
      </p:sp>
      <p:graphicFrame>
        <p:nvGraphicFramePr>
          <p:cNvPr id="8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67300" y="2359422"/>
          <a:ext cx="6311900" cy="2826742"/>
        </p:xfrm>
        <a:graphic>
          <a:graphicData uri="http://schemas.openxmlformats.org/drawingml/2006/table">
            <a:tbl>
              <a:tblPr/>
              <a:tblGrid>
                <a:gridCol w="1767332"/>
                <a:gridCol w="2272284"/>
                <a:gridCol w="2272284"/>
              </a:tblGrid>
              <a:tr h="40382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구분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10년납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20년납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</a:tr>
              <a:tr h="40382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보험료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286,250원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157,050원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2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총 납입보험료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34,320,000원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37,692,000원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382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환급률(환급금)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112.7% (38,763,200원)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42.9%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0382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132.7% (45,596,430원)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120.8% (45,537,000원)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0382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153.6% (52,772,801원)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139.7% (52,683,176원)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40382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7C591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164.9% (56,667,015원)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7C591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150.1% (56,412,134원)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케어백 간병플러스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증액 보험금: 가입 금액보다 더 받는 구조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562001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상해 1급, 40세 남자, 해지환급금미지급형, 10년납 110세 만기 기준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059781"/>
          <a:ext cx="10553700" cy="1950244"/>
        </p:xfrm>
        <a:graphic>
          <a:graphicData uri="http://schemas.openxmlformats.org/drawingml/2006/table">
            <a:tbl>
              <a:tblPr/>
              <a:tblGrid>
                <a:gridCol w="2321814"/>
                <a:gridCol w="2110740"/>
                <a:gridCol w="3799332"/>
                <a:gridCol w="2321814"/>
              </a:tblGrid>
              <a:tr h="48756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구분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가입 금액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증액 보험금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최종 보장 금액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</a:tr>
              <a:tr h="48756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재가급여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100만원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약 36만원 (가입 금액 대비 약 36%↑)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7C591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약 136만원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56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시설급여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100만원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약 36만원 (가입 금액 대비 약 36%↑)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7C591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약 136만원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756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복합재가급여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50만원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약 18만원 (가입 금액 대비 약 38%↑)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380"/>
                        </a:lnSpc>
                        <a:buNone/>
                      </a:pPr>
                      <a:r>
                        <a:rPr lang="en-US" sz="1700" dirty="0">
                          <a:solidFill>
                            <a:srgbClr val="7C591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약 68만원</a:t>
                      </a:r>
                      <a:endParaRPr lang="en-US" sz="17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75565" marR="75565" marT="75565" marB="7556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812800" y="4264025"/>
            <a:ext cx="10566400" cy="1781175"/>
          </a:xfrm>
          <a:prstGeom prst="roundRect">
            <a:avLst>
              <a:gd name="adj" fmla="val 2852"/>
            </a:avLst>
          </a:prstGeom>
          <a:solidFill>
            <a:srgbClr val="F3F5F8"/>
          </a:solidFill>
          <a:ln/>
        </p:spPr>
      </p:sp>
      <p:sp>
        <p:nvSpPr>
          <p:cNvPr id="7" name="Text 4"/>
          <p:cNvSpPr/>
          <p:nvPr/>
        </p:nvSpPr>
        <p:spPr>
          <a:xfrm>
            <a:off x="1168400" y="5021263"/>
            <a:ext cx="27470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재가급여 가입 금액 100만원이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241800" y="4727873"/>
            <a:ext cx="3487738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약 136만원</a:t>
            </a:r>
            <a:endParaRPr lang="en-US" sz="4800" dirty="0"/>
          </a:p>
        </p:txBody>
      </p:sp>
      <p:sp>
        <p:nvSpPr>
          <p:cNvPr id="9" name="Text 6"/>
          <p:cNvSpPr/>
          <p:nvPr/>
        </p:nvSpPr>
        <p:spPr>
          <a:xfrm>
            <a:off x="7729538" y="5021263"/>
            <a:ext cx="8696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으로 보장</a:t>
            </a:r>
            <a:endParaRPr lang="en-US" sz="15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케어백 간병플러스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환급금 유지 &amp; 연금 전환 ① 65세 시점 환급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536601"/>
            <a:ext cx="3556000" cy="4508599"/>
          </a:xfrm>
          <a:prstGeom prst="roundRect">
            <a:avLst>
              <a:gd name="adj" fmla="val 1429"/>
            </a:avLst>
          </a:prstGeom>
          <a:solidFill>
            <a:srgbClr val="F3F5F8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1765201"/>
            <a:ext cx="313944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케어백간병플러스 주요 담보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6800" y="2090241"/>
            <a:ext cx="31394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장기요양(1~5등급) 시설급여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066800" y="2379762"/>
            <a:ext cx="31394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장기요양(1~5등급) 재가급여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66800" y="2669282"/>
            <a:ext cx="31394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장기요양(1~5등급) 복합재가급여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66800" y="2958802"/>
            <a:ext cx="33020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간병인비용지원금 (1백만원 이상, 요양병원 제외)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66800" y="3248323"/>
            <a:ext cx="31394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간병인지원금(1~180일)(요양병원 제외)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66800" y="3537843"/>
            <a:ext cx="31394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간병인지원금(1~10일)(요양병원)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66800" y="3827363"/>
            <a:ext cx="313944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간호간병서비스지원금(1~180일)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066800" y="4116884"/>
            <a:ext cx="313944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장기요양(1~5등급) 가족인요양보호사 방문요양특약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673600" y="1536601"/>
            <a:ext cx="690676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상해 1급, 40세 남자, 10년납 110세 만기</a:t>
            </a:r>
            <a:endParaRPr lang="en-US" sz="13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86300" y="1881981"/>
          <a:ext cx="6692900" cy="2764234"/>
        </p:xfrm>
        <a:graphic>
          <a:graphicData uri="http://schemas.openxmlformats.org/drawingml/2006/table">
            <a:tbl>
              <a:tblPr/>
              <a:tblGrid>
                <a:gridCol w="3881882"/>
                <a:gridCol w="1338580"/>
                <a:gridCol w="1472438"/>
              </a:tblGrid>
              <a:tr h="39489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가입 담보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가입 금액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보험료(원)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</a:tr>
              <a:tr h="39489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주계약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1,000만원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55,500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89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장기요양(1~5등급) 재가급여특약(월1회)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50만원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138,100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89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장기요양(1~5등급) 시설급여특약(월1회)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50만원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37,200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89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장기요양(1~5등급) 복합재가급여특약(월1회)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50만원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55,450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89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보장보험료 합계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286,250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9489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총 납입 보험료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34,350,000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4673600" y="4747816"/>
            <a:ext cx="6705600" cy="1297384"/>
          </a:xfrm>
          <a:prstGeom prst="roundRect">
            <a:avLst>
              <a:gd name="adj" fmla="val 3916"/>
            </a:avLst>
          </a:prstGeom>
          <a:solidFill>
            <a:srgbClr val="0F2340"/>
          </a:solidFill>
          <a:ln/>
        </p:spPr>
      </p:sp>
      <p:sp>
        <p:nvSpPr>
          <p:cNvPr id="17" name="Text 14"/>
          <p:cNvSpPr/>
          <p:nvPr/>
        </p:nvSpPr>
        <p:spPr>
          <a:xfrm>
            <a:off x="4927600" y="5254228"/>
            <a:ext cx="13208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E6CF9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65세 시점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502400" y="5063827"/>
            <a:ext cx="205106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환급금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502400" y="5302548"/>
            <a:ext cx="229612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49,294,993원</a:t>
            </a:r>
            <a:endParaRPr lang="en-US" sz="2400" dirty="0"/>
          </a:p>
        </p:txBody>
      </p:sp>
      <p:sp>
        <p:nvSpPr>
          <p:cNvPr id="20" name="Text 17"/>
          <p:cNvSpPr/>
          <p:nvPr/>
        </p:nvSpPr>
        <p:spPr>
          <a:xfrm>
            <a:off x="8798520" y="5063827"/>
            <a:ext cx="12220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환급률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8798520" y="5302548"/>
            <a:ext cx="140553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143.5%</a:t>
            </a:r>
            <a:endParaRPr lang="en-US" sz="2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케어백 간병플러스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환급금 유지 &amp; 연금 전환 ② 종신연금 전환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562001"/>
            <a:ext cx="1088339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종신연금형(20년보증), 연복리 2.5% 가정 시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2059781"/>
          <a:ext cx="10553700" cy="2691805"/>
        </p:xfrm>
        <a:graphic>
          <a:graphicData uri="http://schemas.openxmlformats.org/drawingml/2006/table">
            <a:tbl>
              <a:tblPr/>
              <a:tblGrid>
                <a:gridCol w="3166110"/>
                <a:gridCol w="3799332"/>
                <a:gridCol w="3588258"/>
              </a:tblGrid>
              <a:tr h="53836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연금액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100세까지 수령 시 총액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보험 차익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</a:tr>
              <a:tr h="53836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217만원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7,595만원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7C591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약 4,160만원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36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254만원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7,620만원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7C591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약 4,185만원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36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293만원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7,325만원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7C591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약 3,890만원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3836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323만원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6,460만원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52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7C591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약 3,025만원</a:t>
                      </a:r>
                      <a:endParaRPr lang="en-US" sz="18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80010" marR="80010" marT="80010" marB="8001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812800" y="5005586"/>
            <a:ext cx="10566400" cy="1039614"/>
          </a:xfrm>
          <a:prstGeom prst="roundRect">
            <a:avLst>
              <a:gd name="adj" fmla="val 4886"/>
            </a:avLst>
          </a:prstGeom>
          <a:solidFill>
            <a:srgbClr val="F3F5F8"/>
          </a:solidFill>
          <a:ln/>
        </p:spPr>
        <p:txBody>
          <a:bodyPr wrap="square" lIns="188321" tIns="188321" rIns="188321" bIns="188321" rtlCol="0" anchor="ctr">
            <a:normAutofit/>
          </a:bodyPr>
          <a:lstStyle/>
          <a:p>
            <a:pPr algn="ctr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환급금은 유지하다가 필요할 때 </a:t>
            </a:r>
            <a:r>
              <a:rPr lang="en-US" sz="17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종신연금</a:t>
            </a:r>
            <a:r>
              <a:rPr lang="en-US" sz="1700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으로 전환해 100세까지 수령할 수 있습니다.</a:t>
            </a:r>
            <a:endParaRPr lang="en-US" sz="17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58800"/>
            <a:ext cx="395955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케어백 간병플러스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48320"/>
            <a:ext cx="4613077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케어백 간병 플러스 플랜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747550" y="1026120"/>
            <a:ext cx="46316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장기요양 급여서비스 · 상해1급 40세, 10년납, 110세 만기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447701"/>
          <a:ext cx="10553700" cy="1796355"/>
        </p:xfrm>
        <a:graphic>
          <a:graphicData uri="http://schemas.openxmlformats.org/drawingml/2006/table">
            <a:tbl>
              <a:tblPr/>
              <a:tblGrid>
                <a:gridCol w="3377184"/>
                <a:gridCol w="1266444"/>
                <a:gridCol w="1477518"/>
                <a:gridCol w="1477518"/>
                <a:gridCol w="1477518"/>
                <a:gridCol w="1477518"/>
              </a:tblGrid>
              <a:tr h="35927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가입 담보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가입 금액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남자 보험료(원)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남자 완납 이후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여자 보험료(원)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여자 완납 이후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주계약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1,000만원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55,500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약 1,227만원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53,400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약 1,233만원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장기요양(1~5등급) 재가급여(월1회)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50만원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138,100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약 68만원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203,950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약 68만원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장기요양(1~5등급) 시설급여(월1회)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100만원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74,400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약 136만원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178,000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약 136만원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5927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장기요양(1~5등급) 복합재가급여(월1회)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50만원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55,450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약 68만원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60,950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약 68만원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6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3434556"/>
          <a:ext cx="10553700" cy="1974453"/>
        </p:xfrm>
        <a:graphic>
          <a:graphicData uri="http://schemas.openxmlformats.org/drawingml/2006/table">
            <a:tbl>
              <a:tblPr/>
              <a:tblGrid>
                <a:gridCol w="4643628"/>
                <a:gridCol w="2955036"/>
                <a:gridCol w="2955036"/>
              </a:tblGrid>
              <a:tr h="39489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구분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3E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3E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남자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283E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3E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3E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7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여자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283E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283E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283E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4A72"/>
                    </a:solidFill>
                  </a:tcPr>
                </a:tc>
              </a:tr>
              <a:tr h="39489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보장보험료 합계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3E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323,450원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3E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496,300원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283E5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89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총 납입보험료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38,814,000원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59,556,000원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89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환급률 · 완납 시점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112.7% (43,777,350원)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113.0% (67,316,700원)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489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환급률 · 40년 시점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7C591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164.8% (63,999,182원)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7C591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167.9% (100,005,021원)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CD9B34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2561630"/>
            <a:ext cx="1088339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200" kern="0" dirty="0">
                <a:solidFill>
                  <a:srgbClr val="CD9B3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PART 3 · 평균 수명 연장에 따른</a:t>
            </a:r>
            <a:endParaRPr lang="en-US" sz="16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3049290"/>
            <a:ext cx="10883392" cy="726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520"/>
              </a:lnSpc>
              <a:buNone/>
            </a:pPr>
            <a:r>
              <a:rPr lang="en-US" sz="4800" b="1" i="0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보험료 납입면제 활용 방안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812800" y="3953470"/>
            <a:ext cx="10883392" cy="3683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800" dirty="0">
                <a:solidFill>
                  <a:srgbClr val="C9D2E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생손보 비교 · 연령별 발생률 · 장애와 장해 · 상품별 납입면제 범위</a:t>
            </a:r>
            <a:endParaRPr lang="en-US" sz="18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보험료 납입면제 활용 방안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납입면제의 정의 · 효과 · 범위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565176"/>
            <a:ext cx="3380284" cy="3425329"/>
          </a:xfrm>
          <a:prstGeom prst="roundRect">
            <a:avLst>
              <a:gd name="adj" fmla="val 1409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8550" y="1847751"/>
            <a:ext cx="289958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정의 Definition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8550" y="2231231"/>
            <a:ext cx="2899588" cy="13636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약관에서 정한 </a:t>
            </a:r>
            <a:r>
              <a:rPr lang="en-US" sz="17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특정 사유</a:t>
            </a:r>
            <a:r>
              <a:rPr lang="en-US" sz="17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(질병, 상해 등) </a:t>
            </a:r>
            <a:r>
              <a:rPr lang="en-US" sz="17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발생 시</a:t>
            </a:r>
            <a:r>
              <a:rPr lang="en-US" sz="17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, 보험회사가 차회 이후의 </a:t>
            </a:r>
            <a:r>
              <a:rPr lang="en-US" sz="17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보험료 납입 의무를 면제</a:t>
            </a:r>
            <a:r>
              <a:rPr lang="en-US" sz="17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해 주는 제도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4405809" y="1565176"/>
            <a:ext cx="3380383" cy="3425329"/>
          </a:xfrm>
          <a:prstGeom prst="roundRect">
            <a:avLst>
              <a:gd name="adj" fmla="val 1409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88384" y="1847751"/>
            <a:ext cx="289969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효과 Benefit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88384" y="2231231"/>
            <a:ext cx="2899690" cy="1029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보험료 납입 중단에도 </a:t>
            </a:r>
            <a:r>
              <a:rPr lang="en-US" sz="17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계약은 정상 유지</a:t>
            </a:r>
            <a:r>
              <a:rPr lang="en-US" sz="17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하고 </a:t>
            </a:r>
            <a:r>
              <a:rPr lang="en-US" sz="17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보장 혜택은 만기까지</a:t>
            </a:r>
            <a:r>
              <a:rPr lang="en-US" sz="17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지속 </a:t>
            </a:r>
            <a:r>
              <a:rPr lang="en-US" sz="17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(경제적 이중고 해소)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995741" y="1565176"/>
            <a:ext cx="3380284" cy="3425329"/>
          </a:xfrm>
          <a:prstGeom prst="roundRect">
            <a:avLst>
              <a:gd name="adj" fmla="val 1409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8316" y="1847751"/>
            <a:ext cx="289958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범위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78316" y="2231231"/>
            <a:ext cx="2899588" cy="10290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35"/>
              </a:lnSpc>
              <a:buNone/>
            </a:pPr>
            <a:r>
              <a:rPr lang="en-US" sz="17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주계약 또는 특약 </a:t>
            </a:r>
            <a:r>
              <a:rPr lang="en-US" sz="17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약관에 명시된 사유</a:t>
            </a:r>
            <a:r>
              <a:rPr lang="en-US" sz="17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에 한함 </a:t>
            </a:r>
            <a:r>
              <a:rPr lang="en-US" sz="17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(유사암 등 제외 조건 확인 필수)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812800" y="5247680"/>
            <a:ext cx="10566400" cy="797520"/>
          </a:xfrm>
          <a:prstGeom prst="roundRect">
            <a:avLst>
              <a:gd name="adj" fmla="val 6370"/>
            </a:avLst>
          </a:prstGeom>
          <a:solidFill>
            <a:srgbClr val="0F2340"/>
          </a:solidFill>
          <a:ln/>
        </p:spPr>
        <p:txBody>
          <a:bodyPr wrap="square" lIns="35921" tIns="188321" rIns="35921" bIns="162921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경제적 위기 상황에서도 보장을 지속할 수 있는 </a:t>
            </a:r>
            <a:r>
              <a:rPr lang="en-US" sz="2200" b="1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보험 안전장치</a:t>
            </a:r>
            <a:endParaRPr lang="en-US" sz="22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58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보험료 납입면제 활용 방안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483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생손보 납입면제 비교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460401"/>
            <a:ext cx="4318000" cy="530820"/>
          </a:xfrm>
          <a:custGeom>
            <a:avLst/>
            <a:gdLst/>
            <a:ahLst/>
            <a:cxnLst/>
            <a:rect l="l" t="t" r="r" b="b"/>
            <a:pathLst>
              <a:path w="4318000" h="530820">
                <a:moveTo>
                  <a:pt x="50800" y="0"/>
                </a:moveTo>
                <a:lnTo>
                  <a:pt x="4318000" y="0"/>
                </a:lnTo>
                <a:lnTo>
                  <a:pt x="4318000" y="530820"/>
                </a:lnTo>
                <a:lnTo>
                  <a:pt x="0" y="530820"/>
                </a:lnTo>
                <a:lnTo>
                  <a:pt x="0" y="50800"/>
                </a:lnTo>
                <a:arcTo hR="50800" wR="50800" stAng="10800000" swAng="5400000"/>
                <a:close/>
              </a:path>
            </a:pathLst>
          </a:custGeom>
          <a:solidFill>
            <a:srgbClr val="0F2340"/>
          </a:solidFill>
          <a:ln/>
        </p:spPr>
        <p:txBody>
          <a:bodyPr wrap="square" lIns="52959" tIns="114300" rIns="52959" bIns="88900" rtlCol="0" anchor="t">
            <a:normAutofit/>
          </a:bodyPr>
          <a:lstStyle/>
          <a:p>
            <a:pPr algn="ctr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생명보험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130800" y="1460401"/>
            <a:ext cx="1930400" cy="530820"/>
          </a:xfrm>
          <a:prstGeom prst="rect">
            <a:avLst/>
          </a:prstGeom>
          <a:solidFill>
            <a:srgbClr val="E1E6ED"/>
          </a:solidFill>
          <a:ln/>
        </p:spPr>
        <p:txBody>
          <a:bodyPr wrap="square" lIns="88773" tIns="114300" rIns="88773" bIns="11430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구분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7061200" y="1460401"/>
            <a:ext cx="4318000" cy="530820"/>
          </a:xfrm>
          <a:custGeom>
            <a:avLst/>
            <a:gdLst/>
            <a:ahLst/>
            <a:cxnLst/>
            <a:rect l="l" t="t" r="r" b="b"/>
            <a:pathLst>
              <a:path w="4318000" h="530820">
                <a:moveTo>
                  <a:pt x="0" y="0"/>
                </a:moveTo>
                <a:lnTo>
                  <a:pt x="4267200" y="0"/>
                </a:lnTo>
                <a:arcTo hR="50800" wR="50800" stAng="16200000" swAng="5400000"/>
                <a:lnTo>
                  <a:pt x="4318000" y="530820"/>
                </a:lnTo>
                <a:lnTo>
                  <a:pt x="0" y="530820"/>
                </a:lnTo>
                <a:lnTo>
                  <a:pt x="0" y="0"/>
                </a:lnTo>
                <a:close/>
              </a:path>
            </a:pathLst>
          </a:custGeom>
          <a:solidFill>
            <a:srgbClr val="2E4A72"/>
          </a:solidFill>
          <a:ln/>
        </p:spPr>
        <p:txBody>
          <a:bodyPr wrap="square" lIns="52959" tIns="114300" rIns="52959" bIns="88900" rtlCol="0" anchor="t">
            <a:normAutofit/>
          </a:bodyPr>
          <a:lstStyle/>
          <a:p>
            <a:pPr algn="ctr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손해보험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12800" y="2728416"/>
            <a:ext cx="43180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05002" y="2118221"/>
            <a:ext cx="41335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적립형 구조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05002" y="2384921"/>
            <a:ext cx="41335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(내부 적립금이 차곡차곡 쌓임)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130800" y="1991221"/>
            <a:ext cx="1930400" cy="740370"/>
          </a:xfrm>
          <a:prstGeom prst="rect">
            <a:avLst/>
          </a:prstGeom>
          <a:solidFill>
            <a:srgbClr val="F3F5F8"/>
          </a:solidFill>
          <a:ln/>
        </p:spPr>
        <p:txBody>
          <a:bodyPr wrap="square" lIns="101600" tIns="127000" rIns="101600" bIns="13335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보험료 구조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130800" y="2728416"/>
            <a:ext cx="19304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061200" y="2728416"/>
            <a:ext cx="43180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53402" y="2118221"/>
            <a:ext cx="41335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소멸형 구조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153402" y="2384921"/>
            <a:ext cx="41335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(위험 보장을 위한 비용 소멸)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2800" y="3468787"/>
            <a:ext cx="43180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5002" y="2858591"/>
            <a:ext cx="41335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대납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05002" y="3125291"/>
            <a:ext cx="41335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(회사가 고객 대신 보험료를 적립해 줌)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130800" y="2731591"/>
            <a:ext cx="1930400" cy="740370"/>
          </a:xfrm>
          <a:prstGeom prst="rect">
            <a:avLst/>
          </a:prstGeom>
          <a:solidFill>
            <a:srgbClr val="F3F5F8"/>
          </a:solidFill>
          <a:ln/>
        </p:spPr>
        <p:txBody>
          <a:bodyPr wrap="square" lIns="101600" tIns="127000" rIns="101600" bIns="13335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납입면제 효과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130800" y="3468787"/>
            <a:ext cx="19304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61200" y="3468787"/>
            <a:ext cx="43180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53402" y="2858591"/>
            <a:ext cx="41335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면제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7153402" y="3125291"/>
            <a:ext cx="413359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(앞으로 낼 의무만 사라짐)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12800" y="3995837"/>
            <a:ext cx="43180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5002" y="3598962"/>
            <a:ext cx="41335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E6B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지속 상승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130800" y="3471962"/>
            <a:ext cx="1930400" cy="527050"/>
          </a:xfrm>
          <a:prstGeom prst="rect">
            <a:avLst/>
          </a:prstGeom>
          <a:solidFill>
            <a:srgbClr val="F3F5F8"/>
          </a:solidFill>
          <a:ln/>
        </p:spPr>
        <p:txBody>
          <a:bodyPr wrap="square" lIns="101600" tIns="127000" rIns="101600" bIns="13335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해지환급금 변동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130800" y="3995837"/>
            <a:ext cx="19304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061200" y="3995837"/>
            <a:ext cx="43180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153402" y="3598962"/>
            <a:ext cx="413359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정체 또는 소멸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812800" y="5570339"/>
            <a:ext cx="4318000" cy="0"/>
          </a:xfrm>
          <a:prstGeom prst="line">
            <a:avLst/>
          </a:prstGeom>
          <a:noFill/>
          <a:ln w="19050">
            <a:solidFill>
              <a:srgbClr val="0F234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16000" y="4126012"/>
            <a:ext cx="402894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일반암 진단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1016000" y="4395192"/>
            <a:ext cx="402894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장해지급률 50% 또는 80% 이상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1016000" y="4664373"/>
            <a:ext cx="402894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A318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사유 범위: 제한적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130800" y="3999012"/>
            <a:ext cx="1930400" cy="1580852"/>
          </a:xfrm>
          <a:prstGeom prst="rect">
            <a:avLst/>
          </a:prstGeom>
          <a:solidFill>
            <a:srgbClr val="F3F5F8"/>
          </a:solidFill>
          <a:ln/>
        </p:spPr>
        <p:txBody>
          <a:bodyPr wrap="square" lIns="101600" tIns="127000" rIns="101600" bIns="14605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주요 납입면제 사유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5130800" y="5570339"/>
            <a:ext cx="1930400" cy="0"/>
          </a:xfrm>
          <a:prstGeom prst="line">
            <a:avLst/>
          </a:prstGeom>
          <a:noFill/>
          <a:ln w="19050">
            <a:solidFill>
              <a:srgbClr val="0F234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061200" y="5570339"/>
            <a:ext cx="4318000" cy="0"/>
          </a:xfrm>
          <a:prstGeom prst="line">
            <a:avLst/>
          </a:prstGeom>
          <a:noFill/>
          <a:ln w="19050">
            <a:solidFill>
              <a:srgbClr val="2E4A7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64400" y="4126012"/>
            <a:ext cx="402894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암(유사암 제외)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264400" y="4395192"/>
            <a:ext cx="402894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뇌졸중 or 뇌혈관질환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7264400" y="4664373"/>
            <a:ext cx="402894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급성심근경색증 or 허혈성심장질환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7264400" y="4933553"/>
            <a:ext cx="402894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상해/질병 80% 이상 후유장해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7264400" y="5202734"/>
            <a:ext cx="402894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1E6B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사유 범위: 월등함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748030" y="5783064"/>
            <a:ext cx="444754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자산가치 특화</a:t>
            </a:r>
            <a:endParaRPr lang="en-US" sz="2200" dirty="0"/>
          </a:p>
        </p:txBody>
      </p:sp>
      <p:sp>
        <p:nvSpPr>
          <p:cNvPr id="42" name="Text 40"/>
          <p:cNvSpPr/>
          <p:nvPr/>
        </p:nvSpPr>
        <p:spPr>
          <a:xfrm>
            <a:off x="6996430" y="5783064"/>
            <a:ext cx="4447540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2E4A72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보장범위 특화</a:t>
            </a:r>
            <a:endParaRPr lang="en-US" sz="22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보험료 납입면제 활용 방안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일반적인 납입면제 사유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565176"/>
            <a:ext cx="3380284" cy="4476849"/>
          </a:xfrm>
          <a:prstGeom prst="roundRect">
            <a:avLst>
              <a:gd name="adj" fmla="val 1409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8550" y="1847751"/>
            <a:ext cx="289958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3대 질병 진단 확정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8550" y="2322711"/>
            <a:ext cx="289958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일반암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8550" y="2632571"/>
            <a:ext cx="289958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(유사암/소액암 제외 약관 확인 필수)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98550" y="3003352"/>
            <a:ext cx="289958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뇌졸중 또는 뇌출혈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8550" y="3313212"/>
            <a:ext cx="289958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(뇌혈관질환 범위 체크)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98550" y="3683992"/>
            <a:ext cx="289958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급성심근경색증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8550" y="3993852"/>
            <a:ext cx="289958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(허혈성심장질환 범위 체크)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05809" y="1565176"/>
            <a:ext cx="3380383" cy="4476849"/>
          </a:xfrm>
          <a:prstGeom prst="roundRect">
            <a:avLst>
              <a:gd name="adj" fmla="val 1409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88384" y="1847751"/>
            <a:ext cx="2899690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후유장해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688384" y="2322711"/>
            <a:ext cx="289969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상해/질병 후유장해로 </a:t>
            </a:r>
            <a:r>
              <a:rPr lang="en-US" sz="16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장해지급률 50% 이상 or 80% 이상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88384" y="3072011"/>
            <a:ext cx="2899690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합산 장해율 인정 여부 등 세부 약관 상이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995741" y="1565176"/>
            <a:ext cx="3380284" cy="4476849"/>
          </a:xfrm>
          <a:prstGeom prst="roundRect">
            <a:avLst>
              <a:gd name="adj" fmla="val 1409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278316" y="1847751"/>
            <a:ext cx="289958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기타 중대 사유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78316" y="2322711"/>
            <a:ext cx="289958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상품별 상이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78316" y="2746871"/>
            <a:ext cx="2899588" cy="144770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– 말기 신부전증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– 말기 간경화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– 중대한 수술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– 중대한 화상 및 부식</a:t>
            </a:r>
            <a:endParaRPr lang="en-US" sz="1400" dirty="0"/>
          </a:p>
          <a:p>
            <a:pPr algn="l" indent="0" marL="0">
              <a:lnSpc>
                <a:spcPts val="224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– 양성 뇌종양 등</a:t>
            </a:r>
            <a:endParaRPr lang="en-US" sz="14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08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보험료 납입면제 활용 방안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7975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남성 연령군별 암종 발생률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384201"/>
            <a:ext cx="10566400" cy="3530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남성 연령군별 암종 발생률 그래프(10만 명당 발생률, 폐·위·대장·전립선·간·갑상선). 60세 이후 급증. 출처: 중앙암등록본부 2023년 국가암등록통계">    </p:cNvPr>
          <p:cNvPicPr>
            <a:picLocks noChangeAspect="1"/>
          </p:cNvPicPr>
          <p:nvPr/>
        </p:nvPicPr>
        <p:blipFill>
          <a:blip r:embed="rId1"/>
          <a:srcRect l="-4780" r="-4780" t="0" b="0"/>
          <a:stretch/>
        </p:blipFill>
        <p:spPr>
          <a:xfrm>
            <a:off x="812800" y="1384201"/>
            <a:ext cx="10566400" cy="3530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5092601"/>
            <a:ext cx="3048000" cy="838200"/>
          </a:xfrm>
          <a:prstGeom prst="roundRect">
            <a:avLst>
              <a:gd name="adj" fmla="val 6061"/>
            </a:avLst>
          </a:prstGeom>
          <a:solidFill>
            <a:srgbClr val="F3F5F8"/>
          </a:solidFill>
          <a:ln/>
        </p:spPr>
        <p:txBody>
          <a:bodyPr wrap="square" lIns="148697" tIns="137521" rIns="148697" bIns="112121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남자는 </a:t>
            </a:r>
            <a:r>
              <a:rPr lang="en-US" sz="15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60세 이후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발병률 급격히 증가</a:t>
            </a:r>
            <a:endParaRPr lang="en-US" sz="1500" dirty="0"/>
          </a:p>
        </p:txBody>
      </p:sp>
      <p:pic>
        <p:nvPicPr>
          <p:cNvPr id="7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13200" y="5410101"/>
            <a:ext cx="406400" cy="203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0" y="5092601"/>
            <a:ext cx="3048000" cy="838200"/>
          </a:xfrm>
          <a:prstGeom prst="roundRect">
            <a:avLst>
              <a:gd name="adj" fmla="val 6061"/>
            </a:avLst>
          </a:prstGeom>
          <a:solidFill>
            <a:srgbClr val="F3F5F8"/>
          </a:solidFill>
          <a:ln/>
        </p:spPr>
        <p:txBody>
          <a:bodyPr wrap="square" lIns="148697" tIns="137521" rIns="148697" bIns="112121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평생 동안 암 발생확률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남자 44.6%</a:t>
            </a:r>
            <a:endParaRPr lang="en-US" sz="1500" dirty="0"/>
          </a:p>
        </p:txBody>
      </p:sp>
      <p:pic>
        <p:nvPicPr>
          <p:cNvPr id="9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72400" y="5410101"/>
            <a:ext cx="406400" cy="203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31200" y="5092601"/>
            <a:ext cx="3048000" cy="838200"/>
          </a:xfrm>
          <a:prstGeom prst="roundRect">
            <a:avLst>
              <a:gd name="adj" fmla="val 6061"/>
            </a:avLst>
          </a:prstGeom>
          <a:solidFill>
            <a:srgbClr val="0F2340"/>
          </a:solidFill>
          <a:ln/>
        </p:spPr>
        <p:txBody>
          <a:bodyPr wrap="square" lIns="148697" tIns="137521" rIns="148697" bIns="112121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오래 살수록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D9B3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납입면제 확률 UP</a:t>
            </a:r>
            <a:endParaRPr lang="en-US" sz="15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08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보험료 납입면제 활용 방안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7975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여성 연령군별 암종 발생률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384201"/>
            <a:ext cx="10566400" cy="3530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여성 연령군별 암종 발생률 그래프(대장·폐·위·췌장·유방·갑상선·자궁체부). 갑상선암 20대, 유방암 30대 이후 급증. 출처: 중앙암등록본부 2023년 국가암등록통계">    </p:cNvPr>
          <p:cNvPicPr>
            <a:picLocks noChangeAspect="1"/>
          </p:cNvPicPr>
          <p:nvPr/>
        </p:nvPicPr>
        <p:blipFill>
          <a:blip r:embed="rId1"/>
          <a:srcRect l="-4679" r="-4679" t="0" b="0"/>
          <a:stretch/>
        </p:blipFill>
        <p:spPr>
          <a:xfrm>
            <a:off x="812800" y="1384201"/>
            <a:ext cx="10566400" cy="3530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5110460"/>
            <a:ext cx="3048000" cy="802481"/>
          </a:xfrm>
          <a:prstGeom prst="roundRect">
            <a:avLst>
              <a:gd name="adj" fmla="val 6330"/>
            </a:avLst>
          </a:prstGeom>
          <a:solidFill>
            <a:srgbClr val="F3F5F8"/>
          </a:solidFill>
          <a:ln/>
        </p:spPr>
        <p:txBody>
          <a:bodyPr wrap="square" lIns="148697" tIns="137521" rIns="148697" bIns="112121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여자는 </a:t>
            </a:r>
            <a:r>
              <a:rPr lang="en-US" sz="14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갑상선암 20대 이후,</a:t>
            </a:r>
            <a:endParaRPr lang="en-US" sz="1400" dirty="0"/>
          </a:p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유방암은 30대 이후</a:t>
            </a:r>
            <a:r>
              <a:rPr lang="en-US" sz="1400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급격히 증가</a:t>
            </a:r>
            <a:endParaRPr lang="en-US" sz="1400" dirty="0"/>
          </a:p>
        </p:txBody>
      </p:sp>
      <p:pic>
        <p:nvPicPr>
          <p:cNvPr id="7" name="Image 1" descr="arrow-right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13200" y="5410101"/>
            <a:ext cx="406400" cy="203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0" y="5092601"/>
            <a:ext cx="3048000" cy="838200"/>
          </a:xfrm>
          <a:prstGeom prst="roundRect">
            <a:avLst>
              <a:gd name="adj" fmla="val 6061"/>
            </a:avLst>
          </a:prstGeom>
          <a:solidFill>
            <a:srgbClr val="F3F5F8"/>
          </a:solidFill>
          <a:ln/>
        </p:spPr>
        <p:txBody>
          <a:bodyPr wrap="square" lIns="148697" tIns="137521" rIns="148697" bIns="112121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평생 동안 암 발생확률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여자 38.2%</a:t>
            </a:r>
            <a:endParaRPr lang="en-US" sz="1500" dirty="0"/>
          </a:p>
        </p:txBody>
      </p:sp>
      <p:pic>
        <p:nvPicPr>
          <p:cNvPr id="9" name="Image 2" descr="arrow-right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772400" y="5410101"/>
            <a:ext cx="406400" cy="2032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331200" y="5092601"/>
            <a:ext cx="3048000" cy="838200"/>
          </a:xfrm>
          <a:prstGeom prst="roundRect">
            <a:avLst>
              <a:gd name="adj" fmla="val 6061"/>
            </a:avLst>
          </a:prstGeom>
          <a:solidFill>
            <a:srgbClr val="0F2340"/>
          </a:solidFill>
          <a:ln/>
        </p:spPr>
        <p:txBody>
          <a:bodyPr wrap="square" lIns="148697" tIns="137521" rIns="148697" bIns="112121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50세 이전</a:t>
            </a:r>
            <a:endParaRPr lang="en-US" sz="1500" dirty="0"/>
          </a:p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CD9B3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납입면제 확률 UP</a:t>
            </a:r>
            <a:endParaRPr lang="en-US" sz="15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보험료 납입면제 활용 방안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고령 건강을 위협하는 6敵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562001"/>
            <a:ext cx="2794000" cy="4483199"/>
          </a:xfrm>
          <a:prstGeom prst="roundRect">
            <a:avLst>
              <a:gd name="adj" fmla="val 1818"/>
            </a:avLst>
          </a:prstGeom>
          <a:solidFill>
            <a:srgbClr val="0F2340"/>
          </a:solidFill>
          <a:ln/>
        </p:spPr>
      </p:sp>
      <p:sp>
        <p:nvSpPr>
          <p:cNvPr id="5" name="Text 3"/>
          <p:cNvSpPr/>
          <p:nvPr/>
        </p:nvSpPr>
        <p:spPr>
          <a:xfrm>
            <a:off x="1066800" y="2901950"/>
            <a:ext cx="2354580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CF9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65세 이상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E6CF9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만성질환 유병률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66800" y="3501231"/>
            <a:ext cx="23545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000"/>
              </a:lnSpc>
              <a:buNone/>
            </a:pPr>
            <a:r>
              <a:rPr lang="en-US" sz="70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84%</a:t>
            </a:r>
            <a:endParaRPr lang="en-US" sz="7000" dirty="0"/>
          </a:p>
        </p:txBody>
      </p:sp>
      <p:sp>
        <p:nvSpPr>
          <p:cNvPr id="7" name="Text 5"/>
          <p:cNvSpPr/>
          <p:nvPr/>
        </p:nvSpPr>
        <p:spPr>
          <a:xfrm>
            <a:off x="1066800" y="4491831"/>
            <a:ext cx="235458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C9D2E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출처: 의학신문 2024.09.06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863975" y="1565176"/>
            <a:ext cx="2415084" cy="2274590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019550" y="1695351"/>
            <a:ext cx="21670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고혈압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019550" y="1987451"/>
            <a:ext cx="216705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65.2%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019550" y="2439491"/>
            <a:ext cx="2167052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협심증 심근경색, 심부전(심장장애)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019550" y="2876252"/>
            <a:ext cx="21670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재활뉴스 2023.01.20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12409" y="1565176"/>
            <a:ext cx="2415084" cy="2274590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67984" y="1695351"/>
            <a:ext cx="21670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관절염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67984" y="1987451"/>
            <a:ext cx="216705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60%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567984" y="2439491"/>
            <a:ext cx="2167052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지체장애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567984" y="2670572"/>
            <a:ext cx="21670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메디컬헬스뉴스 2023.01.31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60842" y="1565176"/>
            <a:ext cx="2415183" cy="2274590"/>
          </a:xfrm>
          <a:prstGeom prst="roundRect">
            <a:avLst>
              <a:gd name="adj" fmla="val 2094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16417" y="1695351"/>
            <a:ext cx="216715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암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116417" y="1987451"/>
            <a:ext cx="216715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36.9%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116417" y="2439491"/>
            <a:ext cx="2167154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지체, 시각, 청각, 언어, 신장, 호흡기, 장루·요루장애 등 (평균수명 83.5세까지 생존 시)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9116417" y="3081933"/>
            <a:ext cx="21671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국가암정보센터 2022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863975" y="3973116"/>
            <a:ext cx="2415084" cy="2068909"/>
          </a:xfrm>
          <a:prstGeom prst="roundRect">
            <a:avLst>
              <a:gd name="adj" fmla="val 2302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019550" y="4103291"/>
            <a:ext cx="21670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당뇨병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4019550" y="4395391"/>
            <a:ext cx="216705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30%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019550" y="4847431"/>
            <a:ext cx="2167052" cy="4367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뇌혈관질환, 망막병증, 신부전(신장, 뇌병변, 시각, 청각 장애 등)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019550" y="5284192"/>
            <a:ext cx="21670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클리닉저널 2023.04.05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12409" y="3973116"/>
            <a:ext cx="2415084" cy="2068909"/>
          </a:xfrm>
          <a:prstGeom prst="roundRect">
            <a:avLst>
              <a:gd name="adj" fmla="val 2302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67984" y="4103291"/>
            <a:ext cx="216705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우울증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567984" y="4395391"/>
            <a:ext cx="2167052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28.0%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6567984" y="4847431"/>
            <a:ext cx="2167052" cy="231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정신장애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567984" y="5078512"/>
            <a:ext cx="216705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한국보건사회연구원 2021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960842" y="3973116"/>
            <a:ext cx="2415183" cy="2068909"/>
          </a:xfrm>
          <a:prstGeom prst="roundRect">
            <a:avLst>
              <a:gd name="adj" fmla="val 2302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16417" y="4103291"/>
            <a:ext cx="216715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치매</a:t>
            </a:r>
            <a:endParaRPr lang="en-US" sz="1500" dirty="0"/>
          </a:p>
        </p:txBody>
      </p:sp>
      <p:sp>
        <p:nvSpPr>
          <p:cNvPr id="35" name="Text 33"/>
          <p:cNvSpPr/>
          <p:nvPr/>
        </p:nvSpPr>
        <p:spPr>
          <a:xfrm>
            <a:off x="9116417" y="4395391"/>
            <a:ext cx="2167154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10.3%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9116417" y="5078512"/>
            <a:ext cx="21671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2020 중앙치매센터</a:t>
            </a:r>
            <a:endParaRPr lang="en-US" sz="12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보험료 납입면제 활용 방안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고혈압, 당뇨병이 장애로…</a:t>
            </a:r>
            <a:endParaRPr lang="en-US" sz="2800" dirty="0"/>
          </a:p>
        </p:txBody>
      </p:sp>
      <p:pic>
        <p:nvPicPr>
          <p:cNvPr id="4" name="Image 0" descr="장애 발생 원인 도넛 차트: 후천적 질환 58.1%, 후천적 사고 29.9%, 원인불명 6.4%, 선천적 원인 4.4%, 출산시 원인 1.1%. 출처: 한국보건사회연구원 2023 장애인 실태조사">    </p:cNvPr>
          <p:cNvPicPr>
            <a:picLocks noChangeAspect="1"/>
          </p:cNvPicPr>
          <p:nvPr/>
        </p:nvPicPr>
        <p:blipFill>
          <a:blip r:embed="rId1"/>
          <a:srcRect l="-1751" r="-1751" t="0" b="0"/>
          <a:stretch/>
        </p:blipFill>
        <p:spPr>
          <a:xfrm>
            <a:off x="812800" y="1536601"/>
            <a:ext cx="3937000" cy="4191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054600" y="1536601"/>
            <a:ext cx="6324600" cy="924421"/>
          </a:xfrm>
          <a:prstGeom prst="roundRect">
            <a:avLst>
              <a:gd name="adj" fmla="val 5495"/>
            </a:avLst>
          </a:prstGeom>
          <a:solidFill>
            <a:srgbClr val="F3F5F8"/>
          </a:solidFill>
          <a:ln/>
        </p:spPr>
      </p:sp>
      <p:sp>
        <p:nvSpPr>
          <p:cNvPr id="6" name="Text 3"/>
          <p:cNvSpPr/>
          <p:nvPr/>
        </p:nvSpPr>
        <p:spPr>
          <a:xfrm>
            <a:off x="5257800" y="1689001"/>
            <a:ext cx="609574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19세 이상 장애인 중 </a:t>
            </a:r>
            <a:r>
              <a:rPr lang="en-US" sz="1600" b="1" dirty="0">
                <a:solidFill>
                  <a:srgbClr val="A318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만성질환 84.8%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257800" y="2059781"/>
            <a:ext cx="609574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– 평균 2.5개의 만성질환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054600" y="2588022"/>
            <a:ext cx="6324600" cy="1656655"/>
          </a:xfrm>
          <a:prstGeom prst="roundRect">
            <a:avLst>
              <a:gd name="adj" fmla="val 3066"/>
            </a:avLst>
          </a:prstGeom>
          <a:solidFill>
            <a:srgbClr val="F3F5F8"/>
          </a:solidFill>
          <a:ln/>
        </p:spPr>
      </p:sp>
      <p:sp>
        <p:nvSpPr>
          <p:cNvPr id="9" name="Text 6"/>
          <p:cNvSpPr/>
          <p:nvPr/>
        </p:nvSpPr>
        <p:spPr>
          <a:xfrm>
            <a:off x="5257800" y="2740422"/>
            <a:ext cx="6095746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30세 이상 전체 인구 비교 시 장애인은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257800" y="3111202"/>
            <a:ext cx="609574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고혈압 52.9%</a:t>
            </a: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</a:t>
            </a:r>
            <a:r>
              <a:rPr lang="en-US" sz="15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(전체 인구 34.8%)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257800" y="3463627"/>
            <a:ext cx="609574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당뇨병 26.8%</a:t>
            </a: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</a:t>
            </a:r>
            <a:r>
              <a:rPr lang="en-US" sz="15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(전체 인구 14.8%)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5257800" y="3816052"/>
            <a:ext cx="6095746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유병률 더 높아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054600" y="4371677"/>
            <a:ext cx="6324600" cy="1333202"/>
          </a:xfrm>
          <a:prstGeom prst="roundRect">
            <a:avLst>
              <a:gd name="adj" fmla="val 3810"/>
            </a:avLst>
          </a:prstGeom>
          <a:solidFill>
            <a:srgbClr val="0F2340"/>
          </a:solidFill>
          <a:ln/>
        </p:spPr>
      </p:sp>
      <p:sp>
        <p:nvSpPr>
          <p:cNvPr id="14" name="Text 11"/>
          <p:cNvSpPr/>
          <p:nvPr/>
        </p:nvSpPr>
        <p:spPr>
          <a:xfrm>
            <a:off x="5257800" y="4586188"/>
            <a:ext cx="6095746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E6CF9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후천적 장애 원인 중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5257800" y="4921448"/>
            <a:ext cx="6095746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질병이 </a:t>
            </a:r>
            <a:r>
              <a:rPr lang="en-US" sz="3200" b="1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58.1%</a:t>
            </a:r>
            <a:endParaRPr lang="en-US" sz="3200" dirty="0"/>
          </a:p>
        </p:txBody>
      </p:sp>
      <p:sp>
        <p:nvSpPr>
          <p:cNvPr id="16" name="Text 13"/>
          <p:cNvSpPr/>
          <p:nvPr/>
        </p:nvSpPr>
        <p:spPr>
          <a:xfrm>
            <a:off x="5054600" y="5831880"/>
            <a:ext cx="651433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출처: 한국보건사회연구원 「2023 장애인 실태조사」</a:t>
            </a:r>
            <a:endParaRPr lang="en-US" sz="12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보험료 납입면제 활용 방안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장애와 장해, 뭐가 다를까?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565176"/>
            <a:ext cx="5130800" cy="4476849"/>
          </a:xfrm>
          <a:prstGeom prst="roundRect">
            <a:avLst>
              <a:gd name="adj" fmla="val 1064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8550" y="1847751"/>
            <a:ext cx="470262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3D4757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장애 </a:t>
            </a:r>
            <a:r>
              <a:rPr lang="en-US" sz="2400" b="1" dirty="0">
                <a:solidFill>
                  <a:srgbClr val="667185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障碍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098550" y="2340471"/>
            <a:ext cx="470262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신체 기관이 본래의 제 기능을 하지 못하거나 정신 능력에 결함이 있는 상태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98550" y="3038971"/>
            <a:ext cx="470262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국가(국민연금공단)에서 판단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98550" y="3451721"/>
            <a:ext cx="470262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법령의 장애인복지법 적용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98550" y="3864471"/>
            <a:ext cx="470262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중증장애와 경증장애로 분류하여 복지혜택 수혜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098550" y="5261670"/>
            <a:ext cx="470262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3D4757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264만명 </a:t>
            </a:r>
            <a:r>
              <a:rPr lang="en-US" sz="2800" b="1" dirty="0">
                <a:solidFill>
                  <a:srgbClr val="667185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(2023년)</a:t>
            </a:r>
            <a:endParaRPr lang="en-US" sz="2800" dirty="0"/>
          </a:p>
        </p:txBody>
      </p:sp>
      <p:sp>
        <p:nvSpPr>
          <p:cNvPr id="11" name="Shape 9"/>
          <p:cNvSpPr/>
          <p:nvPr/>
        </p:nvSpPr>
        <p:spPr>
          <a:xfrm>
            <a:off x="6216650" y="1574701"/>
            <a:ext cx="5149850" cy="4457799"/>
          </a:xfrm>
          <a:prstGeom prst="roundRect">
            <a:avLst>
              <a:gd name="adj" fmla="val 855"/>
            </a:avLst>
          </a:prstGeom>
          <a:solidFill>
            <a:srgbClr val="FFFFFF"/>
          </a:solidFill>
          <a:ln w="25400">
            <a:solidFill>
              <a:srgbClr val="0F234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08750" y="1866801"/>
            <a:ext cx="4702620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장해 </a:t>
            </a:r>
            <a:r>
              <a:rPr lang="en-US" sz="2400" b="1" dirty="0">
                <a:solidFill>
                  <a:srgbClr val="7C5916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障害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508750" y="2359521"/>
            <a:ext cx="4702620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상해나 질병의 완치 후 정신 또는 육체의 한시적 혹은 영구적인 훼손 상태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08750" y="3058021"/>
            <a:ext cx="470262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전문의 진단, 보험사가 판단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508750" y="3470771"/>
            <a:ext cx="470262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보험약관의 장해분류표 적용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508750" y="3883521"/>
            <a:ext cx="470262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장해지급률에 따라 후유장해보험금 지급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508750" y="5242620"/>
            <a:ext cx="4702620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264만명 </a:t>
            </a:r>
            <a:r>
              <a:rPr lang="en-US" sz="2800" b="1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초과</a:t>
            </a:r>
            <a:endParaRPr lang="en-US" sz="28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장애와 장해 · 사례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예) 허리디스크(추간판탈출증)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562001"/>
            <a:ext cx="4803577" cy="3482479"/>
          </a:xfrm>
          <a:prstGeom prst="roundRect">
            <a:avLst>
              <a:gd name="adj" fmla="val 1459"/>
            </a:avLst>
          </a:prstGeom>
          <a:solidFill>
            <a:srgbClr val="F3F5F8"/>
          </a:solidFill>
          <a:ln/>
        </p:spPr>
      </p:sp>
      <p:sp>
        <p:nvSpPr>
          <p:cNvPr id="5" name="Text 3"/>
          <p:cNvSpPr/>
          <p:nvPr/>
        </p:nvSpPr>
        <p:spPr>
          <a:xfrm>
            <a:off x="1168400" y="2646660"/>
            <a:ext cx="421514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3D4757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장애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68400" y="3251101"/>
            <a:ext cx="4215148" cy="7340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‘장애’ 등급의 경우 마비 상태가 아니라면 </a:t>
            </a:r>
            <a:r>
              <a:rPr lang="en-US" sz="1800" b="1" dirty="0">
                <a:solidFill>
                  <a:srgbClr val="A318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인정받기 힘들어요.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870377" y="3089870"/>
            <a:ext cx="480417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VS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6537424" y="1574701"/>
            <a:ext cx="4829076" cy="3457079"/>
          </a:xfrm>
          <a:prstGeom prst="roundRect">
            <a:avLst>
              <a:gd name="adj" fmla="val 1102"/>
            </a:avLst>
          </a:prstGeom>
          <a:solidFill>
            <a:srgbClr val="FFFFFF"/>
          </a:solidFill>
          <a:ln w="25400">
            <a:solidFill>
              <a:srgbClr val="0F23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905724" y="2469555"/>
            <a:ext cx="421525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장해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905724" y="3073995"/>
            <a:ext cx="4215250" cy="10883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90"/>
              </a:lnSpc>
              <a:buNone/>
            </a:pPr>
            <a:r>
              <a:rPr lang="en-US" sz="18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‘장해’ 진단은 디스크라는 진단과 신경학적 증상이 있을 때 인정되고 </a:t>
            </a:r>
            <a:r>
              <a:rPr lang="en-US" sz="1800" b="1" dirty="0">
                <a:solidFill>
                  <a:srgbClr val="1E6B4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수술하지 않아도 10% 후유장해 보험금이 지급</a:t>
            </a:r>
            <a:r>
              <a:rPr lang="en-US" sz="18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될 수 있습니다.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812800" y="5298480"/>
            <a:ext cx="10566400" cy="746720"/>
          </a:xfrm>
          <a:prstGeom prst="roundRect">
            <a:avLst>
              <a:gd name="adj" fmla="val 6803"/>
            </a:avLst>
          </a:prstGeom>
          <a:solidFill>
            <a:srgbClr val="0F2340"/>
          </a:solidFill>
          <a:ln/>
        </p:spPr>
        <p:txBody>
          <a:bodyPr wrap="square" lIns="9759" tIns="162921" rIns="9759" bIns="137521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‘장애인’보다 </a:t>
            </a:r>
            <a:r>
              <a:rPr lang="en-US" sz="2200" b="1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‘장해’</a:t>
            </a:r>
            <a:r>
              <a:rPr lang="en-US" sz="22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의 경우가 훨씬 넓고 광범위!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812800" y="62636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출처: 한국보건사회연구원 「2023 장애인 실태조사」</a:t>
            </a:r>
            <a:endParaRPr lang="en-US" sz="12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보험료 납입면제 활용 방안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등록 장애인 분포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562001"/>
            <a:ext cx="3810000" cy="1409700"/>
          </a:xfrm>
          <a:prstGeom prst="roundRect">
            <a:avLst>
              <a:gd name="adj" fmla="val 3604"/>
            </a:avLst>
          </a:prstGeom>
          <a:solidFill>
            <a:srgbClr val="0F2340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1847751"/>
            <a:ext cx="34533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6CF9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2023년 말 기준 등록장애인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41400" y="2116931"/>
            <a:ext cx="345338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264만 2,000명</a:t>
            </a:r>
            <a:endParaRPr lang="en-US" sz="3200" dirty="0"/>
          </a:p>
        </p:txBody>
      </p:sp>
      <p:sp>
        <p:nvSpPr>
          <p:cNvPr id="7" name="Shape 5"/>
          <p:cNvSpPr/>
          <p:nvPr/>
        </p:nvSpPr>
        <p:spPr>
          <a:xfrm>
            <a:off x="812800" y="3098701"/>
            <a:ext cx="3810000" cy="1409799"/>
          </a:xfrm>
          <a:prstGeom prst="roundRect">
            <a:avLst>
              <a:gd name="adj" fmla="val 3603"/>
            </a:avLst>
          </a:prstGeom>
          <a:solidFill>
            <a:srgbClr val="F3F5F8"/>
          </a:solidFill>
          <a:ln/>
        </p:spPr>
      </p:sp>
      <p:sp>
        <p:nvSpPr>
          <p:cNvPr id="8" name="Text 6"/>
          <p:cNvSpPr/>
          <p:nvPr/>
        </p:nvSpPr>
        <p:spPr>
          <a:xfrm>
            <a:off x="1041400" y="3276501"/>
            <a:ext cx="3453384" cy="24834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74"/>
              </a:lnSpc>
              <a:buNone/>
            </a:pPr>
            <a:r>
              <a:rPr lang="en-US" sz="1268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후천적 원인</a:t>
            </a:r>
            <a:endParaRPr lang="en-US" sz="1268" dirty="0"/>
          </a:p>
        </p:txBody>
      </p:sp>
      <p:sp>
        <p:nvSpPr>
          <p:cNvPr id="9" name="Text 7"/>
          <p:cNvSpPr/>
          <p:nvPr/>
        </p:nvSpPr>
        <p:spPr>
          <a:xfrm>
            <a:off x="1041400" y="3537545"/>
            <a:ext cx="3453384" cy="5745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312"/>
              </a:lnSpc>
              <a:buNone/>
            </a:pPr>
            <a:r>
              <a:rPr lang="en-US" sz="308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88.1%</a:t>
            </a:r>
            <a:endParaRPr lang="en-US" sz="3080" dirty="0"/>
          </a:p>
        </p:txBody>
      </p:sp>
      <p:sp>
        <p:nvSpPr>
          <p:cNvPr id="10" name="Text 8"/>
          <p:cNvSpPr/>
          <p:nvPr/>
        </p:nvSpPr>
        <p:spPr>
          <a:xfrm>
            <a:off x="1041400" y="4124821"/>
            <a:ext cx="3453384" cy="2312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2"/>
              </a:lnSpc>
              <a:buNone/>
            </a:pPr>
            <a:r>
              <a:rPr lang="en-US" sz="1159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후천적 사고 29.9% · 후천적 질환 58.1%</a:t>
            </a:r>
            <a:endParaRPr lang="en-US" sz="1159" dirty="0"/>
          </a:p>
        </p:txBody>
      </p:sp>
      <p:sp>
        <p:nvSpPr>
          <p:cNvPr id="11" name="Shape 9"/>
          <p:cNvSpPr/>
          <p:nvPr/>
        </p:nvSpPr>
        <p:spPr>
          <a:xfrm>
            <a:off x="812800" y="4635500"/>
            <a:ext cx="3810000" cy="1409700"/>
          </a:xfrm>
          <a:prstGeom prst="roundRect">
            <a:avLst>
              <a:gd name="adj" fmla="val 3604"/>
            </a:avLst>
          </a:prstGeom>
          <a:solidFill>
            <a:srgbClr val="F3F5F8"/>
          </a:solidFill>
          <a:ln/>
        </p:spPr>
      </p:sp>
      <p:sp>
        <p:nvSpPr>
          <p:cNvPr id="12" name="Text 10"/>
          <p:cNvSpPr/>
          <p:nvPr/>
        </p:nvSpPr>
        <p:spPr>
          <a:xfrm>
            <a:off x="1041400" y="4921250"/>
            <a:ext cx="345338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50대 이후 장애 발생 비율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41400" y="5190430"/>
            <a:ext cx="3453384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80"/>
              </a:lnSpc>
              <a:buNone/>
            </a:pPr>
            <a:r>
              <a:rPr lang="en-US" sz="3200" b="1" dirty="0">
                <a:solidFill>
                  <a:srgbClr val="A3182E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44.5%</a:t>
            </a:r>
            <a:endParaRPr lang="en-US" sz="3200" dirty="0"/>
          </a:p>
        </p:txBody>
      </p:sp>
      <p:sp>
        <p:nvSpPr>
          <p:cNvPr id="14" name="Shape 12"/>
          <p:cNvSpPr/>
          <p:nvPr/>
        </p:nvSpPr>
        <p:spPr>
          <a:xfrm>
            <a:off x="4927600" y="1562001"/>
            <a:ext cx="6451600" cy="4191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5" name="Image 0" descr="등록장애인 연령분포(2023년도, 단위 %): 0~19세 3.7, 20~29세 3.6, 30~39세 4.2, 40~49세 7.9, 50~59세 15.1, 60세 이상 89.4. 출처: 한국보건사회연구원 2023 장애인 실태조사">    </p:cNvPr>
          <p:cNvPicPr>
            <a:picLocks noChangeAspect="1"/>
          </p:cNvPicPr>
          <p:nvPr/>
        </p:nvPicPr>
        <p:blipFill>
          <a:blip r:embed="rId1"/>
          <a:srcRect l="-1057" r="-1057" t="0" b="0"/>
          <a:stretch/>
        </p:blipFill>
        <p:spPr>
          <a:xfrm>
            <a:off x="4927600" y="1562001"/>
            <a:ext cx="6451600" cy="41910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58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보험료 납입면제 활용 방안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483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장해지급률 예시: 장해의 분류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473101"/>
          <a:ext cx="5118100" cy="3053755"/>
        </p:xfrm>
        <a:graphic>
          <a:graphicData uri="http://schemas.openxmlformats.org/drawingml/2006/table">
            <a:tbl>
              <a:tblPr/>
              <a:tblGrid>
                <a:gridCol w="1330706"/>
                <a:gridCol w="2968498"/>
                <a:gridCol w="818896"/>
              </a:tblGrid>
              <a:tr h="51534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구분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장해의 분류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지급률(%)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</a:tr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눈의 장해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한 눈이 멀었을 때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눈의 장해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한 눈의 교정시력이 0.1이하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15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귀의 장해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한 귀의 청력을 완전히 잃었을 때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25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귀의 장해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평형기능에 장해를 남긴 때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치아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치아에 7개 이상의 결손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척추의 장해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추간판탈출증으로 인한 심한 신경 장해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</a:tr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척추의 장해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척추에 약간의 기형을 남긴 때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15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팔의 장해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한 팔의 손목 이상을 잃었을 때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1100" y="1473101"/>
          <a:ext cx="5118100" cy="3647877"/>
        </p:xfrm>
        <a:graphic>
          <a:graphicData uri="http://schemas.openxmlformats.org/drawingml/2006/table">
            <a:tbl>
              <a:tblPr/>
              <a:tblGrid>
                <a:gridCol w="1330706"/>
                <a:gridCol w="2968498"/>
                <a:gridCol w="818896"/>
              </a:tblGrid>
              <a:tr h="51534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구분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장해의 분류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지급률(%)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</a:tr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손가락의 장해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한 손의 5개 손가락을 모두 잃었을 때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55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손가락의 장해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한 손의 첫째 손가락을 잃었을 때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15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발가락의 장해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한 발의 5개 발가락을 모두 잃었을 때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34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다리의 장해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관절 하나의 기능에 심한 장해 (인공관절이나 인공골두 삽입)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34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장기 및 비뇨생식기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흉복부장기 또는 비뇨생식기 기능을 잃었을 때 (혈액 투석 등)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75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34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장기 및 비뇨생식기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위, 대장 또는 췌장의 전부를 잘라내었을 때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신경계 정신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약간의 치매: CDR 2점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신경계 정신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뚜렷한 치매: CDR 3점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812800" y="63144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출처: 흥국화재 The건강한0550종합보험 약관</a:t>
            </a:r>
            <a:endParaRPr lang="en-US" sz="12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보험료 납입면제 활용 방안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납입면제 Needs 발굴 질문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562001"/>
            <a:ext cx="3401060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효과적인 니즈 환기를 위한 핵심 질문 전략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812800" y="2425601"/>
            <a:ext cx="3401060" cy="8519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고객이 스스로 납입면제의 필요성을 느끼게 하는 것이 중요합니다. 상황에 맞는 질문으로 상담의 주도권을 확보하세요.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12800" y="3429992"/>
            <a:ext cx="3302000" cy="2615208"/>
          </a:xfrm>
          <a:prstGeom prst="roundRect">
            <a:avLst>
              <a:gd name="adj" fmla="val 1942"/>
            </a:avLst>
          </a:prstGeom>
          <a:solidFill>
            <a:srgbClr val="0F2340"/>
          </a:solidFill>
          <a:ln/>
        </p:spPr>
      </p:sp>
      <p:sp>
        <p:nvSpPr>
          <p:cNvPr id="7" name="Text 5"/>
          <p:cNvSpPr/>
          <p:nvPr/>
        </p:nvSpPr>
        <p:spPr>
          <a:xfrm>
            <a:off x="1016000" y="4059436"/>
            <a:ext cx="298246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D9B3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CHECK POINT</a:t>
            </a:r>
            <a:endParaRPr lang="en-US" sz="1200" dirty="0"/>
          </a:p>
        </p:txBody>
      </p:sp>
      <p:pic>
        <p:nvPicPr>
          <p:cNvPr id="8" name="Image 0" descr="CheckCircle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16000" y="4406106"/>
            <a:ext cx="228600" cy="2286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46200" y="4387056"/>
            <a:ext cx="199715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고객의 현재 상황 파악</a:t>
            </a:r>
            <a:endParaRPr lang="en-US" sz="1500" dirty="0"/>
          </a:p>
        </p:txBody>
      </p:sp>
      <p:pic>
        <p:nvPicPr>
          <p:cNvPr id="10" name="Image 1" descr="CheckCircle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16000" y="4787106"/>
            <a:ext cx="228600" cy="2286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346200" y="4768056"/>
            <a:ext cx="173926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잠재적 리스크 환기</a:t>
            </a:r>
            <a:endParaRPr lang="en-US" sz="1500" dirty="0"/>
          </a:p>
        </p:txBody>
      </p:sp>
      <p:pic>
        <p:nvPicPr>
          <p:cNvPr id="12" name="Image 2" descr="CheckCircl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16000" y="5168106"/>
            <a:ext cx="228600" cy="2286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346200" y="5149056"/>
            <a:ext cx="225492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대안 제시 및 해결책 연결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4419600" y="1565176"/>
            <a:ext cx="69596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4419600" y="1714401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소득 공백 대비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5842000" y="1682651"/>
            <a:ext cx="5703316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“만약 큰 질병이나 사고로 소득이 중단된다면, 매월 납입하는 보험료가 부담되지 않으시겠습니까?”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4419600" y="2561233"/>
            <a:ext cx="69596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4419600" y="2710458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기존 보험 점검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5842000" y="2678708"/>
            <a:ext cx="5703316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“현재 가입 중인 보험에 납입면제 기능이 포함되어 있는지, 그 조건은 정확히 알고 계신가요?”</a:t>
            </a:r>
            <a:endParaRPr lang="en-US" sz="1400" dirty="0"/>
          </a:p>
        </p:txBody>
      </p:sp>
      <p:sp>
        <p:nvSpPr>
          <p:cNvPr id="20" name="Shape 15"/>
          <p:cNvSpPr/>
          <p:nvPr/>
        </p:nvSpPr>
        <p:spPr>
          <a:xfrm>
            <a:off x="4419600" y="3557290"/>
            <a:ext cx="69596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4419600" y="3706515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유사암/초기암 지원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5842000" y="3674765"/>
            <a:ext cx="5703316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“유사암 진단 시에도 납입지원을 받을 수 있는 특약이 있다는 것을 알고 계십니까?”</a:t>
            </a:r>
            <a:endParaRPr lang="en-US" sz="1400" dirty="0"/>
          </a:p>
        </p:txBody>
      </p:sp>
      <p:sp>
        <p:nvSpPr>
          <p:cNvPr id="23" name="Shape 18"/>
          <p:cNvSpPr/>
          <p:nvPr/>
        </p:nvSpPr>
        <p:spPr>
          <a:xfrm>
            <a:off x="4419600" y="4553248"/>
            <a:ext cx="69596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4419600" y="4702473"/>
            <a:ext cx="132080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납입기간 적합성</a:t>
            </a:r>
            <a:endParaRPr lang="en-US" sz="1200" dirty="0"/>
          </a:p>
        </p:txBody>
      </p:sp>
      <p:sp>
        <p:nvSpPr>
          <p:cNvPr id="25" name="Text 20"/>
          <p:cNvSpPr/>
          <p:nvPr/>
        </p:nvSpPr>
        <p:spPr>
          <a:xfrm>
            <a:off x="5842000" y="4670723"/>
            <a:ext cx="5703316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“은퇴 시점과 보험료 납입 완료 시점이 일치하도록 설계되어 있습니까?”</a:t>
            </a:r>
            <a:endParaRPr lang="en-US" sz="1400" dirty="0"/>
          </a:p>
        </p:txBody>
      </p:sp>
      <p:sp>
        <p:nvSpPr>
          <p:cNvPr id="26" name="Shape 21"/>
          <p:cNvSpPr/>
          <p:nvPr/>
        </p:nvSpPr>
        <p:spPr>
          <a:xfrm>
            <a:off x="4419600" y="5291534"/>
            <a:ext cx="69596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27" name="Shape 22"/>
          <p:cNvSpPr/>
          <p:nvPr/>
        </p:nvSpPr>
        <p:spPr>
          <a:xfrm>
            <a:off x="4419600" y="6042025"/>
            <a:ext cx="69596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4419600" y="5440759"/>
            <a:ext cx="132080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가족 부양 / 대출 상환</a:t>
            </a:r>
            <a:endParaRPr lang="en-US" sz="1200" dirty="0"/>
          </a:p>
        </p:txBody>
      </p:sp>
      <p:sp>
        <p:nvSpPr>
          <p:cNvPr id="29" name="Text 24"/>
          <p:cNvSpPr/>
          <p:nvPr/>
        </p:nvSpPr>
        <p:spPr>
          <a:xfrm>
            <a:off x="5842000" y="5409009"/>
            <a:ext cx="5703316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“질병 치료 기간 동안 고정 지출(대출 상환 등)과 보험료 납입을 동시에 감당할 수 있는 계획이 있으신가요?”</a:t>
            </a:r>
            <a:endParaRPr lang="en-US" sz="14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08000"/>
            <a:ext cx="10883392" cy="2365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75"/>
              </a:lnSpc>
              <a:buNone/>
            </a:pPr>
            <a:r>
              <a:rPr lang="en-US" sz="1196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보험료 납입면제 활용 방안 · 1/2</a:t>
            </a:r>
            <a:endParaRPr lang="en-US" sz="1196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795338"/>
            <a:ext cx="10883392" cy="4301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어른이 종합 납입면제 비교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377851"/>
            <a:ext cx="1016000" cy="896541"/>
          </a:xfrm>
          <a:prstGeom prst="rect">
            <a:avLst/>
          </a:prstGeom>
          <a:solidFill>
            <a:srgbClr val="0F2340"/>
          </a:solidFill>
          <a:ln/>
        </p:spPr>
        <p:txBody>
          <a:bodyPr wrap="square" lIns="101600" tIns="101600" rIns="107950" bIns="10160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구분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5625" y="1377851"/>
            <a:ext cx="0" cy="896541"/>
          </a:xfrm>
          <a:prstGeom prst="line">
            <a:avLst/>
          </a:prstGeom>
          <a:noFill/>
          <a:ln w="6350">
            <a:solidFill>
              <a:srgbClr val="2E4A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1377851"/>
            <a:ext cx="2387600" cy="896541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7" name="Shape 5"/>
          <p:cNvSpPr/>
          <p:nvPr/>
        </p:nvSpPr>
        <p:spPr>
          <a:xfrm>
            <a:off x="4213225" y="1377851"/>
            <a:ext cx="0" cy="896541"/>
          </a:xfrm>
          <a:prstGeom prst="line">
            <a:avLst/>
          </a:prstGeom>
          <a:noFill/>
          <a:ln w="6350">
            <a:solidFill>
              <a:srgbClr val="2E4A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97729" y="1479451"/>
            <a:ext cx="224339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한화손보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97729" y="1746151"/>
            <a:ext cx="2243391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CF9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시그니처여성4.0 (납면강화형, 무해지)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16400" y="1377851"/>
            <a:ext cx="2387600" cy="896541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11" name="Shape 9"/>
          <p:cNvSpPr/>
          <p:nvPr/>
        </p:nvSpPr>
        <p:spPr>
          <a:xfrm>
            <a:off x="6600825" y="1377851"/>
            <a:ext cx="0" cy="896541"/>
          </a:xfrm>
          <a:prstGeom prst="line">
            <a:avLst/>
          </a:prstGeom>
          <a:noFill/>
          <a:ln w="6350">
            <a:solidFill>
              <a:srgbClr val="2E4A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85329" y="1479451"/>
            <a:ext cx="224339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흥국화재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85329" y="1746151"/>
            <a:ext cx="224339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CF9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The건강한0550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604000" y="1377851"/>
            <a:ext cx="2387600" cy="896541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15" name="Shape 13"/>
          <p:cNvSpPr/>
          <p:nvPr/>
        </p:nvSpPr>
        <p:spPr>
          <a:xfrm>
            <a:off x="8988425" y="1377851"/>
            <a:ext cx="0" cy="896541"/>
          </a:xfrm>
          <a:prstGeom prst="line">
            <a:avLst/>
          </a:prstGeom>
          <a:noFill/>
          <a:ln w="6350">
            <a:solidFill>
              <a:srgbClr val="2E4A7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672929" y="1479451"/>
            <a:ext cx="224339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KB손해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672929" y="1746151"/>
            <a:ext cx="224339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CF9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5.10.10플러스건강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991600" y="1377851"/>
            <a:ext cx="2387600" cy="896541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19" name="Text 17"/>
          <p:cNvSpPr/>
          <p:nvPr/>
        </p:nvSpPr>
        <p:spPr>
          <a:xfrm>
            <a:off x="9060434" y="1479451"/>
            <a:ext cx="224993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DB손해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9060434" y="1746151"/>
            <a:ext cx="22499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CF9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청춘어람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12800" y="2274391"/>
            <a:ext cx="1016000" cy="432991"/>
          </a:xfrm>
          <a:prstGeom prst="rect">
            <a:avLst/>
          </a:prstGeom>
          <a:solidFill>
            <a:srgbClr val="F3F5F8"/>
          </a:solidFill>
          <a:ln/>
        </p:spPr>
        <p:txBody>
          <a:bodyPr wrap="square" lIns="88900" tIns="88900" rIns="88900" bIns="9525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가입연령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12800" y="2704207"/>
            <a:ext cx="10160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213225" y="2274391"/>
            <a:ext cx="0" cy="432991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828800" y="2704207"/>
            <a:ext cx="23876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884648" y="2363291"/>
            <a:ext cx="226955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15 ~ 40세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6600825" y="2274391"/>
            <a:ext cx="0" cy="432991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216400" y="2704207"/>
            <a:ext cx="23876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272248" y="2363291"/>
            <a:ext cx="226955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 ~ </a:t>
            </a:r>
            <a:r>
              <a:rPr lang="en-US" sz="1400" b="1" dirty="0">
                <a:solidFill>
                  <a:srgbClr val="A318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50세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988425" y="2274391"/>
            <a:ext cx="0" cy="432991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604000" y="2704207"/>
            <a:ext cx="23876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659848" y="2363291"/>
            <a:ext cx="226955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15 ~ 40세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8991600" y="2704207"/>
            <a:ext cx="23876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047353" y="2363291"/>
            <a:ext cx="227609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7 ~ 35세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12800" y="2707382"/>
            <a:ext cx="1016000" cy="2541687"/>
          </a:xfrm>
          <a:prstGeom prst="rect">
            <a:avLst/>
          </a:prstGeom>
          <a:solidFill>
            <a:srgbClr val="F3F5F8"/>
          </a:solidFill>
          <a:ln/>
        </p:spPr>
        <p:txBody>
          <a:bodyPr wrap="square" lIns="210641" tIns="88900" rIns="210741" bIns="9525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납입면제</a:t>
            </a:r>
            <a:endParaRPr lang="en-US" sz="1200" dirty="0"/>
          </a:p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사유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812800" y="5245894"/>
            <a:ext cx="10160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213225" y="2707382"/>
            <a:ext cx="0" cy="2541687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828800" y="5245894"/>
            <a:ext cx="23876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955800" y="2808982"/>
            <a:ext cx="219106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상해/질병후유50%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1955800" y="3007023"/>
            <a:ext cx="219106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암(유사암제외)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1955800" y="3205063"/>
            <a:ext cx="219106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뇌혈관질환진단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955800" y="3403104"/>
            <a:ext cx="219106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허혈성심장질환진단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1955800" y="3601145"/>
            <a:ext cx="219106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A318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갑상선암수술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1955800" y="3799185"/>
            <a:ext cx="219106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A318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중환자실입원2일↑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1955800" y="3997226"/>
            <a:ext cx="219106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A318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출산후1년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6600825" y="2707382"/>
            <a:ext cx="0" cy="2541687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16400" y="5245894"/>
            <a:ext cx="23876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43400" y="2808982"/>
            <a:ext cx="219106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상해/질병후유50%</a:t>
            </a:r>
            <a:endParaRPr lang="en-US" sz="1200" dirty="0"/>
          </a:p>
        </p:txBody>
      </p:sp>
      <p:sp>
        <p:nvSpPr>
          <p:cNvPr id="48" name="Text 46"/>
          <p:cNvSpPr/>
          <p:nvPr/>
        </p:nvSpPr>
        <p:spPr>
          <a:xfrm>
            <a:off x="4343400" y="3007023"/>
            <a:ext cx="219106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암(유사암제외)진단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343400" y="3205063"/>
            <a:ext cx="219106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뇌혈관질환진단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4343400" y="3403104"/>
            <a:ext cx="219106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허혈심장질환진단</a:t>
            </a:r>
            <a:endParaRPr lang="en-US" sz="1200" dirty="0"/>
          </a:p>
        </p:txBody>
      </p:sp>
      <p:sp>
        <p:nvSpPr>
          <p:cNvPr id="51" name="Text 49"/>
          <p:cNvSpPr/>
          <p:nvPr/>
        </p:nvSpPr>
        <p:spPr>
          <a:xfrm>
            <a:off x="4343400" y="3601145"/>
            <a:ext cx="219106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양성뇌종양진단</a:t>
            </a:r>
            <a:endParaRPr lang="en-US" sz="1200" dirty="0"/>
          </a:p>
        </p:txBody>
      </p:sp>
      <p:sp>
        <p:nvSpPr>
          <p:cNvPr id="52" name="Text 50"/>
          <p:cNvSpPr/>
          <p:nvPr/>
        </p:nvSpPr>
        <p:spPr>
          <a:xfrm>
            <a:off x="4343400" y="3799185"/>
            <a:ext cx="219106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A318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갑상선암 수술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4343400" y="3997226"/>
            <a:ext cx="2191068" cy="4214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b="1" dirty="0">
                <a:solidFill>
                  <a:srgbClr val="A318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순환계질환(특정 및 2대질병 제외) 주요치료 시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8988425" y="2707382"/>
            <a:ext cx="0" cy="2541687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6604000" y="5245894"/>
            <a:ext cx="23876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731000" y="2808982"/>
            <a:ext cx="2191068" cy="219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상해/질병후유50%</a:t>
            </a:r>
            <a:endParaRPr lang="en-US" sz="1200" dirty="0"/>
          </a:p>
        </p:txBody>
      </p:sp>
      <p:sp>
        <p:nvSpPr>
          <p:cNvPr id="57" name="Text 55"/>
          <p:cNvSpPr/>
          <p:nvPr/>
        </p:nvSpPr>
        <p:spPr>
          <a:xfrm>
            <a:off x="6731000" y="3003352"/>
            <a:ext cx="2191068" cy="219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암(유사암제외)진단</a:t>
            </a:r>
            <a:endParaRPr lang="en-US" sz="1200" dirty="0"/>
          </a:p>
        </p:txBody>
      </p:sp>
      <p:sp>
        <p:nvSpPr>
          <p:cNvPr id="58" name="Text 56"/>
          <p:cNvSpPr/>
          <p:nvPr/>
        </p:nvSpPr>
        <p:spPr>
          <a:xfrm>
            <a:off x="6731000" y="3197622"/>
            <a:ext cx="2191068" cy="219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뇌혈관질환진단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6731000" y="3391991"/>
            <a:ext cx="2191068" cy="219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허혈심장질환진단</a:t>
            </a:r>
            <a:endParaRPr lang="en-US" sz="1200" dirty="0"/>
          </a:p>
        </p:txBody>
      </p:sp>
      <p:sp>
        <p:nvSpPr>
          <p:cNvPr id="60" name="Text 58"/>
          <p:cNvSpPr/>
          <p:nvPr/>
        </p:nvSpPr>
        <p:spPr>
          <a:xfrm>
            <a:off x="6731000" y="3586262"/>
            <a:ext cx="2191068" cy="219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양성뇌종양진단</a:t>
            </a:r>
            <a:endParaRPr lang="en-US" sz="1200" dirty="0"/>
          </a:p>
        </p:txBody>
      </p:sp>
      <p:sp>
        <p:nvSpPr>
          <p:cNvPr id="61" name="Text 59"/>
          <p:cNvSpPr/>
          <p:nvPr/>
        </p:nvSpPr>
        <p:spPr>
          <a:xfrm>
            <a:off x="6731000" y="3780631"/>
            <a:ext cx="2191068" cy="219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말기폐질환</a:t>
            </a:r>
            <a:endParaRPr lang="en-US" sz="1200" dirty="0"/>
          </a:p>
        </p:txBody>
      </p:sp>
      <p:sp>
        <p:nvSpPr>
          <p:cNvPr id="62" name="Text 60"/>
          <p:cNvSpPr/>
          <p:nvPr/>
        </p:nvSpPr>
        <p:spPr>
          <a:xfrm>
            <a:off x="6731000" y="3974902"/>
            <a:ext cx="2191068" cy="219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말기간경화</a:t>
            </a:r>
            <a:endParaRPr lang="en-US" sz="1200" dirty="0"/>
          </a:p>
        </p:txBody>
      </p:sp>
      <p:sp>
        <p:nvSpPr>
          <p:cNvPr id="63" name="Text 61"/>
          <p:cNvSpPr/>
          <p:nvPr/>
        </p:nvSpPr>
        <p:spPr>
          <a:xfrm>
            <a:off x="6731000" y="4169271"/>
            <a:ext cx="2191068" cy="219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말기신부전증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6731000" y="4363641"/>
            <a:ext cx="2191068" cy="219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중대한빈혈</a:t>
            </a:r>
            <a:endParaRPr lang="en-US" sz="1200" dirty="0"/>
          </a:p>
        </p:txBody>
      </p:sp>
      <p:sp>
        <p:nvSpPr>
          <p:cNvPr id="65" name="Text 63"/>
          <p:cNvSpPr/>
          <p:nvPr/>
        </p:nvSpPr>
        <p:spPr>
          <a:xfrm>
            <a:off x="6731000" y="4558010"/>
            <a:ext cx="2191068" cy="219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만성당뇨합병증</a:t>
            </a:r>
            <a:endParaRPr lang="en-US" sz="1200" dirty="0"/>
          </a:p>
        </p:txBody>
      </p:sp>
      <p:sp>
        <p:nvSpPr>
          <p:cNvPr id="66" name="Text 64"/>
          <p:cNvSpPr/>
          <p:nvPr/>
        </p:nvSpPr>
        <p:spPr>
          <a:xfrm>
            <a:off x="6731000" y="4752380"/>
            <a:ext cx="2191068" cy="219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중대한화상및부식</a:t>
            </a:r>
            <a:endParaRPr lang="en-US" sz="1200" dirty="0"/>
          </a:p>
        </p:txBody>
      </p:sp>
      <p:sp>
        <p:nvSpPr>
          <p:cNvPr id="67" name="Text 65"/>
          <p:cNvSpPr/>
          <p:nvPr/>
        </p:nvSpPr>
        <p:spPr>
          <a:xfrm>
            <a:off x="6731000" y="4946749"/>
            <a:ext cx="2191068" cy="2197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외상성특정뇌출혈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8991600" y="5245894"/>
            <a:ext cx="23876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9118600" y="2808982"/>
            <a:ext cx="219760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상해/질병후유50%</a:t>
            </a:r>
            <a:endParaRPr lang="en-US" sz="1200" dirty="0"/>
          </a:p>
        </p:txBody>
      </p:sp>
      <p:sp>
        <p:nvSpPr>
          <p:cNvPr id="70" name="Text 68"/>
          <p:cNvSpPr/>
          <p:nvPr/>
        </p:nvSpPr>
        <p:spPr>
          <a:xfrm>
            <a:off x="9118600" y="3007023"/>
            <a:ext cx="219760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암(유사암제외)진단</a:t>
            </a:r>
            <a:endParaRPr lang="en-US" sz="1200" dirty="0"/>
          </a:p>
        </p:txBody>
      </p:sp>
      <p:sp>
        <p:nvSpPr>
          <p:cNvPr id="71" name="Text 69"/>
          <p:cNvSpPr/>
          <p:nvPr/>
        </p:nvSpPr>
        <p:spPr>
          <a:xfrm>
            <a:off x="9118600" y="3205063"/>
            <a:ext cx="219760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뇌혈관질환진단</a:t>
            </a:r>
            <a:endParaRPr lang="en-US" sz="1200" dirty="0"/>
          </a:p>
        </p:txBody>
      </p:sp>
      <p:sp>
        <p:nvSpPr>
          <p:cNvPr id="72" name="Text 70"/>
          <p:cNvSpPr/>
          <p:nvPr/>
        </p:nvSpPr>
        <p:spPr>
          <a:xfrm>
            <a:off x="9118600" y="3403104"/>
            <a:ext cx="219760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허혈심장질환진단</a:t>
            </a:r>
            <a:endParaRPr lang="en-US" sz="1200" dirty="0"/>
          </a:p>
        </p:txBody>
      </p:sp>
      <p:sp>
        <p:nvSpPr>
          <p:cNvPr id="73" name="Text 71"/>
          <p:cNvSpPr/>
          <p:nvPr/>
        </p:nvSpPr>
        <p:spPr>
          <a:xfrm>
            <a:off x="9118600" y="3601145"/>
            <a:ext cx="2197608" cy="223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5대 난치성 질환* 진단</a:t>
            </a:r>
            <a:endParaRPr lang="en-US" sz="1200" dirty="0"/>
          </a:p>
        </p:txBody>
      </p:sp>
      <p:sp>
        <p:nvSpPr>
          <p:cNvPr id="74" name="Text 72"/>
          <p:cNvSpPr/>
          <p:nvPr/>
        </p:nvSpPr>
        <p:spPr>
          <a:xfrm>
            <a:off x="9118600" y="3799185"/>
            <a:ext cx="2197608" cy="619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56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* 재생불량성빈혈, 심근질환(I42.4제외), 운동신경세포병, 전신홍반루프스, 만성신장병5기</a:t>
            </a:r>
            <a:endParaRPr lang="en-US" sz="1200" dirty="0"/>
          </a:p>
        </p:txBody>
      </p:sp>
      <p:sp>
        <p:nvSpPr>
          <p:cNvPr id="75" name="Text 73"/>
          <p:cNvSpPr/>
          <p:nvPr/>
        </p:nvSpPr>
        <p:spPr>
          <a:xfrm>
            <a:off x="812800" y="5249069"/>
            <a:ext cx="1016000" cy="407591"/>
          </a:xfrm>
          <a:prstGeom prst="rect">
            <a:avLst/>
          </a:prstGeom>
          <a:solidFill>
            <a:srgbClr val="F3F5F8"/>
          </a:solidFill>
          <a:ln/>
        </p:spPr>
        <p:txBody>
          <a:bodyPr wrap="square" lIns="56753" tIns="76200" rIns="56753" bIns="8255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건강고지 할인</a:t>
            </a:r>
            <a:endParaRPr lang="en-US" sz="1200" dirty="0"/>
          </a:p>
        </p:txBody>
      </p:sp>
      <p:sp>
        <p:nvSpPr>
          <p:cNvPr id="76" name="Shape 74"/>
          <p:cNvSpPr/>
          <p:nvPr/>
        </p:nvSpPr>
        <p:spPr>
          <a:xfrm>
            <a:off x="812800" y="5653484"/>
            <a:ext cx="10160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4213225" y="5249069"/>
            <a:ext cx="0" cy="407591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828800" y="5653484"/>
            <a:ext cx="23876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1871567" y="5325269"/>
            <a:ext cx="229571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○</a:t>
            </a:r>
            <a:endParaRPr lang="en-US" sz="1400" dirty="0"/>
          </a:p>
        </p:txBody>
      </p:sp>
      <p:sp>
        <p:nvSpPr>
          <p:cNvPr id="80" name="Shape 78"/>
          <p:cNvSpPr/>
          <p:nvPr/>
        </p:nvSpPr>
        <p:spPr>
          <a:xfrm>
            <a:off x="6600825" y="5249069"/>
            <a:ext cx="0" cy="407591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4216400" y="5653484"/>
            <a:ext cx="23876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4259167" y="5325269"/>
            <a:ext cx="229571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○</a:t>
            </a:r>
            <a:endParaRPr lang="en-US" sz="1400" dirty="0"/>
          </a:p>
        </p:txBody>
      </p:sp>
      <p:sp>
        <p:nvSpPr>
          <p:cNvPr id="83" name="Shape 81"/>
          <p:cNvSpPr/>
          <p:nvPr/>
        </p:nvSpPr>
        <p:spPr>
          <a:xfrm>
            <a:off x="8988425" y="5249069"/>
            <a:ext cx="0" cy="407591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604000" y="5653484"/>
            <a:ext cx="23876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6646767" y="5325269"/>
            <a:ext cx="2295715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○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8991600" y="5653484"/>
            <a:ext cx="23876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9034272" y="5325269"/>
            <a:ext cx="230225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○</a:t>
            </a:r>
            <a:endParaRPr lang="en-US" sz="1400" dirty="0"/>
          </a:p>
        </p:txBody>
      </p:sp>
      <p:sp>
        <p:nvSpPr>
          <p:cNvPr id="88" name="Text 86"/>
          <p:cNvSpPr/>
          <p:nvPr/>
        </p:nvSpPr>
        <p:spPr>
          <a:xfrm>
            <a:off x="812800" y="5656659"/>
            <a:ext cx="1016000" cy="591741"/>
          </a:xfrm>
          <a:prstGeom prst="rect">
            <a:avLst/>
          </a:prstGeom>
          <a:solidFill>
            <a:srgbClr val="F3F5F8"/>
          </a:solidFill>
          <a:ln/>
        </p:spPr>
        <p:txBody>
          <a:bodyPr wrap="square" lIns="50800" tIns="63500" rIns="50800" bIns="7620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무사고 종전환 할인</a:t>
            </a:r>
            <a:endParaRPr lang="en-US" sz="1200" dirty="0"/>
          </a:p>
        </p:txBody>
      </p:sp>
      <p:sp>
        <p:nvSpPr>
          <p:cNvPr id="89" name="Shape 87"/>
          <p:cNvSpPr/>
          <p:nvPr/>
        </p:nvSpPr>
        <p:spPr>
          <a:xfrm>
            <a:off x="812800" y="6242050"/>
            <a:ext cx="1016000" cy="0"/>
          </a:xfrm>
          <a:prstGeom prst="line">
            <a:avLst/>
          </a:prstGeom>
          <a:noFill/>
          <a:ln w="12700">
            <a:solidFill>
              <a:srgbClr val="0F2340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828800" y="6242050"/>
            <a:ext cx="2387600" cy="0"/>
          </a:xfrm>
          <a:prstGeom prst="line">
            <a:avLst/>
          </a:prstGeom>
          <a:noFill/>
          <a:ln w="12700">
            <a:solidFill>
              <a:srgbClr val="0F2340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1871472" y="5732859"/>
            <a:ext cx="230225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○</a:t>
            </a:r>
            <a:endParaRPr lang="en-US" sz="1400" dirty="0"/>
          </a:p>
        </p:txBody>
      </p:sp>
      <p:sp>
        <p:nvSpPr>
          <p:cNvPr id="92" name="Shape 90"/>
          <p:cNvSpPr/>
          <p:nvPr/>
        </p:nvSpPr>
        <p:spPr>
          <a:xfrm>
            <a:off x="4216400" y="6242050"/>
            <a:ext cx="2387600" cy="0"/>
          </a:xfrm>
          <a:prstGeom prst="line">
            <a:avLst/>
          </a:prstGeom>
          <a:noFill/>
          <a:ln w="12700">
            <a:solidFill>
              <a:srgbClr val="0F234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259072" y="5732859"/>
            <a:ext cx="230225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○</a:t>
            </a:r>
            <a:endParaRPr lang="en-US" sz="1400" dirty="0"/>
          </a:p>
        </p:txBody>
      </p:sp>
      <p:sp>
        <p:nvSpPr>
          <p:cNvPr id="94" name="Shape 92"/>
          <p:cNvSpPr/>
          <p:nvPr/>
        </p:nvSpPr>
        <p:spPr>
          <a:xfrm>
            <a:off x="6604000" y="6242050"/>
            <a:ext cx="2387600" cy="0"/>
          </a:xfrm>
          <a:prstGeom prst="line">
            <a:avLst/>
          </a:prstGeom>
          <a:noFill/>
          <a:ln w="12700">
            <a:solidFill>
              <a:srgbClr val="0F2340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6646672" y="5732859"/>
            <a:ext cx="230225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○</a:t>
            </a:r>
            <a:endParaRPr lang="en-US" sz="1400" dirty="0"/>
          </a:p>
        </p:txBody>
      </p:sp>
      <p:sp>
        <p:nvSpPr>
          <p:cNvPr id="96" name="Shape 94"/>
          <p:cNvSpPr/>
          <p:nvPr/>
        </p:nvSpPr>
        <p:spPr>
          <a:xfrm>
            <a:off x="8991600" y="6242050"/>
            <a:ext cx="2387600" cy="0"/>
          </a:xfrm>
          <a:prstGeom prst="line">
            <a:avLst/>
          </a:prstGeom>
          <a:noFill/>
          <a:ln w="12700">
            <a:solidFill>
              <a:srgbClr val="0F234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9034272" y="5732859"/>
            <a:ext cx="230225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○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08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보험료 납입면제 활용 방안 · 2/2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7975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어른이 종합 납입면제 비교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384201"/>
            <a:ext cx="1016000" cy="683220"/>
          </a:xfrm>
          <a:prstGeom prst="rect">
            <a:avLst/>
          </a:prstGeom>
          <a:solidFill>
            <a:srgbClr val="0F2340"/>
          </a:solidFill>
          <a:ln/>
        </p:spPr>
        <p:txBody>
          <a:bodyPr wrap="square" lIns="101600" tIns="101600" rIns="107950" bIns="101600" rtlCol="0" anchor="ctr">
            <a:normAutofit/>
          </a:bodyPr>
          <a:lstStyle/>
          <a:p>
            <a:pPr algn="ctr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구분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25625" y="1384201"/>
            <a:ext cx="0" cy="683220"/>
          </a:xfrm>
          <a:prstGeom prst="line">
            <a:avLst/>
          </a:prstGeom>
          <a:noFill/>
          <a:ln w="6350">
            <a:solidFill>
              <a:srgbClr val="2E4A72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0" y="1384201"/>
            <a:ext cx="3181350" cy="683220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7" name="Shape 5"/>
          <p:cNvSpPr/>
          <p:nvPr/>
        </p:nvSpPr>
        <p:spPr>
          <a:xfrm>
            <a:off x="5006975" y="1384201"/>
            <a:ext cx="0" cy="683220"/>
          </a:xfrm>
          <a:prstGeom prst="line">
            <a:avLst/>
          </a:prstGeom>
          <a:noFill/>
          <a:ln w="6350">
            <a:solidFill>
              <a:srgbClr val="2E4A7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85823" y="1485801"/>
            <a:ext cx="306095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삼성화재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885823" y="1752501"/>
            <a:ext cx="30609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CF9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NEW내돈내삼1640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10150" y="1384201"/>
            <a:ext cx="3181350" cy="683220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11" name="Shape 9"/>
          <p:cNvSpPr/>
          <p:nvPr/>
        </p:nvSpPr>
        <p:spPr>
          <a:xfrm>
            <a:off x="8188325" y="1384201"/>
            <a:ext cx="0" cy="683220"/>
          </a:xfrm>
          <a:prstGeom prst="line">
            <a:avLst/>
          </a:prstGeom>
          <a:noFill/>
          <a:ln w="6350">
            <a:solidFill>
              <a:srgbClr val="2E4A7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67173" y="1485801"/>
            <a:ext cx="3060954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롯데손보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5067173" y="1752501"/>
            <a:ext cx="306095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CF9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1540종합(10+)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191500" y="1384201"/>
            <a:ext cx="3187700" cy="683220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15" name="Text 13"/>
          <p:cNvSpPr/>
          <p:nvPr/>
        </p:nvSpPr>
        <p:spPr>
          <a:xfrm>
            <a:off x="8248333" y="1485801"/>
            <a:ext cx="307403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현대해상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248333" y="1752501"/>
            <a:ext cx="307403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E6CF9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굿앤굿스타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12800" y="2067421"/>
            <a:ext cx="1016000" cy="432991"/>
          </a:xfrm>
          <a:prstGeom prst="rect">
            <a:avLst/>
          </a:prstGeom>
          <a:solidFill>
            <a:srgbClr val="F3F5F8"/>
          </a:solidFill>
          <a:ln/>
        </p:spPr>
        <p:txBody>
          <a:bodyPr wrap="square" lIns="88900" tIns="88900" rIns="88900" bIns="9525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가입연령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12800" y="2497237"/>
            <a:ext cx="10160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06975" y="2067421"/>
            <a:ext cx="0" cy="432991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828800" y="2497237"/>
            <a:ext cx="318135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72742" y="2156321"/>
            <a:ext cx="308711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16 ~ 40세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8188325" y="2067421"/>
            <a:ext cx="0" cy="432991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10150" y="2497237"/>
            <a:ext cx="318135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54092" y="2156321"/>
            <a:ext cx="308711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15 ~ 40세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8191500" y="2497237"/>
            <a:ext cx="31877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35252" y="2156321"/>
            <a:ext cx="310019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 ~ 40세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12800" y="2500412"/>
            <a:ext cx="1016000" cy="2416274"/>
          </a:xfrm>
          <a:prstGeom prst="rect">
            <a:avLst/>
          </a:prstGeom>
          <a:solidFill>
            <a:srgbClr val="F3F5F8"/>
          </a:solidFill>
          <a:ln/>
        </p:spPr>
        <p:txBody>
          <a:bodyPr wrap="square" lIns="210641" tIns="88900" rIns="210741" bIns="9525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납입면제</a:t>
            </a:r>
            <a:endParaRPr lang="en-US" sz="1200" dirty="0"/>
          </a:p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사유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812800" y="4913511"/>
            <a:ext cx="10160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006975" y="2500412"/>
            <a:ext cx="0" cy="2416274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828800" y="4913511"/>
            <a:ext cx="318135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2006600" y="2627412"/>
            <a:ext cx="290398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암(유사암제외)진단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2006600" y="2883892"/>
            <a:ext cx="290398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뇌혈관질환진단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2006600" y="3140373"/>
            <a:ext cx="290398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허혈심장질환진단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2006600" y="3396853"/>
            <a:ext cx="290398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중대화상부식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2006600" y="3653334"/>
            <a:ext cx="290398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뇌내장손상수술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8188325" y="2500412"/>
            <a:ext cx="0" cy="2416274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010150" y="4913511"/>
            <a:ext cx="318135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87950" y="2627412"/>
            <a:ext cx="290398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상해/질병후유50%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5187950" y="2883892"/>
            <a:ext cx="290398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암(유사암제외)진단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5187950" y="3140373"/>
            <a:ext cx="290398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뇌혈관질환진단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5187950" y="3396853"/>
            <a:ext cx="290398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허혈심장질환진단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5187950" y="3653334"/>
            <a:ext cx="290398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양성뇌종양진단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187950" y="3909814"/>
            <a:ext cx="290398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중대한빈혈진단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5187950" y="4166295"/>
            <a:ext cx="290398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말기간경화</a:t>
            </a:r>
            <a:endParaRPr lang="en-US" sz="1300" dirty="0"/>
          </a:p>
        </p:txBody>
      </p:sp>
      <p:sp>
        <p:nvSpPr>
          <p:cNvPr id="45" name="Text 43"/>
          <p:cNvSpPr/>
          <p:nvPr/>
        </p:nvSpPr>
        <p:spPr>
          <a:xfrm>
            <a:off x="5187950" y="4422775"/>
            <a:ext cx="290398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말기신부전증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8191500" y="4913511"/>
            <a:ext cx="31877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369300" y="2627412"/>
            <a:ext cx="291706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상해/질병후유50%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8369300" y="2883892"/>
            <a:ext cx="291706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암(유사암제외)진단</a:t>
            </a:r>
            <a:endParaRPr lang="en-US" sz="1300" dirty="0"/>
          </a:p>
        </p:txBody>
      </p:sp>
      <p:sp>
        <p:nvSpPr>
          <p:cNvPr id="49" name="Text 47"/>
          <p:cNvSpPr/>
          <p:nvPr/>
        </p:nvSpPr>
        <p:spPr>
          <a:xfrm>
            <a:off x="8369300" y="3140373"/>
            <a:ext cx="291706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뇌혈관질환진단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8369300" y="3396853"/>
            <a:ext cx="291706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심혈관질환진단*</a:t>
            </a:r>
            <a:endParaRPr lang="en-US" sz="1300" dirty="0"/>
          </a:p>
        </p:txBody>
      </p:sp>
      <p:sp>
        <p:nvSpPr>
          <p:cNvPr id="51" name="Text 49"/>
          <p:cNvSpPr/>
          <p:nvPr/>
        </p:nvSpPr>
        <p:spPr>
          <a:xfrm>
            <a:off x="8369300" y="3653334"/>
            <a:ext cx="291706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중대한빈혈진단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8369300" y="3909814"/>
            <a:ext cx="291706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중대한특정상해수술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8369300" y="4166295"/>
            <a:ext cx="2917063" cy="642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2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* 심혈관질환(특정Ⅰ, I49제외) 또는 심혈관질환(특정2대, I49포함) 또는 심혈관질환(특정Ⅱ)</a:t>
            </a:r>
            <a:endParaRPr lang="en-US" sz="1200" dirty="0"/>
          </a:p>
        </p:txBody>
      </p:sp>
      <p:sp>
        <p:nvSpPr>
          <p:cNvPr id="54" name="Text 52"/>
          <p:cNvSpPr/>
          <p:nvPr/>
        </p:nvSpPr>
        <p:spPr>
          <a:xfrm>
            <a:off x="812800" y="4916686"/>
            <a:ext cx="1016000" cy="407591"/>
          </a:xfrm>
          <a:prstGeom prst="rect">
            <a:avLst/>
          </a:prstGeom>
          <a:solidFill>
            <a:srgbClr val="F3F5F8"/>
          </a:solidFill>
          <a:ln/>
        </p:spPr>
        <p:txBody>
          <a:bodyPr wrap="square" lIns="56753" tIns="76200" rIns="56753" bIns="8255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건강고지 할인</a:t>
            </a:r>
            <a:endParaRPr lang="en-US" sz="1200" dirty="0"/>
          </a:p>
        </p:txBody>
      </p:sp>
      <p:sp>
        <p:nvSpPr>
          <p:cNvPr id="55" name="Shape 53"/>
          <p:cNvSpPr/>
          <p:nvPr/>
        </p:nvSpPr>
        <p:spPr>
          <a:xfrm>
            <a:off x="812800" y="5321102"/>
            <a:ext cx="10160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006975" y="4916686"/>
            <a:ext cx="0" cy="407591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828800" y="5321102"/>
            <a:ext cx="318135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1859661" y="4992886"/>
            <a:ext cx="311327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○</a:t>
            </a:r>
            <a:endParaRPr lang="en-US" sz="1400" dirty="0"/>
          </a:p>
        </p:txBody>
      </p:sp>
      <p:sp>
        <p:nvSpPr>
          <p:cNvPr id="59" name="Shape 57"/>
          <p:cNvSpPr/>
          <p:nvPr/>
        </p:nvSpPr>
        <p:spPr>
          <a:xfrm>
            <a:off x="8188325" y="4916686"/>
            <a:ext cx="0" cy="407591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5010150" y="5321102"/>
            <a:ext cx="318135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5041011" y="4992886"/>
            <a:ext cx="311327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○</a:t>
            </a:r>
            <a:endParaRPr lang="en-US" sz="1400" dirty="0"/>
          </a:p>
        </p:txBody>
      </p:sp>
      <p:sp>
        <p:nvSpPr>
          <p:cNvPr id="62" name="Shape 60"/>
          <p:cNvSpPr/>
          <p:nvPr/>
        </p:nvSpPr>
        <p:spPr>
          <a:xfrm>
            <a:off x="8191500" y="5321102"/>
            <a:ext cx="31877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222171" y="4992886"/>
            <a:ext cx="312635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○</a:t>
            </a:r>
            <a:endParaRPr lang="en-US" sz="1400" dirty="0"/>
          </a:p>
        </p:txBody>
      </p:sp>
      <p:sp>
        <p:nvSpPr>
          <p:cNvPr id="64" name="Text 62"/>
          <p:cNvSpPr/>
          <p:nvPr/>
        </p:nvSpPr>
        <p:spPr>
          <a:xfrm>
            <a:off x="812800" y="5324277"/>
            <a:ext cx="1016000" cy="591741"/>
          </a:xfrm>
          <a:prstGeom prst="rect">
            <a:avLst/>
          </a:prstGeom>
          <a:solidFill>
            <a:srgbClr val="F3F5F8"/>
          </a:solidFill>
          <a:ln/>
        </p:spPr>
        <p:txBody>
          <a:bodyPr wrap="square" lIns="50800" tIns="63500" rIns="50800" bIns="76200" rtlCol="0" anchor="ctr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무사고 종전환 할인</a:t>
            </a:r>
            <a:endParaRPr lang="en-US" sz="1200" dirty="0"/>
          </a:p>
        </p:txBody>
      </p:sp>
      <p:sp>
        <p:nvSpPr>
          <p:cNvPr id="65" name="Shape 63"/>
          <p:cNvSpPr/>
          <p:nvPr/>
        </p:nvSpPr>
        <p:spPr>
          <a:xfrm>
            <a:off x="812800" y="5909667"/>
            <a:ext cx="1016000" cy="0"/>
          </a:xfrm>
          <a:prstGeom prst="line">
            <a:avLst/>
          </a:prstGeom>
          <a:noFill/>
          <a:ln w="12700">
            <a:solidFill>
              <a:srgbClr val="0F2340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828800" y="5909667"/>
            <a:ext cx="3181350" cy="0"/>
          </a:xfrm>
          <a:prstGeom prst="line">
            <a:avLst/>
          </a:prstGeom>
          <a:noFill/>
          <a:ln w="12700">
            <a:solidFill>
              <a:srgbClr val="0F234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859566" y="5400477"/>
            <a:ext cx="311981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○</a:t>
            </a:r>
            <a:endParaRPr lang="en-US" sz="1400" dirty="0"/>
          </a:p>
        </p:txBody>
      </p:sp>
      <p:sp>
        <p:nvSpPr>
          <p:cNvPr id="68" name="Shape 66"/>
          <p:cNvSpPr/>
          <p:nvPr/>
        </p:nvSpPr>
        <p:spPr>
          <a:xfrm>
            <a:off x="5010150" y="5909667"/>
            <a:ext cx="3181350" cy="0"/>
          </a:xfrm>
          <a:prstGeom prst="line">
            <a:avLst/>
          </a:prstGeom>
          <a:noFill/>
          <a:ln w="12700">
            <a:solidFill>
              <a:srgbClr val="0F234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040916" y="5400477"/>
            <a:ext cx="311981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○</a:t>
            </a:r>
            <a:endParaRPr lang="en-US" sz="1400" dirty="0"/>
          </a:p>
        </p:txBody>
      </p:sp>
      <p:sp>
        <p:nvSpPr>
          <p:cNvPr id="70" name="Shape 68"/>
          <p:cNvSpPr/>
          <p:nvPr/>
        </p:nvSpPr>
        <p:spPr>
          <a:xfrm>
            <a:off x="8191500" y="5909667"/>
            <a:ext cx="3187700" cy="0"/>
          </a:xfrm>
          <a:prstGeom prst="line">
            <a:avLst/>
          </a:prstGeom>
          <a:noFill/>
          <a:ln w="12700">
            <a:solidFill>
              <a:srgbClr val="0F234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222171" y="5400477"/>
            <a:ext cx="312635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○</a:t>
            </a:r>
            <a:endParaRPr lang="en-US" sz="14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여성 특화보험의 납입면제 · 한화손보 시그니처여성건강4.0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40세 이하 “납입면제 강화형”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565176"/>
            <a:ext cx="4937423" cy="3440609"/>
          </a:xfrm>
          <a:prstGeom prst="roundRect">
            <a:avLst>
              <a:gd name="adj" fmla="val 1384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98550" y="1847751"/>
            <a:ext cx="4503441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납입면제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8550" y="2310011"/>
            <a:ext cx="450344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암(4대유사암제외), </a:t>
            </a:r>
            <a:r>
              <a:rPr lang="en-US" sz="16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뇌혈관, 허혈성심장질환</a:t>
            </a:r>
            <a:r>
              <a:rPr lang="en-US" sz="16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진단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8550" y="2741811"/>
            <a:ext cx="450344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</a:t>
            </a:r>
            <a:r>
              <a:rPr lang="en-US" sz="16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갑상선암 수술</a:t>
            </a:r>
            <a:r>
              <a:rPr lang="en-US" sz="16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시 전기간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98550" y="3173611"/>
            <a:ext cx="450344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</a:t>
            </a:r>
            <a:r>
              <a:rPr lang="en-US" sz="16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중환자실 입원</a:t>
            </a:r>
            <a:r>
              <a:rPr lang="en-US" sz="16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시 전기간 </a:t>
            </a:r>
            <a:r>
              <a:rPr lang="en-US" sz="16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(2일 이상)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8550" y="3605411"/>
            <a:ext cx="450344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</a:t>
            </a:r>
            <a:r>
              <a:rPr lang="en-US" sz="16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출산 후</a:t>
            </a:r>
            <a:r>
              <a:rPr lang="en-US" sz="16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1년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959773" y="2965450"/>
            <a:ext cx="326827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+</a:t>
            </a:r>
            <a:endParaRPr lang="en-US" sz="3600" dirty="0"/>
          </a:p>
        </p:txBody>
      </p:sp>
      <p:sp>
        <p:nvSpPr>
          <p:cNvPr id="11" name="Shape 9"/>
          <p:cNvSpPr/>
          <p:nvPr/>
        </p:nvSpPr>
        <p:spPr>
          <a:xfrm>
            <a:off x="6438503" y="1565176"/>
            <a:ext cx="4937522" cy="3440609"/>
          </a:xfrm>
          <a:prstGeom prst="roundRect">
            <a:avLst>
              <a:gd name="adj" fmla="val 1384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721078" y="1847751"/>
            <a:ext cx="4503543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납입유예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721078" y="2310011"/>
            <a:ext cx="450354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</a:t>
            </a:r>
            <a:r>
              <a:rPr lang="en-US" sz="16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육아휴직</a:t>
            </a:r>
            <a:r>
              <a:rPr lang="en-US" sz="16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시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721078" y="2741811"/>
            <a:ext cx="450354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</a:t>
            </a:r>
            <a:r>
              <a:rPr lang="en-US" sz="16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육아기 근로단축</a:t>
            </a:r>
            <a:r>
              <a:rPr lang="en-US" sz="16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시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21078" y="3173611"/>
            <a:ext cx="4503543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</a:t>
            </a:r>
            <a:r>
              <a:rPr lang="en-US" sz="16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실직</a:t>
            </a:r>
            <a:r>
              <a:rPr lang="en-US" sz="16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시 1년간 납입유예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2800" y="5262959"/>
            <a:ext cx="10566400" cy="782241"/>
          </a:xfrm>
          <a:prstGeom prst="roundRect">
            <a:avLst>
              <a:gd name="adj" fmla="val 6494"/>
            </a:avLst>
          </a:prstGeom>
          <a:solidFill>
            <a:srgbClr val="0F2340"/>
          </a:solidFill>
          <a:ln/>
        </p:spPr>
        <p:txBody>
          <a:bodyPr wrap="square" lIns="9759" tIns="162921" rIns="9759" bIns="137521" rtlCol="0" anchor="t">
            <a:normAutofit/>
          </a:bodyPr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아플 때도, 쉴 때도 </a:t>
            </a:r>
            <a:r>
              <a:rPr lang="en-US" sz="2400" b="1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보험료 걱정 끝!</a:t>
            </a:r>
            <a:endParaRPr lang="en-US" sz="24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갑상선암 · 조기 진단과 치료기술의 발전으로 높은 완치율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갑상선암 수술 시 납입면제, 왜 유리할까?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562001"/>
            <a:ext cx="5130800" cy="3446959"/>
          </a:xfrm>
          <a:prstGeom prst="roundRect">
            <a:avLst>
              <a:gd name="adj" fmla="val 1474"/>
            </a:avLst>
          </a:prstGeom>
          <a:solidFill>
            <a:srgbClr val="F3F5F8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439690"/>
            <a:ext cx="465683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한국인 암 발생 1위 </a:t>
            </a:r>
            <a:r>
              <a:rPr lang="en-US" sz="14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(여성 암 발병률 2위)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17600" y="2840930"/>
            <a:ext cx="4656836" cy="949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640"/>
              </a:lnSpc>
              <a:buNone/>
            </a:pPr>
            <a:r>
              <a:rPr lang="en-US" sz="28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여성 20대부터</a:t>
            </a:r>
            <a:endParaRPr lang="en-US" sz="2800" dirty="0"/>
          </a:p>
          <a:p>
            <a:pPr algn="l" indent="0" marL="0">
              <a:lnSpc>
                <a:spcPts val="3640"/>
              </a:lnSpc>
              <a:buNone/>
            </a:pPr>
            <a:r>
              <a:rPr lang="en-US" sz="28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압도적으로 높은 발생률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117600" y="3917851"/>
            <a:ext cx="46568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출처: 중앙암등록본부(2023년 국가암등록통계)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0300" y="1574701"/>
            <a:ext cx="5156200" cy="3421559"/>
          </a:xfrm>
          <a:prstGeom prst="roundRect">
            <a:avLst>
              <a:gd name="adj" fmla="val 1114"/>
            </a:avLst>
          </a:prstGeom>
          <a:solidFill>
            <a:srgbClr val="FFFFFF"/>
          </a:solidFill>
          <a:ln w="25400">
            <a:solidFill>
              <a:srgbClr val="0F234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27800" y="2160290"/>
            <a:ext cx="465683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완치율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527800" y="2561530"/>
            <a:ext cx="4656836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99%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6527800" y="3323530"/>
            <a:ext cx="4656836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주요 치료 = 수술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527800" y="3778151"/>
            <a:ext cx="465683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로봇수술 및 내시경 수술 · 수술범위 최소화, 빠른 회복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527800" y="4197251"/>
            <a:ext cx="465683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출처: 5년 상대생존(2021년, 중앙암등록본부)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12800" y="5262959"/>
            <a:ext cx="10566400" cy="782241"/>
          </a:xfrm>
          <a:prstGeom prst="roundRect">
            <a:avLst>
              <a:gd name="adj" fmla="val 6494"/>
            </a:avLst>
          </a:prstGeom>
          <a:solidFill>
            <a:srgbClr val="0F2340"/>
          </a:solidFill>
          <a:ln/>
        </p:spPr>
        <p:txBody>
          <a:bodyPr wrap="square" lIns="9759" tIns="162921" rIns="9759" bIns="137521" rtlCol="0" anchor="t">
            <a:normAutofit/>
          </a:bodyPr>
          <a:lstStyle/>
          <a:p>
            <a:pPr algn="ctr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완치율 99% 갑상선암, 수술만 해도 보험료는 </a:t>
            </a:r>
            <a:r>
              <a:rPr lang="en-US" sz="2400" b="1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‘0원’</a:t>
            </a:r>
            <a:endParaRPr lang="en-US" sz="24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08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50세까지 어른이로… 흥국화재 건강 0550종합보험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7975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심뇌혈관질환 발생률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384201"/>
            <a:ext cx="10566400" cy="3937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심뇌혈관질환 성별 발생률(전체 288.9, 남자 343.1, 여자 235.9, 남자 1.5배)과 연령별 발생률(20~39세 84.4, 40~64세 408.5, 65세 이상 1735.4명/10만 인년, 20~39세 대비 4.8배·20.6배)">    </p:cNvPr>
          <p:cNvPicPr>
            <a:picLocks noChangeAspect="1"/>
          </p:cNvPicPr>
          <p:nvPr/>
        </p:nvPicPr>
        <p:blipFill>
          <a:blip r:embed="rId1"/>
          <a:srcRect l="-12044" r="-12044" t="0" b="0"/>
          <a:stretch/>
        </p:blipFill>
        <p:spPr>
          <a:xfrm>
            <a:off x="812800" y="1384201"/>
            <a:ext cx="10566400" cy="3937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5499001"/>
            <a:ext cx="10566400" cy="695920"/>
          </a:xfrm>
          <a:prstGeom prst="roundRect">
            <a:avLst>
              <a:gd name="adj" fmla="val 7300"/>
            </a:avLst>
          </a:prstGeom>
          <a:solidFill>
            <a:srgbClr val="0F2340"/>
          </a:solidFill>
          <a:ln/>
        </p:spPr>
        <p:txBody>
          <a:bodyPr wrap="square" lIns="0" tIns="137521" rIns="0" bIns="112121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여자보다 </a:t>
            </a:r>
            <a:r>
              <a:rPr lang="en-US" sz="2200" b="1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남자가 1.5배</a:t>
            </a:r>
            <a:r>
              <a:rPr lang="en-US" sz="22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, </a:t>
            </a:r>
            <a:r>
              <a:rPr lang="en-US" sz="2200" b="1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노년층에서 20.6배</a:t>
            </a:r>
            <a:r>
              <a:rPr lang="en-US" sz="22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 증가</a:t>
            </a:r>
            <a:endParaRPr lang="en-US" sz="22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58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남성 전문 납입면제 보험? · 흥국화재 흥Good The건강0550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483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순환계 및 2대 납입면제 범위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447701"/>
          <a:ext cx="5118100" cy="3053755"/>
        </p:xfrm>
        <a:graphic>
          <a:graphicData uri="http://schemas.openxmlformats.org/drawingml/2006/table">
            <a:tbl>
              <a:tblPr/>
              <a:tblGrid>
                <a:gridCol w="2047240"/>
                <a:gridCol w="1433068"/>
                <a:gridCol w="818896"/>
                <a:gridCol w="818896"/>
              </a:tblGrid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질병명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질병코드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순환계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2대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</a:tr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뇌혈관질환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I60~I69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○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○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</a:tr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급성 류마티스열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I00~I02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○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만성 류마티스심장질환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I05~I09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○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허혈성심장질환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I20~I25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○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○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</a:tr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폐성 심장병 및 폐순환의 질환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I26~I28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○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1534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심장염증질환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I30~I33, I38, I40, I41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○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심근병증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I42~I43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○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중증 방실차단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I44.1~I44.3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○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61100" y="1447701"/>
          <a:ext cx="5118100" cy="2538413"/>
        </p:xfrm>
        <a:graphic>
          <a:graphicData uri="http://schemas.openxmlformats.org/drawingml/2006/table">
            <a:tbl>
              <a:tblPr/>
              <a:tblGrid>
                <a:gridCol w="2047240"/>
                <a:gridCol w="1433068"/>
                <a:gridCol w="818896"/>
                <a:gridCol w="818896"/>
              </a:tblGrid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질병명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질병코드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순환계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2대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</a:tr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인공소생에 성공한 심장정지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I46.0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○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318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부정맥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A318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I47~I49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○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심부전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I50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○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대동맥동맥류 및 박리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I71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○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특정 동맥혈관질환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I72, I74, I77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○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문맥혈전증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I81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○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302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식도정맥류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I85, I98.2, I98.3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r>
                        <a:rPr lang="en-US" sz="12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○</a:t>
                      </a: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680"/>
                        </a:lnSpc>
                        <a:buNone/>
                      </a:pPr>
                      <a:endParaRPr lang="en-US" sz="12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3340" marR="53340" marT="53340" marB="5334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2"/>
          <p:cNvSpPr/>
          <p:nvPr/>
        </p:nvSpPr>
        <p:spPr>
          <a:xfrm>
            <a:off x="812800" y="4679255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순환계 = 순환계질환 주요치료(특정질병제외) · 2대 = 뇌혈관, 허혈성심장질환 진단</a:t>
            </a:r>
            <a:endParaRPr lang="en-US" sz="1200" dirty="0"/>
          </a:p>
        </p:txBody>
      </p:sp>
      <p:sp>
        <p:nvSpPr>
          <p:cNvPr id="7" name="Text 3"/>
          <p:cNvSpPr/>
          <p:nvPr/>
        </p:nvSpPr>
        <p:spPr>
          <a:xfrm>
            <a:off x="812800" y="63144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출처: 흥국화재 흥Good The건강0550 약관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보험료 납입면제 활용 방안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대부분 중증부터, 흥국화재는 경증부터 납입면제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63600" y="1485801"/>
            <a:ext cx="36800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경증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180802" y="1597521"/>
            <a:ext cx="9525595" cy="25400"/>
          </a:xfrm>
          <a:prstGeom prst="rect">
            <a:avLst/>
          </a:prstGeom>
          <a:solidFill>
            <a:srgbClr val="E1E6ED"/>
          </a:solidFill>
          <a:ln/>
        </p:spPr>
      </p:sp>
      <p:pic>
        <p:nvPicPr>
          <p:cNvPr id="6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706398" y="1534021"/>
            <a:ext cx="304800" cy="152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011198" y="1485801"/>
            <a:ext cx="38064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중증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2800" y="1912441"/>
            <a:ext cx="1016000" cy="1267321"/>
          </a:xfrm>
          <a:prstGeom prst="roundRect">
            <a:avLst>
              <a:gd name="adj" fmla="val 5000"/>
            </a:avLst>
          </a:prstGeom>
          <a:solidFill>
            <a:srgbClr val="0F234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뇌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965325" y="1921966"/>
            <a:ext cx="2241550" cy="1248271"/>
          </a:xfrm>
          <a:prstGeom prst="roundRect">
            <a:avLst>
              <a:gd name="adj" fmla="val 3307"/>
            </a:avLst>
          </a:prstGeom>
          <a:solidFill>
            <a:srgbClr val="FBF4E3"/>
          </a:solidFill>
          <a:ln w="19050">
            <a:solidFill>
              <a:srgbClr val="CD9B3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101850" y="2045791"/>
            <a:ext cx="20275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STEP 1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101850" y="2297212"/>
            <a:ext cx="202755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혈관이 좁아지는 협착이 뇌혈관질환의 시작!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101850" y="2761952"/>
            <a:ext cx="202755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뇌혈관 협착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4352925" y="1921966"/>
            <a:ext cx="2241550" cy="1248271"/>
          </a:xfrm>
          <a:prstGeom prst="roundRect">
            <a:avLst>
              <a:gd name="adj" fmla="val 3307"/>
            </a:avLst>
          </a:prstGeom>
          <a:solidFill>
            <a:srgbClr val="FBF4E3"/>
          </a:solidFill>
          <a:ln w="19050">
            <a:solidFill>
              <a:srgbClr val="CD9B3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489450" y="2045791"/>
            <a:ext cx="20275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STEP 2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489450" y="2297212"/>
            <a:ext cx="20275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갑자기 피가 안 통해서!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4489450" y="2548632"/>
            <a:ext cx="202755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일과성 뇌허혈 발작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6731000" y="1912441"/>
            <a:ext cx="2260600" cy="1267321"/>
          </a:xfrm>
          <a:prstGeom prst="roundRect">
            <a:avLst>
              <a:gd name="adj" fmla="val 4008"/>
            </a:avLst>
          </a:prstGeom>
          <a:solidFill>
            <a:srgbClr val="F3F5F8"/>
          </a:solidFill>
          <a:ln/>
        </p:spPr>
      </p:sp>
      <p:sp>
        <p:nvSpPr>
          <p:cNvPr id="18" name="Text 15"/>
          <p:cNvSpPr/>
          <p:nvPr/>
        </p:nvSpPr>
        <p:spPr>
          <a:xfrm>
            <a:off x="6858000" y="2026741"/>
            <a:ext cx="20667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STEP 3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6858000" y="2278162"/>
            <a:ext cx="20667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이번엔 진짜 막혀 쓰러졌습니다!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6858000" y="2529582"/>
            <a:ext cx="206679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뇌경색증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9118600" y="1912441"/>
            <a:ext cx="2260600" cy="1267321"/>
          </a:xfrm>
          <a:prstGeom prst="roundRect">
            <a:avLst>
              <a:gd name="adj" fmla="val 4008"/>
            </a:avLst>
          </a:prstGeom>
          <a:solidFill>
            <a:srgbClr val="F3F5F8"/>
          </a:solidFill>
          <a:ln/>
        </p:spPr>
      </p:sp>
      <p:sp>
        <p:nvSpPr>
          <p:cNvPr id="22" name="Text 19"/>
          <p:cNvSpPr/>
          <p:nvPr/>
        </p:nvSpPr>
        <p:spPr>
          <a:xfrm>
            <a:off x="9245600" y="2026741"/>
            <a:ext cx="20667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STEP 4</a:t>
            </a:r>
            <a:endParaRPr lang="en-US" sz="1200" dirty="0"/>
          </a:p>
        </p:txBody>
      </p:sp>
      <p:sp>
        <p:nvSpPr>
          <p:cNvPr id="23" name="Text 20"/>
          <p:cNvSpPr/>
          <p:nvPr/>
        </p:nvSpPr>
        <p:spPr>
          <a:xfrm>
            <a:off x="9245600" y="2278162"/>
            <a:ext cx="20667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결국 터져버린 혈관..!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9245600" y="2529582"/>
            <a:ext cx="206679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뇌출혈증</a:t>
            </a:r>
            <a:endParaRPr lang="en-US" sz="1600" dirty="0"/>
          </a:p>
        </p:txBody>
      </p:sp>
      <p:sp>
        <p:nvSpPr>
          <p:cNvPr id="25" name="Text 22"/>
          <p:cNvSpPr/>
          <p:nvPr/>
        </p:nvSpPr>
        <p:spPr>
          <a:xfrm>
            <a:off x="812800" y="3281363"/>
            <a:ext cx="1016000" cy="1267321"/>
          </a:xfrm>
          <a:prstGeom prst="roundRect">
            <a:avLst>
              <a:gd name="adj" fmla="val 5000"/>
            </a:avLst>
          </a:prstGeom>
          <a:solidFill>
            <a:srgbClr val="0F2340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심장</a:t>
            </a:r>
            <a:endParaRPr lang="en-US" sz="1500" dirty="0"/>
          </a:p>
        </p:txBody>
      </p:sp>
      <p:sp>
        <p:nvSpPr>
          <p:cNvPr id="26" name="Shape 23"/>
          <p:cNvSpPr/>
          <p:nvPr/>
        </p:nvSpPr>
        <p:spPr>
          <a:xfrm>
            <a:off x="1965325" y="3290888"/>
            <a:ext cx="2241550" cy="1248271"/>
          </a:xfrm>
          <a:prstGeom prst="roundRect">
            <a:avLst>
              <a:gd name="adj" fmla="val 3307"/>
            </a:avLst>
          </a:prstGeom>
          <a:solidFill>
            <a:srgbClr val="FBF4E3"/>
          </a:solidFill>
          <a:ln w="19050">
            <a:solidFill>
              <a:srgbClr val="CD9B34"/>
            </a:solidFill>
            <a:prstDash val="solid"/>
          </a:ln>
        </p:spPr>
      </p:sp>
      <p:sp>
        <p:nvSpPr>
          <p:cNvPr id="27" name="Text 24"/>
          <p:cNvSpPr/>
          <p:nvPr/>
        </p:nvSpPr>
        <p:spPr>
          <a:xfrm>
            <a:off x="2101850" y="3414713"/>
            <a:ext cx="20275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STEP 1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2101850" y="3666133"/>
            <a:ext cx="2027555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혈관이 좁아지는 협착이 심장질환의 시작!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2101850" y="4130873"/>
            <a:ext cx="202755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대동맥판협착</a:t>
            </a:r>
            <a:endParaRPr lang="en-US" sz="1600" dirty="0"/>
          </a:p>
        </p:txBody>
      </p:sp>
      <p:sp>
        <p:nvSpPr>
          <p:cNvPr id="30" name="Shape 27"/>
          <p:cNvSpPr/>
          <p:nvPr/>
        </p:nvSpPr>
        <p:spPr>
          <a:xfrm>
            <a:off x="4352925" y="3290888"/>
            <a:ext cx="2241550" cy="1248271"/>
          </a:xfrm>
          <a:prstGeom prst="roundRect">
            <a:avLst>
              <a:gd name="adj" fmla="val 3307"/>
            </a:avLst>
          </a:prstGeom>
          <a:solidFill>
            <a:srgbClr val="FBF4E3"/>
          </a:solidFill>
          <a:ln w="19050">
            <a:solidFill>
              <a:srgbClr val="CD9B34"/>
            </a:solidFill>
            <a:prstDash val="solid"/>
          </a:ln>
        </p:spPr>
      </p:sp>
      <p:sp>
        <p:nvSpPr>
          <p:cNvPr id="31" name="Text 28"/>
          <p:cNvSpPr/>
          <p:nvPr/>
        </p:nvSpPr>
        <p:spPr>
          <a:xfrm>
            <a:off x="4489450" y="3414713"/>
            <a:ext cx="20275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STEP 2</a:t>
            </a:r>
            <a:endParaRPr lang="en-US" sz="1200" dirty="0"/>
          </a:p>
        </p:txBody>
      </p:sp>
      <p:sp>
        <p:nvSpPr>
          <p:cNvPr id="32" name="Text 29"/>
          <p:cNvSpPr/>
          <p:nvPr/>
        </p:nvSpPr>
        <p:spPr>
          <a:xfrm>
            <a:off x="4489450" y="3666133"/>
            <a:ext cx="2027555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불안정한 심장 박동!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4489450" y="3917553"/>
            <a:ext cx="2027555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기타심장 부정맥(I49)</a:t>
            </a:r>
            <a:endParaRPr lang="en-US" sz="1600" dirty="0"/>
          </a:p>
        </p:txBody>
      </p:sp>
      <p:sp>
        <p:nvSpPr>
          <p:cNvPr id="34" name="Shape 31"/>
          <p:cNvSpPr/>
          <p:nvPr/>
        </p:nvSpPr>
        <p:spPr>
          <a:xfrm>
            <a:off x="6731000" y="3281363"/>
            <a:ext cx="2260600" cy="1267321"/>
          </a:xfrm>
          <a:prstGeom prst="roundRect">
            <a:avLst>
              <a:gd name="adj" fmla="val 4008"/>
            </a:avLst>
          </a:prstGeom>
          <a:solidFill>
            <a:srgbClr val="F3F5F8"/>
          </a:solidFill>
          <a:ln/>
        </p:spPr>
      </p:sp>
      <p:sp>
        <p:nvSpPr>
          <p:cNvPr id="35" name="Text 32"/>
          <p:cNvSpPr/>
          <p:nvPr/>
        </p:nvSpPr>
        <p:spPr>
          <a:xfrm>
            <a:off x="6858000" y="3395663"/>
            <a:ext cx="20667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STEP 3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6858000" y="3647083"/>
            <a:ext cx="206679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좁아진 혈관 때문에 혈류 공급 감소 → 심장근육 통증</a:t>
            </a:r>
            <a:endParaRPr lang="en-US" sz="1200" dirty="0"/>
          </a:p>
        </p:txBody>
      </p:sp>
      <p:sp>
        <p:nvSpPr>
          <p:cNvPr id="37" name="Text 34"/>
          <p:cNvSpPr/>
          <p:nvPr/>
        </p:nvSpPr>
        <p:spPr>
          <a:xfrm>
            <a:off x="6858000" y="4111823"/>
            <a:ext cx="206679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협심증</a:t>
            </a:r>
            <a:endParaRPr lang="en-US" sz="1600" dirty="0"/>
          </a:p>
        </p:txBody>
      </p:sp>
      <p:sp>
        <p:nvSpPr>
          <p:cNvPr id="38" name="Shape 35"/>
          <p:cNvSpPr/>
          <p:nvPr/>
        </p:nvSpPr>
        <p:spPr>
          <a:xfrm>
            <a:off x="9118600" y="3281363"/>
            <a:ext cx="2260600" cy="1267321"/>
          </a:xfrm>
          <a:prstGeom prst="roundRect">
            <a:avLst>
              <a:gd name="adj" fmla="val 4008"/>
            </a:avLst>
          </a:prstGeom>
          <a:solidFill>
            <a:srgbClr val="F3F5F8"/>
          </a:solidFill>
          <a:ln/>
        </p:spPr>
      </p:sp>
      <p:sp>
        <p:nvSpPr>
          <p:cNvPr id="39" name="Text 36"/>
          <p:cNvSpPr/>
          <p:nvPr/>
        </p:nvSpPr>
        <p:spPr>
          <a:xfrm>
            <a:off x="9245600" y="3395663"/>
            <a:ext cx="20667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STEP 4</a:t>
            </a:r>
            <a:endParaRPr lang="en-US" sz="1200" dirty="0"/>
          </a:p>
        </p:txBody>
      </p:sp>
      <p:sp>
        <p:nvSpPr>
          <p:cNvPr id="40" name="Text 37"/>
          <p:cNvSpPr/>
          <p:nvPr/>
        </p:nvSpPr>
        <p:spPr>
          <a:xfrm>
            <a:off x="9245600" y="3647083"/>
            <a:ext cx="206679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결국 막혀버린 혈관..!</a:t>
            </a:r>
            <a:endParaRPr lang="en-US" sz="1200" dirty="0"/>
          </a:p>
        </p:txBody>
      </p:sp>
      <p:sp>
        <p:nvSpPr>
          <p:cNvPr id="41" name="Text 38"/>
          <p:cNvSpPr/>
          <p:nvPr/>
        </p:nvSpPr>
        <p:spPr>
          <a:xfrm>
            <a:off x="9245600" y="3898503"/>
            <a:ext cx="2066798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급성심근경색증</a:t>
            </a:r>
            <a:endParaRPr lang="en-US" sz="1600" dirty="0"/>
          </a:p>
        </p:txBody>
      </p:sp>
      <p:sp>
        <p:nvSpPr>
          <p:cNvPr id="42" name="Text 39"/>
          <p:cNvSpPr/>
          <p:nvPr/>
        </p:nvSpPr>
        <p:spPr>
          <a:xfrm>
            <a:off x="812800" y="4726484"/>
            <a:ext cx="10566400" cy="660400"/>
          </a:xfrm>
          <a:prstGeom prst="roundRect">
            <a:avLst>
              <a:gd name="adj" fmla="val 7692"/>
            </a:avLst>
          </a:prstGeom>
          <a:solidFill>
            <a:srgbClr val="0F2340"/>
          </a:solidFill>
          <a:ln/>
        </p:spPr>
        <p:txBody>
          <a:bodyPr wrap="square" lIns="0" tIns="137521" rIns="0" bIns="112121" rtlCol="0" anchor="t">
            <a:normAutofit/>
          </a:bodyPr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흥국화재 〈오건강〉은 </a:t>
            </a:r>
            <a:r>
              <a:rPr lang="en-US" sz="2000" b="1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STEP 1·2 단계</a:t>
            </a:r>
            <a:r>
              <a:rPr lang="en-US" sz="20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부터 납입면제!</a:t>
            </a:r>
            <a:endParaRPr lang="en-US" sz="20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자유의 여신상과 뉴욕 맨해튼 스카이라인">    </p:cNvPr>
          <p:cNvPicPr>
            <a:picLocks noChangeAspect="1"/>
          </p:cNvPicPr>
          <p:nvPr/>
        </p:nvPicPr>
        <p:blipFill>
          <a:blip r:embed="rId1"/>
          <a:srcRect l="22070" r="22070" t="0" b="0"/>
          <a:stretch/>
        </p:blipFill>
        <p:spPr>
          <a:xfrm>
            <a:off x="5588000" y="0"/>
            <a:ext cx="660400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CD9B34"/>
          </a:solidFill>
          <a:ln/>
        </p:spPr>
      </p:sp>
      <p:sp>
        <p:nvSpPr>
          <p:cNvPr id="4" name="Text 1"/>
          <p:cNvSpPr/>
          <p:nvPr/>
        </p:nvSpPr>
        <p:spPr>
          <a:xfrm>
            <a:off x="812800" y="1814909"/>
            <a:ext cx="444754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spc="200" kern="0" dirty="0">
                <a:solidFill>
                  <a:srgbClr val="CD9B3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PART 4</a:t>
            </a:r>
            <a:endParaRPr lang="en-US" sz="1600" dirty="0"/>
          </a:p>
        </p:txBody>
      </p:sp>
      <p:sp>
        <p:nvSpPr>
          <p:cNvPr id="5" name="Text 2"/>
          <p:cNvSpPr/>
          <p:nvPr>
            <p:ph type="title"/>
          </p:nvPr>
        </p:nvSpPr>
        <p:spPr>
          <a:xfrm>
            <a:off x="812800" y="2302570"/>
            <a:ext cx="4447540" cy="19530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060"/>
              </a:lnSpc>
              <a:buNone/>
            </a:pPr>
            <a:r>
              <a:rPr lang="en-US" sz="4400" b="1" i="0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무배당</a:t>
            </a:r>
            <a:endParaRPr lang="en-US" sz="4400" dirty="0"/>
          </a:p>
          <a:p>
            <a:pPr algn="l" indent="0" marL="0">
              <a:lnSpc>
                <a:spcPts val="5060"/>
              </a:lnSpc>
              <a:buNone/>
            </a:pPr>
            <a:r>
              <a:rPr lang="en-US" sz="4400" b="1" i="0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유니버셜</a:t>
            </a:r>
            <a:endParaRPr lang="en-US" sz="4400" dirty="0"/>
          </a:p>
          <a:p>
            <a:pPr algn="l" indent="0" marL="0">
              <a:lnSpc>
                <a:spcPts val="5060"/>
              </a:lnSpc>
              <a:buNone/>
            </a:pPr>
            <a:r>
              <a:rPr lang="en-US" sz="4400" b="1" i="0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달러종신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12800" y="4433391"/>
            <a:ext cx="4185920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C9D2E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달러 자산 · 상품 포인트 · 판매 컨셉 · 가입설계 · 유의사항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2800" y="5974159"/>
            <a:ext cx="4316730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8E9AB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본 자료는 내부 교육용 자료이므로 고객 상담 시 직접 사용하실 수 없습니다. 준법감시인확인필 T-018-1712-1812</a:t>
            </a:r>
            <a:endParaRPr lang="en-US" sz="12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유니버셜달러종신 · 들어가며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프레임: 어디서 세상을 보고 있나요?</a:t>
            </a:r>
            <a:endParaRPr lang="en-US" sz="2800" dirty="0"/>
          </a:p>
        </p:txBody>
      </p:sp>
      <p:pic>
        <p:nvPicPr>
          <p:cNvPr id="4" name="Image 0" descr="비어 있는 나무 액자">    </p:cNvPr>
          <p:cNvPicPr>
            <a:picLocks noChangeAspect="1"/>
          </p:cNvPicPr>
          <p:nvPr/>
        </p:nvPicPr>
        <p:blipFill>
          <a:blip r:embed="rId1"/>
          <a:srcRect l="-9244" r="-9244" t="0" b="0"/>
          <a:stretch/>
        </p:blipFill>
        <p:spPr>
          <a:xfrm>
            <a:off x="1892300" y="1893491"/>
            <a:ext cx="5334000" cy="3175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888" y="5322491"/>
            <a:ext cx="7898725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“건물 어느 곳에 창을 내어도 세상 전체를 볼 순 없다”</a:t>
            </a:r>
            <a:endParaRPr lang="en-US" sz="2200" dirty="0"/>
          </a:p>
        </p:txBody>
      </p:sp>
      <p:pic>
        <p:nvPicPr>
          <p:cNvPr id="6" name="Image 1" descr="도서 『프레임: 나를 바꾸는 심리학의 지혜』 표지">    </p:cNvPr>
          <p:cNvPicPr>
            <a:picLocks noChangeAspect="1"/>
          </p:cNvPicPr>
          <p:nvPr/>
        </p:nvPicPr>
        <p:blipFill>
          <a:blip r:embed="rId2"/>
          <a:srcRect l="0" r="0" t="-158" b="-158"/>
          <a:stretch/>
        </p:blipFill>
        <p:spPr>
          <a:xfrm>
            <a:off x="8909050" y="1814116"/>
            <a:ext cx="2273300" cy="363855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8905875" y="1810941"/>
            <a:ext cx="2279650" cy="3644900"/>
          </a:xfrm>
          <a:prstGeom prst="rect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9433362" y="5586016"/>
            <a:ext cx="122467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도서 『프레임』</a:t>
            </a:r>
            <a:endParaRPr lang="en-US" sz="12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유니버셜달러종신 · 미국과 달러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세계 경제 비중 (GDP 기준)</a:t>
            </a:r>
            <a:endParaRPr lang="en-US" sz="2800" dirty="0"/>
          </a:p>
        </p:txBody>
      </p:sp>
      <p:pic>
        <p:nvPicPr>
          <p:cNvPr id="4" name="Image 0" descr="The World's Economy Divided by Area: 미국 23.32%, 중국 13.9%, 일본 6.18%, 독일 5.17%, 영국 3.94%, 프랑스 3.81% 등">    </p:cNvPr>
          <p:cNvPicPr>
            <a:picLocks noChangeAspect="1"/>
          </p:cNvPicPr>
          <p:nvPr/>
        </p:nvPicPr>
        <p:blipFill>
          <a:blip r:embed="rId1"/>
          <a:srcRect l="-124" r="-124" t="0" b="0"/>
          <a:stretch/>
        </p:blipFill>
        <p:spPr>
          <a:xfrm>
            <a:off x="812800" y="1555651"/>
            <a:ext cx="4826000" cy="44450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45200" y="2696170"/>
            <a:ext cx="5334000" cy="0"/>
          </a:xfrm>
          <a:prstGeom prst="line">
            <a:avLst/>
          </a:prstGeom>
          <a:noFill/>
          <a:ln w="19050">
            <a:solidFill>
              <a:srgbClr val="0F234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45200" y="2069505"/>
            <a:ext cx="1447800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미국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594600" y="1752005"/>
            <a:ext cx="2576870" cy="807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160"/>
              </a:lnSpc>
              <a:buNone/>
            </a:pPr>
            <a:r>
              <a:rPr lang="en-US" sz="4400" b="1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23.32%</a:t>
            </a:r>
            <a:endParaRPr lang="en-US" sz="4400" dirty="0"/>
          </a:p>
        </p:txBody>
      </p:sp>
      <p:sp>
        <p:nvSpPr>
          <p:cNvPr id="8" name="Shape 5"/>
          <p:cNvSpPr/>
          <p:nvPr/>
        </p:nvSpPr>
        <p:spPr>
          <a:xfrm>
            <a:off x="6045200" y="3379391"/>
            <a:ext cx="53340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045200" y="2972395"/>
            <a:ext cx="1447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중국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594600" y="2883495"/>
            <a:ext cx="1034058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13.9%</a:t>
            </a:r>
            <a:endParaRPr lang="en-US" sz="2200" dirty="0"/>
          </a:p>
        </p:txBody>
      </p:sp>
      <p:sp>
        <p:nvSpPr>
          <p:cNvPr id="11" name="Shape 8"/>
          <p:cNvSpPr/>
          <p:nvPr/>
        </p:nvSpPr>
        <p:spPr>
          <a:xfrm>
            <a:off x="6045200" y="4056261"/>
            <a:ext cx="53340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45200" y="3649266"/>
            <a:ext cx="1447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일본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594600" y="3560366"/>
            <a:ext cx="1034058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6.18%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6045200" y="4733131"/>
            <a:ext cx="53340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045200" y="4326136"/>
            <a:ext cx="1447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독일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594600" y="4237236"/>
            <a:ext cx="1034058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5.17%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6045200" y="5410002"/>
            <a:ext cx="53340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45200" y="5003006"/>
            <a:ext cx="1447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한국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594600" y="4914106"/>
            <a:ext cx="83284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1.9%</a:t>
            </a:r>
            <a:endParaRPr lang="en-US" sz="2200" dirty="0"/>
          </a:p>
        </p:txBody>
      </p:sp>
      <p:sp>
        <p:nvSpPr>
          <p:cNvPr id="20" name="Text 17"/>
          <p:cNvSpPr/>
          <p:nvPr/>
        </p:nvSpPr>
        <p:spPr>
          <a:xfrm>
            <a:off x="6045200" y="5590977"/>
            <a:ext cx="54940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출처: howmuch.net, The World's Economy Divided by Area</a:t>
            </a:r>
            <a:endParaRPr lang="en-US" sz="12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58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유니버셜달러종신 · 미국과 달러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483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세계 기업 순위 Top 10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435001"/>
            <a:ext cx="562483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시가총액 </a:t>
            </a:r>
            <a:r>
              <a:rPr lang="en-US" sz="1400" b="1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(2017년 기준)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785441"/>
          <a:ext cx="5448300" cy="3680222"/>
        </p:xfrm>
        <a:graphic>
          <a:graphicData uri="http://schemas.openxmlformats.org/drawingml/2006/table">
            <a:tbl>
              <a:tblPr/>
              <a:tblGrid>
                <a:gridCol w="1961388"/>
                <a:gridCol w="762762"/>
                <a:gridCol w="1416558"/>
                <a:gridCol w="1307592"/>
              </a:tblGrid>
              <a:tr h="334566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기업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국가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시가총액(억달러)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시가총액(조원)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</a:tr>
              <a:tr h="334566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애플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미국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8,476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951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566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구글(=알파벳)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미국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6,522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732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566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마이크로소프트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미국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5,631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632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566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페이스북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미국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5,067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569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566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아마존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미국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4,997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560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566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버크셔 해서웨이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미국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4,688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526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566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알리바바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중국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4,362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489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34566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텐센트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중국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3,959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444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334566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존슨앤존슨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미국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3,481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390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566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엑슨모빌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미국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3,254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365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629400" y="1435001"/>
            <a:ext cx="4892294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브랜드 가치 </a:t>
            </a:r>
            <a:r>
              <a:rPr lang="en-US" sz="1400" b="1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(2019년 기준)</a:t>
            </a:r>
            <a:endParaRPr lang="en-US" sz="14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42100" y="1785441"/>
          <a:ext cx="4737100" cy="3680222"/>
        </p:xfrm>
        <a:graphic>
          <a:graphicData uri="http://schemas.openxmlformats.org/drawingml/2006/table">
            <a:tbl>
              <a:tblPr/>
              <a:tblGrid>
                <a:gridCol w="1042162"/>
                <a:gridCol w="2084324"/>
                <a:gridCol w="1610614"/>
              </a:tblGrid>
              <a:tr h="334566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순위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브랜드명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브랜드가치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</a:tr>
              <a:tr h="334566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1위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애플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2,055억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566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2위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구글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1,677억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566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3위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마이크로소프트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1,253억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566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4위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아마존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970억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566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5위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페이스북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889억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566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6위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코카콜라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592억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566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7C591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7위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7C591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삼성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7C591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531억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</a:tr>
              <a:tr h="334566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8위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디즈니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522억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566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9위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도요타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446억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4566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10위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맥도날드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820"/>
                        </a:lnSpc>
                        <a:buNone/>
                      </a:pPr>
                      <a:r>
                        <a:rPr lang="en-US" sz="13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438억</a:t>
                      </a:r>
                      <a:endParaRPr lang="en-US" sz="13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57785" marR="57785" marT="57785" marB="5778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유니버셜달러종신 · 미국과 달러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산업혁명의 흐름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565176"/>
            <a:ext cx="2517775" cy="4476849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9150" y="1568351"/>
            <a:ext cx="2511425" cy="1483221"/>
          </a:xfrm>
          <a:prstGeom prst="rect">
            <a:avLst/>
          </a:prstGeom>
          <a:solidFill>
            <a:srgbClr val="F3F5F8"/>
          </a:solidFill>
          <a:ln/>
        </p:spPr>
      </p:sp>
      <p:pic>
        <p:nvPicPr>
          <p:cNvPr id="6" name="Image 0" descr="Settings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022350" y="1771551"/>
            <a:ext cx="406400" cy="4064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22350" y="2228751"/>
            <a:ext cx="2168176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제1차 산업혁명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1022350" y="2599531"/>
            <a:ext cx="216817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18세기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022350" y="3254772"/>
            <a:ext cx="216817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증기기관 기반의 기계화 혁명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22350" y="3915172"/>
            <a:ext cx="216817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증기기관을 활용하여 영국의 섬유공업이 거대산업화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3492500" y="1565176"/>
            <a:ext cx="2517775" cy="4476849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95675" y="1568351"/>
            <a:ext cx="2511425" cy="1483221"/>
          </a:xfrm>
          <a:prstGeom prst="rect">
            <a:avLst/>
          </a:prstGeom>
          <a:solidFill>
            <a:srgbClr val="F3F5F8"/>
          </a:solidFill>
          <a:ln/>
        </p:spPr>
      </p:sp>
      <p:pic>
        <p:nvPicPr>
          <p:cNvPr id="13" name="Image 1" descr="Light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698875" y="1771551"/>
            <a:ext cx="406400" cy="4064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98875" y="2228751"/>
            <a:ext cx="2168176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제2차 산업혁명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3698875" y="2599531"/>
            <a:ext cx="216817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19세기~20세기 초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698875" y="3254772"/>
            <a:ext cx="216817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전기에너지 기반의 대량생산 혁명</a:t>
            </a:r>
            <a:endParaRPr lang="en-US" sz="1500" dirty="0"/>
          </a:p>
        </p:txBody>
      </p:sp>
      <p:sp>
        <p:nvSpPr>
          <p:cNvPr id="17" name="Text 13"/>
          <p:cNvSpPr/>
          <p:nvPr/>
        </p:nvSpPr>
        <p:spPr>
          <a:xfrm>
            <a:off x="3698875" y="3915172"/>
            <a:ext cx="216817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공장에 전력이 보급되어 벨트 컨베이어를 사용한 대량 생산보급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69025" y="1565176"/>
            <a:ext cx="2517775" cy="4476849"/>
          </a:xfrm>
          <a:prstGeom prst="roundRect">
            <a:avLst>
              <a:gd name="adj" fmla="val 1892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6172200" y="1568351"/>
            <a:ext cx="2511425" cy="1483221"/>
          </a:xfrm>
          <a:prstGeom prst="rect">
            <a:avLst/>
          </a:prstGeom>
          <a:solidFill>
            <a:srgbClr val="F3F5F8"/>
          </a:solidFill>
          <a:ln/>
        </p:spPr>
      </p:sp>
      <p:pic>
        <p:nvPicPr>
          <p:cNvPr id="20" name="Image 2" descr="Globe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375400" y="1771551"/>
            <a:ext cx="406400" cy="40640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375400" y="2228751"/>
            <a:ext cx="2168176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제3차 산업혁명</a:t>
            </a:r>
            <a:endParaRPr lang="en-US" sz="1800" dirty="0"/>
          </a:p>
        </p:txBody>
      </p:sp>
      <p:sp>
        <p:nvSpPr>
          <p:cNvPr id="22" name="Text 17"/>
          <p:cNvSpPr/>
          <p:nvPr/>
        </p:nvSpPr>
        <p:spPr>
          <a:xfrm>
            <a:off x="6375400" y="2599531"/>
            <a:ext cx="216817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20세기 후반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6375400" y="3254772"/>
            <a:ext cx="216817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컴퓨터와 인터넷 기반의 지식정보 혁명</a:t>
            </a:r>
            <a:endParaRPr lang="en-US" sz="1500" dirty="0"/>
          </a:p>
        </p:txBody>
      </p:sp>
      <p:sp>
        <p:nvSpPr>
          <p:cNvPr id="24" name="Text 19"/>
          <p:cNvSpPr/>
          <p:nvPr/>
        </p:nvSpPr>
        <p:spPr>
          <a:xfrm>
            <a:off x="6375400" y="3915172"/>
            <a:ext cx="2168176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인터넷과 스마트 혁명으로 미국 주도의 글로벌 IT기업 부상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8848725" y="1568351"/>
            <a:ext cx="2524125" cy="4470499"/>
          </a:xfrm>
          <a:prstGeom prst="roundRect">
            <a:avLst>
              <a:gd name="adj" fmla="val 1761"/>
            </a:avLst>
          </a:prstGeom>
          <a:solidFill>
            <a:srgbClr val="FFFFFF"/>
          </a:solidFill>
          <a:ln w="12700">
            <a:solidFill>
              <a:srgbClr val="0F2340"/>
            </a:solidFill>
            <a:prstDash val="solid"/>
          </a:ln>
        </p:spPr>
      </p:sp>
      <p:sp>
        <p:nvSpPr>
          <p:cNvPr id="26" name="Shape 21"/>
          <p:cNvSpPr/>
          <p:nvPr/>
        </p:nvSpPr>
        <p:spPr>
          <a:xfrm>
            <a:off x="8855075" y="1574701"/>
            <a:ext cx="2511425" cy="1483221"/>
          </a:xfrm>
          <a:prstGeom prst="rect">
            <a:avLst/>
          </a:prstGeom>
          <a:solidFill>
            <a:srgbClr val="0F2340"/>
          </a:solidFill>
          <a:ln/>
        </p:spPr>
      </p:sp>
      <p:pic>
        <p:nvPicPr>
          <p:cNvPr id="27" name="Image 3" descr="Cloud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9058275" y="1777901"/>
            <a:ext cx="406400" cy="406400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9058275" y="2235101"/>
            <a:ext cx="2168176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제4차 산업혁명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9058275" y="2605881"/>
            <a:ext cx="216817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6CF9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2015년~</a:t>
            </a:r>
            <a:endParaRPr lang="en-US" sz="1400" dirty="0"/>
          </a:p>
        </p:txBody>
      </p:sp>
      <p:sp>
        <p:nvSpPr>
          <p:cNvPr id="30" name="Text 24"/>
          <p:cNvSpPr/>
          <p:nvPr/>
        </p:nvSpPr>
        <p:spPr>
          <a:xfrm>
            <a:off x="9058275" y="3261122"/>
            <a:ext cx="216817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IOT/CPS/인공지능 기반의 만물초지능 혁명</a:t>
            </a:r>
            <a:endParaRPr lang="en-US" sz="1500" dirty="0"/>
          </a:p>
        </p:txBody>
      </p:sp>
      <p:sp>
        <p:nvSpPr>
          <p:cNvPr id="31" name="Text 25"/>
          <p:cNvSpPr/>
          <p:nvPr/>
        </p:nvSpPr>
        <p:spPr>
          <a:xfrm>
            <a:off x="9058275" y="3921522"/>
            <a:ext cx="2168176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사람, 사물, 공간을 초연결, 초지능화하여 산업구조 사회 시스템 혁신</a:t>
            </a:r>
            <a:endParaRPr lang="en-US" sz="13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유니버셜달러종신 · 미국과 달러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미국의 미래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365500" y="1644551"/>
            <a:ext cx="1778000" cy="1778000"/>
          </a:xfrm>
          <a:custGeom>
            <a:avLst/>
            <a:gdLst/>
            <a:ahLst/>
            <a:cxnLst/>
            <a:rect l="l" t="t" r="r" b="b"/>
            <a:pathLst>
              <a:path w="1778000" h="1778000">
                <a:moveTo>
                  <a:pt x="889000" y="0"/>
                </a:moveTo>
                <a:lnTo>
                  <a:pt x="889000" y="0"/>
                </a:lnTo>
                <a:arcTo hR="889000" wR="889000" stAng="16200000" swAng="5400000"/>
                <a:lnTo>
                  <a:pt x="1778000" y="889000"/>
                </a:lnTo>
                <a:arcTo hR="889000" wR="889000" stAng="0" swAng="5400000"/>
                <a:lnTo>
                  <a:pt x="889000" y="1778000"/>
                </a:lnTo>
                <a:arcTo hR="889000" wR="889000" stAng="5400000" swAng="5400000"/>
                <a:lnTo>
                  <a:pt x="0" y="889000"/>
                </a:lnTo>
                <a:arcTo hR="889000" wR="889000" stAng="10800000" swAng="5400000"/>
                <a:close/>
              </a:path>
            </a:pathLst>
          </a:custGeom>
          <a:solidFill>
            <a:srgbClr val="E1E6E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3D4757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제조 강국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048500" y="1644551"/>
            <a:ext cx="1778000" cy="1778000"/>
          </a:xfrm>
          <a:custGeom>
            <a:avLst/>
            <a:gdLst/>
            <a:ahLst/>
            <a:cxnLst/>
            <a:rect l="l" t="t" r="r" b="b"/>
            <a:pathLst>
              <a:path w="1778000" h="1778000">
                <a:moveTo>
                  <a:pt x="889000" y="0"/>
                </a:moveTo>
                <a:lnTo>
                  <a:pt x="889000" y="0"/>
                </a:lnTo>
                <a:arcTo hR="889000" wR="889000" stAng="16200000" swAng="5400000"/>
                <a:lnTo>
                  <a:pt x="1778000" y="889000"/>
                </a:lnTo>
                <a:arcTo hR="889000" wR="889000" stAng="0" swAng="5400000"/>
                <a:lnTo>
                  <a:pt x="889000" y="1778000"/>
                </a:lnTo>
                <a:arcTo hR="889000" wR="889000" stAng="5400000" swAng="5400000"/>
                <a:lnTo>
                  <a:pt x="0" y="889000"/>
                </a:lnTo>
                <a:arcTo hR="889000" wR="889000" stAng="10800000" swAng="5400000"/>
                <a:close/>
              </a:path>
            </a:pathLst>
          </a:custGeom>
          <a:solidFill>
            <a:srgbClr val="2E4A7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무역 강국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3365500" y="4184551"/>
            <a:ext cx="1778000" cy="1778000"/>
          </a:xfrm>
          <a:custGeom>
            <a:avLst/>
            <a:gdLst/>
            <a:ahLst/>
            <a:cxnLst/>
            <a:rect l="l" t="t" r="r" b="b"/>
            <a:pathLst>
              <a:path w="1778000" h="1778000">
                <a:moveTo>
                  <a:pt x="889000" y="0"/>
                </a:moveTo>
                <a:lnTo>
                  <a:pt x="889000" y="0"/>
                </a:lnTo>
                <a:arcTo hR="889000" wR="889000" stAng="16200000" swAng="5400000"/>
                <a:lnTo>
                  <a:pt x="1778000" y="889000"/>
                </a:lnTo>
                <a:arcTo hR="889000" wR="889000" stAng="0" swAng="5400000"/>
                <a:lnTo>
                  <a:pt x="889000" y="1778000"/>
                </a:lnTo>
                <a:arcTo hR="889000" wR="889000" stAng="5400000" swAng="5400000"/>
                <a:lnTo>
                  <a:pt x="0" y="889000"/>
                </a:lnTo>
                <a:arcTo hR="889000" wR="889000" stAng="10800000" swAng="5400000"/>
                <a:close/>
              </a:path>
            </a:pathLst>
          </a:custGeom>
          <a:solidFill>
            <a:srgbClr val="2E4A72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군사 강국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048500" y="4184551"/>
            <a:ext cx="1778000" cy="1778000"/>
          </a:xfrm>
          <a:custGeom>
            <a:avLst/>
            <a:gdLst/>
            <a:ahLst/>
            <a:cxnLst/>
            <a:rect l="l" t="t" r="r" b="b"/>
            <a:pathLst>
              <a:path w="1778000" h="1778000">
                <a:moveTo>
                  <a:pt x="889000" y="0"/>
                </a:moveTo>
                <a:lnTo>
                  <a:pt x="889000" y="0"/>
                </a:lnTo>
                <a:arcTo hR="889000" wR="889000" stAng="16200000" swAng="5400000"/>
                <a:lnTo>
                  <a:pt x="1778000" y="889000"/>
                </a:lnTo>
                <a:arcTo hR="889000" wR="889000" stAng="0" swAng="5400000"/>
                <a:lnTo>
                  <a:pt x="889000" y="1778000"/>
                </a:lnTo>
                <a:arcTo hR="889000" wR="889000" stAng="5400000" swAng="5400000"/>
                <a:lnTo>
                  <a:pt x="0" y="889000"/>
                </a:lnTo>
                <a:arcTo hR="889000" wR="889000" stAng="10800000" swAng="5400000"/>
                <a:close/>
              </a:path>
            </a:pathLst>
          </a:custGeom>
          <a:solidFill>
            <a:srgbClr val="E1E6ED"/>
          </a:solidFill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3D4757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기술 강국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143500" y="2851051"/>
            <a:ext cx="1905000" cy="1905000"/>
          </a:xfrm>
          <a:prstGeom prst="roundRect">
            <a:avLst>
              <a:gd name="adj" fmla="val 50000"/>
            </a:avLst>
          </a:prstGeom>
          <a:solidFill>
            <a:srgbClr val="0F2340"/>
          </a:solidFill>
          <a:ln/>
        </p:spPr>
      </p:sp>
      <p:sp>
        <p:nvSpPr>
          <p:cNvPr id="9" name="Text 7"/>
          <p:cNvSpPr/>
          <p:nvPr/>
        </p:nvSpPr>
        <p:spPr>
          <a:xfrm>
            <a:off x="5868472" y="3290491"/>
            <a:ext cx="455057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$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5379244" y="3925491"/>
            <a:ext cx="1433513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금융 강국</a:t>
            </a:r>
            <a:endParaRPr lang="en-US" sz="22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유니버셜달러종신 · 미국과 달러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가격 변동: 물가는 계속 오른다</a:t>
            </a:r>
            <a:endParaRPr lang="en-US" sz="2800" dirty="0"/>
          </a:p>
        </p:txBody>
      </p:sp>
      <p:pic>
        <p:nvPicPr>
          <p:cNvPr id="4" name="Image 0" descr="짜장면 가격 추이(단위: 원): 1960년 15, 1970년 200, 1980년 800, 1990년 1300, 2000년 3000, 2010년 4500. 자료: 인천 짜장면박물관">    </p:cNvPr>
          <p:cNvPicPr>
            <a:picLocks noChangeAspect="1"/>
          </p:cNvPicPr>
          <p:nvPr/>
        </p:nvPicPr>
        <p:blipFill>
          <a:blip r:embed="rId1"/>
          <a:srcRect l="0" r="0" t="-75" b="-75"/>
          <a:stretch/>
        </p:blipFill>
        <p:spPr>
          <a:xfrm>
            <a:off x="927100" y="1741091"/>
            <a:ext cx="5461000" cy="3810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084913" y="5652691"/>
            <a:ext cx="314527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짜장면 가격 추이 · 자료: 인천 짜장면박물관</a:t>
            </a:r>
            <a:endParaRPr lang="en-US" sz="1200" dirty="0"/>
          </a:p>
        </p:txBody>
      </p:sp>
      <p:pic>
        <p:nvPicPr>
          <p:cNvPr id="6" name="Image 1" descr="1990~2018년 교통비 변화(단위: 원): 택시 기본요금 800→3000, 지하철 250→1350, 시내버스 140→1300. 자료: 한국물가정보">    </p:cNvPr>
          <p:cNvPicPr>
            <a:picLocks noChangeAspect="1"/>
          </p:cNvPicPr>
          <p:nvPr/>
        </p:nvPicPr>
        <p:blipFill>
          <a:blip r:embed="rId2"/>
          <a:srcRect l="0" r="0" t="-84" b="-84"/>
          <a:stretch/>
        </p:blipFill>
        <p:spPr>
          <a:xfrm>
            <a:off x="6807200" y="1868091"/>
            <a:ext cx="4572000" cy="35560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293094" y="5525691"/>
            <a:ext cx="360021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1990~2018년 교통비 변화 · 자료: 한국물가정보</a:t>
            </a:r>
            <a:endParaRPr lang="en-US" sz="12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유니버셜달러종신 · 미국과 달러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예전과 현재: 같은 1달러</a:t>
            </a:r>
            <a:endParaRPr lang="en-US" sz="2800" dirty="0"/>
          </a:p>
        </p:txBody>
      </p:sp>
      <p:pic>
        <p:nvPicPr>
          <p:cNvPr id="4" name="Image 0" descr="예전 해변 풍경 흑백 사진">    </p:cNvPr>
          <p:cNvPicPr>
            <a:picLocks noChangeAspect="1"/>
          </p:cNvPicPr>
          <p:nvPr/>
        </p:nvPicPr>
        <p:blipFill>
          <a:blip r:embed="rId1"/>
          <a:srcRect l="0" r="0" t="56" b="56"/>
          <a:stretch/>
        </p:blipFill>
        <p:spPr>
          <a:xfrm>
            <a:off x="812800" y="2193230"/>
            <a:ext cx="4318000" cy="2870200"/>
          </a:xfrm>
          <a:prstGeom prst="roundRect">
            <a:avLst>
              <a:gd name="adj" fmla="val 1770"/>
            </a:avLst>
          </a:prstGeom>
        </p:spPr>
      </p:pic>
      <p:sp>
        <p:nvSpPr>
          <p:cNvPr id="5" name="Text 2"/>
          <p:cNvSpPr/>
          <p:nvPr/>
        </p:nvSpPr>
        <p:spPr>
          <a:xfrm>
            <a:off x="812800" y="5165030"/>
            <a:ext cx="444754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예전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539155" y="3270151"/>
            <a:ext cx="1113592" cy="1092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8400"/>
              </a:lnSpc>
              <a:buNone/>
            </a:pPr>
            <a:r>
              <a:rPr lang="en-US" sz="6000" b="1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1$</a:t>
            </a:r>
            <a:endParaRPr lang="en-US" sz="6000" dirty="0"/>
          </a:p>
        </p:txBody>
      </p:sp>
      <p:pic>
        <p:nvPicPr>
          <p:cNvPr id="7" name="Image 1" descr="현재 리조트 워터파크 풍경">    </p:cNvPr>
          <p:cNvPicPr>
            <a:picLocks noChangeAspect="1"/>
          </p:cNvPicPr>
          <p:nvPr/>
        </p:nvPicPr>
        <p:blipFill>
          <a:blip r:embed="rId2"/>
          <a:srcRect l="0" r="0" t="56" b="56"/>
          <a:stretch/>
        </p:blipFill>
        <p:spPr>
          <a:xfrm>
            <a:off x="7061200" y="2193230"/>
            <a:ext cx="4318000" cy="2870200"/>
          </a:xfrm>
          <a:prstGeom prst="roundRect">
            <a:avLst>
              <a:gd name="adj" fmla="val 1770"/>
            </a:avLst>
          </a:prstGeom>
        </p:spPr>
      </p:pic>
      <p:sp>
        <p:nvSpPr>
          <p:cNvPr id="8" name="Text 4"/>
          <p:cNvSpPr/>
          <p:nvPr/>
        </p:nvSpPr>
        <p:spPr>
          <a:xfrm>
            <a:off x="7061200" y="5165030"/>
            <a:ext cx="4447540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현재</a:t>
            </a:r>
            <a:endParaRPr lang="en-US" sz="14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유니버셜달러종신 · 미국과 달러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과거: 1897년과 1907년</a:t>
            </a:r>
            <a:endParaRPr lang="en-US" sz="2800" dirty="0"/>
          </a:p>
        </p:txBody>
      </p:sp>
      <p:pic>
        <p:nvPicPr>
          <p:cNvPr id="4" name="Image 0" descr="1897년 작성된 오래된 문서">    </p:cNvPr>
          <p:cNvPicPr>
            <a:picLocks noChangeAspect="1"/>
          </p:cNvPicPr>
          <p:nvPr/>
        </p:nvPicPr>
        <p:blipFill>
          <a:blip r:embed="rId1"/>
          <a:srcRect l="-193" r="-193" t="0" b="0"/>
          <a:stretch/>
        </p:blipFill>
        <p:spPr>
          <a:xfrm>
            <a:off x="694234" y="2992140"/>
            <a:ext cx="3556000" cy="2667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4544" y="5760740"/>
            <a:ext cx="129528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1897년 작성</a:t>
            </a:r>
            <a:endParaRPr lang="en-US" sz="1600" dirty="0"/>
          </a:p>
        </p:txBody>
      </p:sp>
      <p:pic>
        <p:nvPicPr>
          <p:cNvPr id="6" name="Image 1" descr="1907년 완공된 뉴욕의 고층 타워 흑백 사진">    </p:cNvPr>
          <p:cNvPicPr>
            <a:picLocks noChangeAspect="1"/>
          </p:cNvPicPr>
          <p:nvPr/>
        </p:nvPicPr>
        <p:blipFill>
          <a:blip r:embed="rId2"/>
          <a:srcRect l="0" r="0" t="-40" b="-40"/>
          <a:stretch/>
        </p:blipFill>
        <p:spPr>
          <a:xfrm>
            <a:off x="4825901" y="1988840"/>
            <a:ext cx="2540000" cy="36703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448310" y="5760740"/>
            <a:ext cx="1295281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1907년 완공</a:t>
            </a:r>
            <a:endParaRPr lang="en-US" sz="1600" dirty="0"/>
          </a:p>
        </p:txBody>
      </p:sp>
      <p:pic>
        <p:nvPicPr>
          <p:cNvPr id="8" name="Image 2" descr="가족 일러스트">    </p:cNvPr>
          <p:cNvPicPr>
            <a:picLocks noChangeAspect="1"/>
          </p:cNvPicPr>
          <p:nvPr/>
        </p:nvPicPr>
        <p:blipFill>
          <a:blip r:embed="rId3"/>
          <a:srcRect l="0" r="0" t="-12" b="-12"/>
          <a:stretch/>
        </p:blipFill>
        <p:spPr>
          <a:xfrm>
            <a:off x="8195667" y="3549650"/>
            <a:ext cx="3048000" cy="2495550"/>
          </a:xfrm>
          <a:prstGeom prst="rect">
            <a:avLst/>
          </a:prstGeom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D9B3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유니버셜달러종신 · 미국과 달러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과거에서 미래로</a:t>
            </a:r>
            <a:endParaRPr lang="en-US" sz="2800" dirty="0"/>
          </a:p>
        </p:txBody>
      </p:sp>
      <p:pic>
        <p:nvPicPr>
          <p:cNvPr id="4" name="Image 0" descr="영화 백 투 더 퓨처 포스터">    </p:cNvPr>
          <p:cNvPicPr>
            <a:picLocks noChangeAspect="1"/>
          </p:cNvPicPr>
          <p:nvPr/>
        </p:nvPicPr>
        <p:blipFill>
          <a:blip r:embed="rId1"/>
          <a:srcRect l="16766" r="16766" t="0" b="0"/>
          <a:stretch/>
        </p:blipFill>
        <p:spPr>
          <a:xfrm>
            <a:off x="812800" y="1562001"/>
            <a:ext cx="5080000" cy="4279900"/>
          </a:xfrm>
          <a:prstGeom prst="roundRect">
            <a:avLst>
              <a:gd name="adj" fmla="val 1187"/>
            </a:avLst>
          </a:prstGeom>
        </p:spPr>
      </p:pic>
      <p:pic>
        <p:nvPicPr>
          <p:cNvPr id="5" name="Image 1" descr="영화 장면: 타임머신 자동차 옆의 두 주인공">    </p:cNvPr>
          <p:cNvPicPr>
            <a:picLocks noChangeAspect="1"/>
          </p:cNvPicPr>
          <p:nvPr/>
        </p:nvPicPr>
        <p:blipFill>
          <a:blip r:embed="rId2"/>
          <a:srcRect l="0" r="0" t="20640" b="20640"/>
          <a:stretch/>
        </p:blipFill>
        <p:spPr>
          <a:xfrm>
            <a:off x="6096000" y="1562001"/>
            <a:ext cx="5283200" cy="2038350"/>
          </a:xfrm>
          <a:prstGeom prst="roundRect">
            <a:avLst>
              <a:gd name="adj" fmla="val 2492"/>
            </a:avLst>
          </a:prstGeom>
        </p:spPr>
      </p:pic>
      <p:pic>
        <p:nvPicPr>
          <p:cNvPr id="6" name="Image 2" descr="영화 장면: 리모컨을 든 박사와 캠코더를 든 주인공">    </p:cNvPr>
          <p:cNvPicPr>
            <a:picLocks noChangeAspect="1"/>
          </p:cNvPicPr>
          <p:nvPr/>
        </p:nvPicPr>
        <p:blipFill>
          <a:blip r:embed="rId3"/>
          <a:srcRect l="0" r="0" t="14341" b="14341"/>
          <a:stretch/>
        </p:blipFill>
        <p:spPr>
          <a:xfrm>
            <a:off x="6096000" y="3803551"/>
            <a:ext cx="5283200" cy="2038350"/>
          </a:xfrm>
          <a:prstGeom prst="roundRect">
            <a:avLst>
              <a:gd name="adj" fmla="val 2492"/>
            </a:avLst>
          </a:prstGeom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BF4E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type="title"/>
          </p:nvPr>
        </p:nvSpPr>
        <p:spPr>
          <a:xfrm>
            <a:off x="654304" y="1581150"/>
            <a:ext cx="10883392" cy="1244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4800"/>
              </a:lnSpc>
              <a:buNone/>
            </a:pPr>
            <a:r>
              <a:rPr lang="en-US" sz="40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30년 후, 어떤 화폐로</a:t>
            </a:r>
            <a:endParaRPr lang="en-US" sz="4000" dirty="0"/>
          </a:p>
          <a:p>
            <a:pPr algn="ctr" indent="0" marL="0">
              <a:lnSpc>
                <a:spcPts val="4800"/>
              </a:lnSpc>
              <a:buNone/>
            </a:pPr>
            <a:r>
              <a:rPr lang="en-US" sz="40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보험금을 받고 싶으세요?</a:t>
            </a:r>
            <a:endParaRPr lang="en-US" sz="4000" dirty="0"/>
          </a:p>
        </p:txBody>
      </p:sp>
      <p:pic>
        <p:nvPicPr>
          <p:cNvPr id="3" name="Image 0" descr="미국 100달러 지폐">    </p:cNvPr>
          <p:cNvPicPr>
            <a:picLocks noChangeAspect="1"/>
          </p:cNvPicPr>
          <p:nvPr/>
        </p:nvPicPr>
        <p:blipFill>
          <a:blip r:embed="rId1"/>
          <a:srcRect l="-66" r="-66" t="0" b="0"/>
          <a:stretch/>
        </p:blipFill>
        <p:spPr>
          <a:xfrm>
            <a:off x="1093887" y="3155950"/>
            <a:ext cx="4572000" cy="19177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072287" y="3865860"/>
            <a:ext cx="468392" cy="5231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920"/>
              </a:lnSpc>
              <a:buNone/>
            </a:pPr>
            <a:r>
              <a:rPr lang="en-US" sz="2800" b="1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vs</a:t>
            </a:r>
            <a:endParaRPr lang="en-US" sz="2800" dirty="0"/>
          </a:p>
        </p:txBody>
      </p:sp>
      <p:pic>
        <p:nvPicPr>
          <p:cNvPr id="5" name="Image 1" descr="한국 5만원권 지폐">    </p:cNvPr>
          <p:cNvPicPr>
            <a:picLocks noChangeAspect="1"/>
          </p:cNvPicPr>
          <p:nvPr/>
        </p:nvPicPr>
        <p:blipFill>
          <a:blip r:embed="rId2"/>
          <a:srcRect l="-82" r="-82" t="0" b="0"/>
          <a:stretch/>
        </p:blipFill>
        <p:spPr>
          <a:xfrm>
            <a:off x="6869013" y="3155950"/>
            <a:ext cx="4229100" cy="1917700"/>
          </a:xfrm>
          <a:prstGeom prst="rect">
            <a:avLst/>
          </a:prstGeom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유니버셜달러종신 · 미국과 달러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합리적인 포트폴리오 구성이란?</a:t>
            </a:r>
            <a:endParaRPr lang="en-US" sz="2800" dirty="0"/>
          </a:p>
        </p:txBody>
      </p:sp>
      <p:pic>
        <p:nvPicPr>
          <p:cNvPr id="4" name="Image 0" descr="5만원권 현금">    </p:cNvPr>
          <p:cNvPicPr>
            <a:picLocks noChangeAspect="1"/>
          </p:cNvPicPr>
          <p:nvPr/>
        </p:nvPicPr>
        <p:blipFill>
          <a:blip r:embed="rId1"/>
          <a:srcRect l="0" r="0" t="12362" b="12362"/>
          <a:stretch/>
        </p:blipFill>
        <p:spPr>
          <a:xfrm>
            <a:off x="812800" y="1562001"/>
            <a:ext cx="3422650" cy="1714500"/>
          </a:xfrm>
          <a:prstGeom prst="roundRect">
            <a:avLst>
              <a:gd name="adj" fmla="val 2963"/>
            </a:avLst>
          </a:prstGeom>
        </p:spPr>
      </p:pic>
      <p:sp>
        <p:nvSpPr>
          <p:cNvPr id="5" name="Text 2"/>
          <p:cNvSpPr/>
          <p:nvPr/>
        </p:nvSpPr>
        <p:spPr>
          <a:xfrm>
            <a:off x="812800" y="3352701"/>
            <a:ext cx="352308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원화 현금</a:t>
            </a:r>
            <a:endParaRPr lang="en-US" sz="1400" dirty="0"/>
          </a:p>
        </p:txBody>
      </p:sp>
      <p:pic>
        <p:nvPicPr>
          <p:cNvPr id="6" name="Image 1" descr="미국 100달러 지폐">    </p:cNvPr>
          <p:cNvPicPr>
            <a:picLocks noChangeAspect="1"/>
          </p:cNvPicPr>
          <p:nvPr/>
        </p:nvPicPr>
        <p:blipFill>
          <a:blip r:embed="rId2"/>
          <a:srcRect l="562" r="562" t="0" b="0"/>
          <a:stretch/>
        </p:blipFill>
        <p:spPr>
          <a:xfrm>
            <a:off x="4385667" y="1562001"/>
            <a:ext cx="3422650" cy="1714500"/>
          </a:xfrm>
          <a:prstGeom prst="roundRect">
            <a:avLst>
              <a:gd name="adj" fmla="val 2963"/>
            </a:avLst>
          </a:prstGeom>
        </p:spPr>
      </p:pic>
      <p:sp>
        <p:nvSpPr>
          <p:cNvPr id="7" name="Text 3"/>
          <p:cNvSpPr/>
          <p:nvPr/>
        </p:nvSpPr>
        <p:spPr>
          <a:xfrm>
            <a:off x="4385667" y="3352701"/>
            <a:ext cx="352318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달러</a:t>
            </a:r>
            <a:endParaRPr lang="en-US" sz="1400" dirty="0"/>
          </a:p>
        </p:txBody>
      </p:sp>
      <p:pic>
        <p:nvPicPr>
          <p:cNvPr id="8" name="Image 2" descr="쌓여 있는 금괴">    </p:cNvPr>
          <p:cNvPicPr>
            <a:picLocks noChangeAspect="1"/>
          </p:cNvPicPr>
          <p:nvPr/>
        </p:nvPicPr>
        <p:blipFill>
          <a:blip r:embed="rId3"/>
          <a:srcRect l="0" r="0" t="28279" b="28279"/>
          <a:stretch/>
        </p:blipFill>
        <p:spPr>
          <a:xfrm>
            <a:off x="7958634" y="1562001"/>
            <a:ext cx="3422650" cy="1714500"/>
          </a:xfrm>
          <a:prstGeom prst="roundRect">
            <a:avLst>
              <a:gd name="adj" fmla="val 2963"/>
            </a:avLst>
          </a:prstGeom>
        </p:spPr>
      </p:pic>
      <p:sp>
        <p:nvSpPr>
          <p:cNvPr id="9" name="Text 4"/>
          <p:cNvSpPr/>
          <p:nvPr/>
        </p:nvSpPr>
        <p:spPr>
          <a:xfrm>
            <a:off x="7958634" y="3352701"/>
            <a:ext cx="352318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금</a:t>
            </a:r>
            <a:endParaRPr lang="en-US" sz="1400" dirty="0"/>
          </a:p>
        </p:txBody>
      </p:sp>
      <p:pic>
        <p:nvPicPr>
          <p:cNvPr id="10" name="Image 3" descr="상가 건물">    </p:cNvPr>
          <p:cNvPicPr>
            <a:picLocks noChangeAspect="1"/>
          </p:cNvPicPr>
          <p:nvPr/>
        </p:nvPicPr>
        <p:blipFill>
          <a:blip r:embed="rId4"/>
          <a:srcRect l="0" r="0" t="14617" b="14617"/>
          <a:stretch/>
        </p:blipFill>
        <p:spPr>
          <a:xfrm>
            <a:off x="812800" y="3879751"/>
            <a:ext cx="3422650" cy="1714500"/>
          </a:xfrm>
          <a:prstGeom prst="roundRect">
            <a:avLst>
              <a:gd name="adj" fmla="val 2963"/>
            </a:avLst>
          </a:prstGeom>
        </p:spPr>
      </p:pic>
      <p:sp>
        <p:nvSpPr>
          <p:cNvPr id="11" name="Text 5"/>
          <p:cNvSpPr/>
          <p:nvPr/>
        </p:nvSpPr>
        <p:spPr>
          <a:xfrm>
            <a:off x="812800" y="5670451"/>
            <a:ext cx="3523081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부동산</a:t>
            </a:r>
            <a:endParaRPr lang="en-US" sz="1400" dirty="0"/>
          </a:p>
        </p:txBody>
      </p:sp>
      <p:pic>
        <p:nvPicPr>
          <p:cNvPr id="12" name="Image 4" descr="상승하는 주식 시세판">    </p:cNvPr>
          <p:cNvPicPr>
            <a:picLocks noChangeAspect="1"/>
          </p:cNvPicPr>
          <p:nvPr/>
        </p:nvPicPr>
        <p:blipFill>
          <a:blip r:embed="rId5"/>
          <a:srcRect l="0" r="0" t="16562" b="16562"/>
          <a:stretch/>
        </p:blipFill>
        <p:spPr>
          <a:xfrm>
            <a:off x="4385667" y="3879751"/>
            <a:ext cx="3422650" cy="1714500"/>
          </a:xfrm>
          <a:prstGeom prst="roundRect">
            <a:avLst>
              <a:gd name="adj" fmla="val 2963"/>
            </a:avLst>
          </a:prstGeom>
        </p:spPr>
      </p:pic>
      <p:sp>
        <p:nvSpPr>
          <p:cNvPr id="13" name="Text 6"/>
          <p:cNvSpPr/>
          <p:nvPr/>
        </p:nvSpPr>
        <p:spPr>
          <a:xfrm>
            <a:off x="4385667" y="5670451"/>
            <a:ext cx="3523183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주식·금융투자</a:t>
            </a:r>
            <a:endParaRPr lang="en-US" sz="14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유니버셜달러종신 · 미국과 달러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원·달러 환율 추이 (10년)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562001"/>
            <a:ext cx="10566400" cy="4064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원달러 환율 10년 추이(2009.06~2019.06): 2019.06.04 1,180.80원, 최고 1,315.00원, 최저 1,007.00원. KEB하나은행 고시">    </p:cNvPr>
          <p:cNvPicPr>
            <a:picLocks noChangeAspect="1"/>
          </p:cNvPicPr>
          <p:nvPr/>
        </p:nvPicPr>
        <p:blipFill>
          <a:blip r:embed="rId1"/>
          <a:srcRect l="-9986" r="-9986" t="0" b="0"/>
          <a:stretch/>
        </p:blipFill>
        <p:spPr>
          <a:xfrm>
            <a:off x="812800" y="1562001"/>
            <a:ext cx="10566400" cy="406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62636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2019.06.04 11:48 KEB하나은행 고시회차 178회 기준 화면</a:t>
            </a:r>
            <a:endParaRPr lang="en-US" sz="12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합리적인 포트폴리오 구성이란?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원/달러 환율, 20년간 역사적 평균은 1,000~1,200원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562001"/>
            <a:ext cx="10566400" cy="3810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원/달러 환율 20년 차트, 1,000원과 1,200원 사이 구간 표시">    </p:cNvPr>
          <p:cNvPicPr>
            <a:picLocks noChangeAspect="1"/>
          </p:cNvPicPr>
          <p:nvPr/>
        </p:nvPicPr>
        <p:blipFill>
          <a:blip r:embed="rId1"/>
          <a:srcRect l="-52229" r="-52229" t="0" b="0"/>
          <a:stretch/>
        </p:blipFill>
        <p:spPr>
          <a:xfrm>
            <a:off x="812800" y="1562001"/>
            <a:ext cx="10566400" cy="3810000"/>
          </a:xfrm>
          <a:prstGeom prst="rect">
            <a:avLst/>
          </a:prstGeom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유니버셜달러종신 · 미국과 달러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위기 때 강한 달러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536601"/>
            <a:ext cx="5130800" cy="2794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1997년 IMF 외환위기 당시 원달러 환율 2,000원 돌파 신문 기사">    </p:cNvPr>
          <p:cNvPicPr>
            <a:picLocks noChangeAspect="1"/>
          </p:cNvPicPr>
          <p:nvPr/>
        </p:nvPicPr>
        <p:blipFill>
          <a:blip r:embed="rId1"/>
          <a:srcRect l="-67521" r="-67521" t="0" b="0"/>
          <a:stretch/>
        </p:blipFill>
        <p:spPr>
          <a:xfrm>
            <a:off x="812800" y="1536601"/>
            <a:ext cx="5130800" cy="279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190552" y="4432201"/>
            <a:ext cx="2375297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A318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1997년 IMF 금융위기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2382004" y="4836021"/>
            <a:ext cx="1992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[출처: 경향신문, 1997.12]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831975" y="5150941"/>
            <a:ext cx="3092351" cy="444500"/>
          </a:xfrm>
          <a:prstGeom prst="roundRect">
            <a:avLst>
              <a:gd name="adj" fmla="val 5714"/>
            </a:avLst>
          </a:prstGeom>
          <a:solidFill>
            <a:srgbClr val="0F234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✓ ‘달러’는 금처럼 위기일 때 강하다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248400" y="1536601"/>
            <a:ext cx="5130800" cy="2794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1" descr="2008년 금융위기 원달러 환율 차트: 최고 1,575.00원(03/02), 최저 923.60원(12/10)">    </p:cNvPr>
          <p:cNvPicPr>
            <a:picLocks noChangeAspect="1"/>
          </p:cNvPicPr>
          <p:nvPr/>
        </p:nvPicPr>
        <p:blipFill>
          <a:blip r:embed="rId2"/>
          <a:srcRect l="-53761" r="-53761" t="0" b="0"/>
          <a:stretch/>
        </p:blipFill>
        <p:spPr>
          <a:xfrm>
            <a:off x="6248400" y="1536601"/>
            <a:ext cx="5130800" cy="2794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517328" y="4432201"/>
            <a:ext cx="2592943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380"/>
              </a:lnSpc>
              <a:buNone/>
            </a:pPr>
            <a:r>
              <a:rPr lang="en-US" sz="1700" b="1" dirty="0">
                <a:solidFill>
                  <a:srgbClr val="A318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2008년 미국발 금융위기</a:t>
            </a:r>
            <a:endParaRPr lang="en-US" sz="1700" dirty="0"/>
          </a:p>
        </p:txBody>
      </p:sp>
      <p:sp>
        <p:nvSpPr>
          <p:cNvPr id="12" name="Text 8"/>
          <p:cNvSpPr/>
          <p:nvPr/>
        </p:nvSpPr>
        <p:spPr>
          <a:xfrm>
            <a:off x="7951797" y="4836021"/>
            <a:ext cx="1723906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[출처: 네이버 환율검색]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465318" y="5150941"/>
            <a:ext cx="2696865" cy="444500"/>
          </a:xfrm>
          <a:prstGeom prst="roundRect">
            <a:avLst>
              <a:gd name="adj" fmla="val 5714"/>
            </a:avLst>
          </a:prstGeom>
          <a:solidFill>
            <a:srgbClr val="0F2340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✓ 미국의 위험 ≠ ‘달러’의 위험</a:t>
            </a:r>
            <a:endParaRPr lang="en-US" sz="1500" dirty="0"/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259595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유니버셜달러종신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3022600"/>
            <a:ext cx="10883392" cy="784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980"/>
              </a:lnSpc>
              <a:buNone/>
            </a:pPr>
            <a:r>
              <a:rPr lang="en-US" sz="52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상품의 포인트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12800" y="3959820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Sales Point · 상품의 가치 · 납입방법 · 보증형 vs 무보증형 · 할인 혜택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12800" y="61874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본 자료는 교육용으로, 고객상담용으로 직접 사용하실 수 없습니다. 준법감시인확인필 -6006-2001-314958</a:t>
            </a:r>
            <a:endParaRPr lang="en-US" sz="12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(무)유니버셜달러종신보험 Sales Point · 1/2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상품 구조와 비용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546126"/>
            <a:ext cx="10566400" cy="0"/>
          </a:xfrm>
          <a:prstGeom prst="line">
            <a:avLst/>
          </a:prstGeom>
          <a:noFill/>
          <a:ln w="19050">
            <a:solidFill>
              <a:srgbClr val="0F23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2097286"/>
            <a:ext cx="105664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pic>
        <p:nvPicPr>
          <p:cNvPr id="6" name="Image 0" descr="Che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689001"/>
            <a:ext cx="203200" cy="203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19200" y="1682651"/>
            <a:ext cx="104648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달러를 기본 통화로 하여 미국 장기국채와 회사채 등으로 포트폴리오를 구성, 운용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812800" y="2898577"/>
            <a:ext cx="105664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pic>
        <p:nvPicPr>
          <p:cNvPr id="9" name="Image 1" descr="Che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2233811"/>
            <a:ext cx="203200" cy="203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19200" y="2227461"/>
            <a:ext cx="104648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원화상품 대비 합리적인 보험료, 높은 환급율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219200" y="2537321"/>
            <a:ext cx="10464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당사 적용이율 2.75% 확정금리형 종신보험 비교 시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812800" y="3699867"/>
            <a:ext cx="105664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pic>
        <p:nvPicPr>
          <p:cNvPr id="13" name="Image 2" descr="Che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3035102"/>
            <a:ext cx="203200" cy="203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19200" y="3028752"/>
            <a:ext cx="104648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최저해지환급금 2.7% 보증</a:t>
            </a:r>
            <a:endParaRPr lang="en-US" sz="1600" dirty="0"/>
          </a:p>
        </p:txBody>
      </p:sp>
      <p:sp>
        <p:nvSpPr>
          <p:cNvPr id="15" name="Text 10"/>
          <p:cNvSpPr/>
          <p:nvPr/>
        </p:nvSpPr>
        <p:spPr>
          <a:xfrm>
            <a:off x="1219200" y="3338612"/>
            <a:ext cx="10464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보증형 선택 시</a:t>
            </a:r>
            <a:endParaRPr lang="en-US" sz="1300" dirty="0"/>
          </a:p>
        </p:txBody>
      </p:sp>
      <p:sp>
        <p:nvSpPr>
          <p:cNvPr id="16" name="Shape 11"/>
          <p:cNvSpPr/>
          <p:nvPr/>
        </p:nvSpPr>
        <p:spPr>
          <a:xfrm>
            <a:off x="812800" y="4244677"/>
            <a:ext cx="105664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pic>
        <p:nvPicPr>
          <p:cNvPr id="17" name="Image 3" descr="Che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00" y="3836392"/>
            <a:ext cx="203200" cy="203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19200" y="3830042"/>
            <a:ext cx="104648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환전수수료 90% 우대</a:t>
            </a:r>
            <a:endParaRPr lang="en-US" sz="1600" dirty="0"/>
          </a:p>
        </p:txBody>
      </p:sp>
      <p:sp>
        <p:nvSpPr>
          <p:cNvPr id="19" name="Shape 13"/>
          <p:cNvSpPr/>
          <p:nvPr/>
        </p:nvSpPr>
        <p:spPr>
          <a:xfrm>
            <a:off x="812800" y="5045968"/>
            <a:ext cx="105664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pic>
        <p:nvPicPr>
          <p:cNvPr id="20" name="Image 4" descr="Che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12800" y="4381202"/>
            <a:ext cx="203200" cy="20320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1219200" y="4374852"/>
            <a:ext cx="104648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의무납입기간 24개월</a:t>
            </a:r>
            <a:endParaRPr lang="en-US" sz="1600" dirty="0"/>
          </a:p>
        </p:txBody>
      </p:sp>
      <p:sp>
        <p:nvSpPr>
          <p:cNvPr id="22" name="Text 15"/>
          <p:cNvSpPr/>
          <p:nvPr/>
        </p:nvSpPr>
        <p:spPr>
          <a:xfrm>
            <a:off x="1219200" y="4684713"/>
            <a:ext cx="10464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의무납입기간 내 선납 가능, 의무납입기간 이후 연 기본보험료의 200% 납입 가능</a:t>
            </a:r>
            <a:endParaRPr lang="en-US" sz="1300" dirty="0"/>
          </a:p>
        </p:txBody>
      </p:sp>
      <p:sp>
        <p:nvSpPr>
          <p:cNvPr id="23" name="Shape 16"/>
          <p:cNvSpPr/>
          <p:nvPr/>
        </p:nvSpPr>
        <p:spPr>
          <a:xfrm>
            <a:off x="812800" y="5847259"/>
            <a:ext cx="105664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pic>
        <p:nvPicPr>
          <p:cNvPr id="24" name="Image 5" descr="Check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2800" y="5182493"/>
            <a:ext cx="203200" cy="2032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19200" y="5176143"/>
            <a:ext cx="1046480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추가납입 100%</a:t>
            </a:r>
            <a:endParaRPr lang="en-US" sz="1600" dirty="0"/>
          </a:p>
        </p:txBody>
      </p:sp>
      <p:sp>
        <p:nvSpPr>
          <p:cNvPr id="26" name="Text 18"/>
          <p:cNvSpPr/>
          <p:nvPr/>
        </p:nvSpPr>
        <p:spPr>
          <a:xfrm>
            <a:off x="1219200" y="5486003"/>
            <a:ext cx="10464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추가납입 수수료 1.5% + 보증수수료 3.0%</a:t>
            </a:r>
            <a:endParaRPr lang="en-US" sz="1300" dirty="0"/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(무)유니버셜달러종신보험 Sales Point · 2/2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납입 · 인출 · 인수 · 서비스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546126"/>
            <a:ext cx="10566400" cy="0"/>
          </a:xfrm>
          <a:prstGeom prst="line">
            <a:avLst/>
          </a:prstGeom>
          <a:noFill/>
          <a:ln w="19050">
            <a:solidFill>
              <a:srgbClr val="0F234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12800" y="2035076"/>
            <a:ext cx="105664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pic>
        <p:nvPicPr>
          <p:cNvPr id="6" name="Image 0" descr="Check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812800" y="1657251"/>
            <a:ext cx="203200" cy="203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219200" y="1663601"/>
            <a:ext cx="168175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원화고정납입서비스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2900958" y="1695351"/>
            <a:ext cx="102965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(15~130%)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812800" y="2517676"/>
            <a:ext cx="105664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pic>
        <p:nvPicPr>
          <p:cNvPr id="10" name="Image 1" descr="Check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12800" y="2139851"/>
            <a:ext cx="203200" cy="2032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19200" y="2146201"/>
            <a:ext cx="81569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중도인출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2051348" y="2177951"/>
            <a:ext cx="215515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(연 12회, 해지환급금 이내)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812800" y="3000276"/>
            <a:ext cx="105664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pic>
        <p:nvPicPr>
          <p:cNvPr id="14" name="Image 2" descr="Che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12800" y="2622451"/>
            <a:ext cx="203200" cy="203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219200" y="2628801"/>
            <a:ext cx="288321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납입면제 및 13대 납입면제특약</a:t>
            </a:r>
            <a:endParaRPr lang="en-US" sz="1500" dirty="0"/>
          </a:p>
        </p:txBody>
      </p:sp>
      <p:sp>
        <p:nvSpPr>
          <p:cNvPr id="16" name="Shape 11"/>
          <p:cNvSpPr/>
          <p:nvPr/>
        </p:nvSpPr>
        <p:spPr>
          <a:xfrm>
            <a:off x="812800" y="3739356"/>
            <a:ext cx="105664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pic>
        <p:nvPicPr>
          <p:cNvPr id="17" name="Image 3" descr="Check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812800" y="3105051"/>
            <a:ext cx="203200" cy="203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19200" y="3111401"/>
            <a:ext cx="10464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가입불가질환 특별 인수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1219200" y="3403501"/>
            <a:ext cx="10464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일반암 / 뇌혈관질환 / 심혈관질환 한정, 치료종결 시점으로 3년 경과 시, 5년 삭감 조건</a:t>
            </a:r>
            <a:endParaRPr lang="en-US" sz="1300" dirty="0"/>
          </a:p>
        </p:txBody>
      </p:sp>
      <p:sp>
        <p:nvSpPr>
          <p:cNvPr id="20" name="Shape 14"/>
          <p:cNvSpPr/>
          <p:nvPr/>
        </p:nvSpPr>
        <p:spPr>
          <a:xfrm>
            <a:off x="812800" y="4221956"/>
            <a:ext cx="105664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pic>
        <p:nvPicPr>
          <p:cNvPr id="21" name="Image 4" descr="Check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812800" y="3844131"/>
            <a:ext cx="203200" cy="2032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19200" y="3850481"/>
            <a:ext cx="260020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진단 시 주계약의 0.2배 적용</a:t>
            </a:r>
            <a:endParaRPr lang="en-US" sz="1500" dirty="0"/>
          </a:p>
        </p:txBody>
      </p:sp>
      <p:sp>
        <p:nvSpPr>
          <p:cNvPr id="23" name="Shape 16"/>
          <p:cNvSpPr/>
          <p:nvPr/>
        </p:nvSpPr>
        <p:spPr>
          <a:xfrm>
            <a:off x="812800" y="4704556"/>
            <a:ext cx="105664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pic>
        <p:nvPicPr>
          <p:cNvPr id="24" name="Image 5" descr="Check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812800" y="4326731"/>
            <a:ext cx="203200" cy="20320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219200" y="4333081"/>
            <a:ext cx="228143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가입시점의 경험생명표 적용</a:t>
            </a:r>
            <a:endParaRPr lang="en-US" sz="1500" dirty="0"/>
          </a:p>
        </p:txBody>
      </p:sp>
      <p:sp>
        <p:nvSpPr>
          <p:cNvPr id="26" name="Text 18"/>
          <p:cNvSpPr/>
          <p:nvPr/>
        </p:nvSpPr>
        <p:spPr>
          <a:xfrm>
            <a:off x="3500636" y="4364831"/>
            <a:ext cx="1679377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((무)신연금전환특약)</a:t>
            </a:r>
            <a:endParaRPr lang="en-US" sz="1300" dirty="0"/>
          </a:p>
        </p:txBody>
      </p:sp>
      <p:sp>
        <p:nvSpPr>
          <p:cNvPr id="27" name="Shape 19"/>
          <p:cNvSpPr/>
          <p:nvPr/>
        </p:nvSpPr>
        <p:spPr>
          <a:xfrm>
            <a:off x="812800" y="5443637"/>
            <a:ext cx="10566400" cy="0"/>
          </a:xfrm>
          <a:prstGeom prst="line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pic>
        <p:nvPicPr>
          <p:cNvPr id="28" name="Image 6" descr="Check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812800" y="4809331"/>
            <a:ext cx="203200" cy="20320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219200" y="4815681"/>
            <a:ext cx="1046480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주계약 5만 달러 이상 가입 시, 헬스케어서비스 제공</a:t>
            </a:r>
            <a:endParaRPr lang="en-US" sz="1500" dirty="0"/>
          </a:p>
        </p:txBody>
      </p:sp>
      <p:sp>
        <p:nvSpPr>
          <p:cNvPr id="30" name="Text 21"/>
          <p:cNvSpPr/>
          <p:nvPr/>
        </p:nvSpPr>
        <p:spPr>
          <a:xfrm>
            <a:off x="1219200" y="5107781"/>
            <a:ext cx="10464800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주계약 합산 가능</a:t>
            </a:r>
            <a:endParaRPr lang="en-US" sz="1300" dirty="0"/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상품의 포인트 · 미국 장기국채와 회사채로 운용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만기별 금리: 미국 국채 · 미국 회사채 · 한국 국채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511201"/>
            <a:ext cx="10566400" cy="4064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만기별(3개월~30년) 금리 비교 그래프: 미국투자적격회사채 0.87→4.71, 미국국채 0.03→2.91, 한국국채 1.52→2.49">    </p:cNvPr>
          <p:cNvPicPr>
            <a:picLocks noChangeAspect="1"/>
          </p:cNvPicPr>
          <p:nvPr/>
        </p:nvPicPr>
        <p:blipFill>
          <a:blip r:embed="rId1"/>
          <a:srcRect l="-21573" r="-21573" t="0" b="0"/>
          <a:stretch/>
        </p:blipFill>
        <p:spPr>
          <a:xfrm>
            <a:off x="812800" y="1511201"/>
            <a:ext cx="10566400" cy="4064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62636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출처: 플레인바나나투자자문 2015.09</a:t>
            </a:r>
            <a:endParaRPr lang="en-US" sz="1200" dirty="0"/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고객에게 제공될 상품의 가치 ①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최저해지환급금 3.0% 보증 (보증형)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511201"/>
            <a:ext cx="10883392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6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금리가 아무리 떨어지더라도 </a:t>
            </a:r>
            <a:r>
              <a:rPr lang="en-US" sz="16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적용이율 3.0%로 계산한 해지환급금을 최저 보증</a:t>
            </a:r>
            <a:r>
              <a:rPr lang="en-US" sz="16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합니다. 또한 추가납입보험료 적립금에 대해서도 동일하게 최저보증을 적용합니다.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812800" y="2324001"/>
            <a:ext cx="6985000" cy="24828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6" name="Image 0" descr="계약자적립금과 예정적립금 중 큰 값을 기준으로 지급금을 계산하는 구조 그래프">    </p:cNvPr>
          <p:cNvPicPr>
            <a:picLocks noChangeAspect="1"/>
          </p:cNvPicPr>
          <p:nvPr/>
        </p:nvPicPr>
        <p:blipFill>
          <a:blip r:embed="rId1"/>
          <a:srcRect l="0" r="0" t="-12" b="-12"/>
          <a:stretch/>
        </p:blipFill>
        <p:spPr>
          <a:xfrm>
            <a:off x="812800" y="2324001"/>
            <a:ext cx="6985000" cy="24828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102600" y="2324001"/>
            <a:ext cx="3374898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상기도해는 보증형에 한하며, 무보증형의 경우는 계약자적립금을 기준으로 지급금(사망보험금 또는 해지환급금)을 계산합니다.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8102600" y="3075781"/>
            <a:ext cx="3374898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1) 계약자적립금: 납입보험료에서 월대체공제액 및 중도인출금액 등을 공제한 금액을 이 계약의 매월 변동하는 [공시이율]로 일자계산에 의하여 적립한 금액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02600" y="3827562"/>
            <a:ext cx="3374898" cy="688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74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2) 예정적립금: 납입보험료에서 월대체공제액 및 중도인출금액 등을 공제한 금액을 이 계약의 [적용이율 3.0%]로 일자계산에 의하여 적립한 금액</a:t>
            </a:r>
            <a:endParaRPr lang="en-US" sz="1200" dirty="0"/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58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고객에게 제공될 상품의 가치 ②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483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높은 환급률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409601"/>
            <a:ext cx="4648200" cy="401241"/>
          </a:xfrm>
          <a:prstGeom prst="rect">
            <a:avLst/>
          </a:prstGeom>
          <a:solidFill>
            <a:srgbClr val="2E4A72"/>
          </a:solidFill>
          <a:ln/>
        </p:spPr>
        <p:txBody>
          <a:bodyPr wrap="square" lIns="8763" tIns="76200" rIns="8763" bIns="5080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최저보증 3.0% 기준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61000" y="1409601"/>
            <a:ext cx="1270000" cy="401241"/>
          </a:xfrm>
          <a:prstGeom prst="rect">
            <a:avLst/>
          </a:prstGeom>
          <a:solidFill>
            <a:srgbClr val="CD9B34"/>
          </a:solidFill>
          <a:ln/>
        </p:spPr>
        <p:txBody>
          <a:bodyPr wrap="square" lIns="50800" tIns="76200" rIns="50800" bIns="5080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경과기간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731000" y="1409601"/>
            <a:ext cx="4648200" cy="401241"/>
          </a:xfrm>
          <a:prstGeom prst="rect">
            <a:avLst/>
          </a:prstGeom>
          <a:solidFill>
            <a:srgbClr val="0F2340"/>
          </a:solidFill>
          <a:ln/>
        </p:spPr>
        <p:txBody>
          <a:bodyPr wrap="square" lIns="8763" tIns="76200" rIns="8763" bIns="5080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공시이율 3.5% 기준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823541"/>
          <a:ext cx="10553700" cy="3544888"/>
        </p:xfrm>
        <a:graphic>
          <a:graphicData uri="http://schemas.openxmlformats.org/drawingml/2006/table">
            <a:tbl>
              <a:tblPr/>
              <a:tblGrid>
                <a:gridCol w="1160907"/>
                <a:gridCol w="1160907"/>
                <a:gridCol w="1160907"/>
                <a:gridCol w="1160907"/>
                <a:gridCol w="1266444"/>
                <a:gridCol w="1160907"/>
                <a:gridCol w="1160907"/>
                <a:gridCol w="1160907"/>
                <a:gridCol w="1160907"/>
              </a:tblGrid>
              <a:tr h="59928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추가납 X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추가납 15%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추가납 100%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추가납 150%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추가납 X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추가납 15%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추가납 100%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b="1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추가납 150%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1E6ED"/>
                    </a:solidFill>
                  </a:tcPr>
                </a:tc>
              </a:tr>
              <a:tr h="36820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70.7%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74.8%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87.6%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91.1%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7C591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5년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71.3%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75.4%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88.3%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91.8%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B4B8B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20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82.5%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86.1%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97.3%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100.3%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7C591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10년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83.8%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87.4%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98.8%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101.8%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20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93.3%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97.8%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111.8%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115.5%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7C591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15년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96.1%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100.8%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115.2%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119.0%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20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105.2%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111.0%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128.6%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133.3%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7C591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20년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110.2%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116.2%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134.5%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139.4%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20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118.3%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125.7%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148.3%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153.9%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7C591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25년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126.1%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133.9%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157.5%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163.3%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20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132.5%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142.4%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171.1%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177.7%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7C591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30년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144.1%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154.6%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184.4%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191.3%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20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163.1%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184.1%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226.4%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235.4%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7C591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40년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189.4%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208.7%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251.0%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260.7%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8201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202.6%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236.5%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291.7%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303.4%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7C5916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50년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250.1%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276.0%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332.9%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1960"/>
                        </a:lnSpc>
                        <a:buNone/>
                      </a:pPr>
                      <a:r>
                        <a:rPr lang="en-US" sz="14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345.8%</a:t>
                      </a:r>
                      <a:endParaRPr lang="en-US" sz="14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2230" marR="62230" marT="62230" marB="62230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95808" y="5520829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(40세 남자, 10년납, 주계약 1억 기준)</a:t>
            </a:r>
            <a:endParaRPr lang="en-US" sz="1200" dirty="0"/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고객에게 제공될 상품의 가치 ③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환전수수료 최대 할인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74701"/>
          <a:ext cx="10553700" cy="825500"/>
        </p:xfrm>
        <a:graphic>
          <a:graphicData uri="http://schemas.openxmlformats.org/drawingml/2006/table">
            <a:tbl>
              <a:tblPr/>
              <a:tblGrid>
                <a:gridCol w="1794129"/>
                <a:gridCol w="1583055"/>
                <a:gridCol w="1794129"/>
                <a:gridCol w="1794129"/>
                <a:gridCol w="1794129"/>
                <a:gridCol w="1794129"/>
              </a:tblGrid>
              <a:tr h="41275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매매기준율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전일대비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현찰 사실 때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현찰 파실 때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송금 보내실 때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송금 받으실 때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</a:tr>
              <a:tr h="41275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1,090.00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2E4A72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▼ 2.50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1,109.07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1,070.93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1,100.60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1,079.40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2C4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5975" y="2657376"/>
            <a:ext cx="6655395" cy="2383929"/>
          </a:xfrm>
          <a:prstGeom prst="roundRect">
            <a:avLst>
              <a:gd name="adj" fmla="val 1998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123950" y="3496270"/>
            <a:ext cx="6220629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1달러 환전수수료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123950" y="3846711"/>
            <a:ext cx="6220629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1,109.07 − 1,090.00 = </a:t>
            </a:r>
            <a:r>
              <a:rPr lang="en-US" sz="2000" b="1" dirty="0">
                <a:solidFill>
                  <a:srgbClr val="A318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19.07원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7677745" y="3543300"/>
            <a:ext cx="1415455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약 90% 우대 적용</a:t>
            </a:r>
            <a:endParaRPr lang="en-US" sz="1300" dirty="0"/>
          </a:p>
        </p:txBody>
      </p:sp>
      <p:pic>
        <p:nvPicPr>
          <p:cNvPr id="9" name="Image 0" descr="arrow-righ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979073" y="3850580"/>
            <a:ext cx="609600" cy="304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05900" y="2666901"/>
            <a:ext cx="2260600" cy="2364879"/>
          </a:xfrm>
          <a:prstGeom prst="roundRect">
            <a:avLst>
              <a:gd name="adj" fmla="val 1685"/>
            </a:avLst>
          </a:prstGeom>
          <a:solidFill>
            <a:srgbClr val="FFFFFF"/>
          </a:solidFill>
          <a:ln w="25400">
            <a:solidFill>
              <a:srgbClr val="0F234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9925457" y="3272830"/>
            <a:ext cx="621387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우대 후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9649698" y="3572470"/>
            <a:ext cx="1173004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2원</a:t>
            </a:r>
            <a:endParaRPr lang="en-US" sz="4800" dirty="0"/>
          </a:p>
        </p:txBody>
      </p:sp>
      <p:sp>
        <p:nvSpPr>
          <p:cNvPr id="13" name="Text 9"/>
          <p:cNvSpPr/>
          <p:nvPr/>
        </p:nvSpPr>
        <p:spPr>
          <a:xfrm>
            <a:off x="812800" y="5298480"/>
            <a:ext cx="10566400" cy="746720"/>
          </a:xfrm>
          <a:prstGeom prst="roundRect">
            <a:avLst>
              <a:gd name="adj" fmla="val 6803"/>
            </a:avLst>
          </a:prstGeom>
          <a:solidFill>
            <a:srgbClr val="0F2340"/>
          </a:solidFill>
          <a:ln/>
        </p:spPr>
        <p:txBody>
          <a:bodyPr wrap="square" lIns="9759" tIns="162921" rIns="9759" bIns="137521" rtlCol="0" anchor="t">
            <a:normAutofit/>
          </a:bodyPr>
          <a:lstStyle/>
          <a:p>
            <a:pPr algn="ctr" indent="0" marL="0">
              <a:lnSpc>
                <a:spcPts val="308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보험금 $100,000 환전 시 약 </a:t>
            </a:r>
            <a:r>
              <a:rPr lang="en-US" sz="2200" b="1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170만원</a:t>
            </a:r>
            <a:r>
              <a:rPr lang="en-US" sz="22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 수수료 절감</a:t>
            </a:r>
            <a:endParaRPr lang="en-US" sz="2200" dirty="0"/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상품의 포인트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보험료 납입방법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565176"/>
            <a:ext cx="3384550" cy="4476849"/>
          </a:xfrm>
          <a:prstGeom prst="roundRect">
            <a:avLst>
              <a:gd name="adj" fmla="val 1407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23950" y="1873151"/>
            <a:ext cx="285165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2E4A72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$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1123950" y="2660551"/>
            <a:ext cx="285165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달러납입/지급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123950" y="3173611"/>
            <a:ext cx="2851658" cy="911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달러자산에 투자하는 보험으로 보험료와 보험금, 환급금 등을 모두 달러로 납입하고 지급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410075" y="1565176"/>
            <a:ext cx="3384550" cy="4476849"/>
          </a:xfrm>
          <a:prstGeom prst="roundRect">
            <a:avLst>
              <a:gd name="adj" fmla="val 1407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18050" y="1873151"/>
            <a:ext cx="285165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667185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₩</a:t>
            </a:r>
            <a:endParaRPr lang="en-US" sz="4800" dirty="0"/>
          </a:p>
        </p:txBody>
      </p:sp>
      <p:sp>
        <p:nvSpPr>
          <p:cNvPr id="10" name="Text 8"/>
          <p:cNvSpPr/>
          <p:nvPr/>
        </p:nvSpPr>
        <p:spPr>
          <a:xfrm>
            <a:off x="4718050" y="2660551"/>
            <a:ext cx="285165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원화납입/지급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718050" y="3173611"/>
            <a:ext cx="2851658" cy="615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원화로도 납입할 수 있으며 메트라이프가 달러환전 시 최우대환율을 적용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001000" y="1562001"/>
            <a:ext cx="3378200" cy="4483199"/>
          </a:xfrm>
          <a:prstGeom prst="roundRect">
            <a:avLst>
              <a:gd name="adj" fmla="val 1504"/>
            </a:avLst>
          </a:prstGeom>
          <a:solidFill>
            <a:srgbClr val="0F2340"/>
          </a:solidFill>
          <a:ln/>
        </p:spPr>
      </p:sp>
      <p:sp>
        <p:nvSpPr>
          <p:cNvPr id="13" name="Text 11"/>
          <p:cNvSpPr/>
          <p:nvPr/>
        </p:nvSpPr>
        <p:spPr>
          <a:xfrm>
            <a:off x="8305800" y="1866801"/>
            <a:ext cx="2851658" cy="63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4800" b="1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$ + ₩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8305800" y="2654201"/>
            <a:ext cx="2851658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원화고정납입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305800" y="3167261"/>
            <a:ext cx="2851658" cy="911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E6E9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기본보험료에 일정 추가납입을 더해 </a:t>
            </a:r>
            <a:r>
              <a:rPr lang="en-US" sz="1500" b="1" dirty="0">
                <a:solidFill>
                  <a:srgbClr val="E6E9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매월 납입보험료를 고정</a:t>
            </a:r>
            <a:r>
              <a:rPr lang="en-US" sz="1500" dirty="0">
                <a:solidFill>
                  <a:srgbClr val="E6E9E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, 남는 보험료는 추가납입으로 적립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305800" y="4230886"/>
            <a:ext cx="2851658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6CF9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예) 매월 ₩250,000 고정 납입 · 기본보험료 $200 초과분은 추가납입 적립</a:t>
            </a:r>
            <a:endParaRPr lang="en-US" sz="1300" dirty="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상품의 포인트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보증형 vs 무보증형</a:t>
            </a:r>
            <a:endParaRPr lang="en-US" sz="28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1549301"/>
          <a:ext cx="10553700" cy="3508375"/>
        </p:xfrm>
        <a:graphic>
          <a:graphicData uri="http://schemas.openxmlformats.org/drawingml/2006/table">
            <a:tbl>
              <a:tblPr/>
              <a:tblGrid>
                <a:gridCol w="4221480"/>
                <a:gridCol w="2110740"/>
                <a:gridCol w="4221480"/>
              </a:tblGrid>
              <a:tr h="4222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보증형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E6CF9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구분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무보증형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</a:tr>
              <a:tr h="4222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2만 달러 ~ 500만 달러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가입한도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2만 달러 ~ 500만 달러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남자 만 15세 ~ 최대 69세 / 여자 만 15세 ~ 최대 70세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가입나이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남자 만 15세 ~ 최대 69세 / 여자 만 15세 ~ 최대 70세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2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24개월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의무납입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24개월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2차월부터 납입기간 중에 가능 / 총 한도 100% / 수수료 4.5%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추가납입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2차월부터 보험기간 중에 가능 / 총 한도 100% / 수수료 1.5%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</a:tr>
              <a:tr h="4222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없음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보장성특약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없음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2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최저보증금액 제공 (보증비용 차감)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해지환급금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최저보증금액 미제공 (보증비용 미차감)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3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4E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상품의 포인트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보험료 할인 혜택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562001"/>
            <a:ext cx="4826000" cy="4483199"/>
          </a:xfrm>
          <a:prstGeom prst="roundRect">
            <a:avLst>
              <a:gd name="adj" fmla="val 1133"/>
            </a:avLst>
          </a:prstGeom>
          <a:solidFill>
            <a:srgbClr val="0F2340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1866801"/>
            <a:ext cx="43428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E6CF9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변경 후 (사업비 할인)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17600" y="3190677"/>
            <a:ext cx="4216400" cy="0"/>
          </a:xfrm>
          <a:prstGeom prst="line">
            <a:avLst/>
          </a:prstGeom>
          <a:noFill/>
          <a:ln w="6350">
            <a:solidFill>
              <a:srgbClr val="2E4A7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7600" y="2674441"/>
            <a:ext cx="207121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60개월 이상 ~ 84개월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414599" y="2420441"/>
            <a:ext cx="919401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4%</a:t>
            </a:r>
            <a:endParaRPr lang="en-US" sz="3600" dirty="0"/>
          </a:p>
        </p:txBody>
      </p:sp>
      <p:sp>
        <p:nvSpPr>
          <p:cNvPr id="9" name="Shape 7"/>
          <p:cNvSpPr/>
          <p:nvPr/>
        </p:nvSpPr>
        <p:spPr>
          <a:xfrm>
            <a:off x="1117600" y="4268887"/>
            <a:ext cx="4216400" cy="0"/>
          </a:xfrm>
          <a:prstGeom prst="line">
            <a:avLst/>
          </a:prstGeom>
          <a:noFill/>
          <a:ln w="6350">
            <a:solidFill>
              <a:srgbClr val="2E4A7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17600" y="3752652"/>
            <a:ext cx="2208371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84개월 이상 ~ 120개월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414599" y="3498652"/>
            <a:ext cx="919401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2%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1117600" y="4830862"/>
            <a:ext cx="259973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120개월 이상 ~ 납입기간 내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14599" y="4576862"/>
            <a:ext cx="919401" cy="665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5040"/>
              </a:lnSpc>
              <a:buNone/>
            </a:pPr>
            <a:r>
              <a:rPr lang="en-US" sz="3600" b="1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1%</a:t>
            </a:r>
            <a:endParaRPr lang="en-US" sz="3600" dirty="0"/>
          </a:p>
        </p:txBody>
      </p:sp>
      <p:sp>
        <p:nvSpPr>
          <p:cNvPr id="14" name="Shape 12"/>
          <p:cNvSpPr/>
          <p:nvPr/>
        </p:nvSpPr>
        <p:spPr>
          <a:xfrm>
            <a:off x="5895975" y="1565176"/>
            <a:ext cx="5480050" cy="2133600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153150" y="1822351"/>
            <a:ext cx="5114671" cy="33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0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고액할인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153150" y="2228751"/>
            <a:ext cx="511467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가입금액 10만 달러 ~ 29만8천 달러: </a:t>
            </a: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0.5%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153150" y="2616101"/>
            <a:ext cx="5114671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가입금액 30만 달러 이상: </a:t>
            </a: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1.0%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5895975" y="3908326"/>
            <a:ext cx="5480050" cy="2133699"/>
          </a:xfrm>
          <a:prstGeom prst="roundRect">
            <a:avLst>
              <a:gd name="adj" fmla="val 2232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53150" y="4165501"/>
            <a:ext cx="5114671" cy="3235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70"/>
              </a:lnSpc>
              <a:buNone/>
            </a:pPr>
            <a:r>
              <a:rPr lang="en-US" sz="1975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보험료 선납</a:t>
            </a:r>
            <a:endParaRPr lang="en-US" sz="1975" dirty="0"/>
          </a:p>
        </p:txBody>
      </p:sp>
      <p:sp>
        <p:nvSpPr>
          <p:cNvPr id="20" name="Text 18"/>
          <p:cNvSpPr/>
          <p:nvPr/>
        </p:nvSpPr>
        <p:spPr>
          <a:xfrm>
            <a:off x="6153150" y="4565253"/>
            <a:ext cx="5114671" cy="58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08"/>
              </a:lnSpc>
              <a:buNone/>
            </a:pPr>
            <a:r>
              <a:rPr lang="en-US" sz="1472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24개월 이내에 기본보험료에 한하여 당월 포함 최대 12개월까지 가능</a:t>
            </a:r>
            <a:endParaRPr lang="en-US" sz="1472" dirty="0"/>
          </a:p>
        </p:txBody>
      </p:sp>
      <p:sp>
        <p:nvSpPr>
          <p:cNvPr id="21" name="Text 19"/>
          <p:cNvSpPr/>
          <p:nvPr/>
        </p:nvSpPr>
        <p:spPr>
          <a:xfrm>
            <a:off x="6153150" y="5225852"/>
            <a:ext cx="5219700" cy="5843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3"/>
              </a:lnSpc>
              <a:buNone/>
            </a:pPr>
            <a:r>
              <a:rPr lang="en-US" sz="1495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</a:t>
            </a:r>
            <a:r>
              <a:rPr lang="en-US" sz="1495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공시이율로 적립</a:t>
            </a:r>
            <a:r>
              <a:rPr lang="en-US" sz="1495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하며, 추가되는 이자는 추가납입적립금에 가산함</a:t>
            </a:r>
            <a:endParaRPr lang="en-US" sz="1495" dirty="0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259595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유니버셜달러종신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3022600"/>
            <a:ext cx="10883392" cy="784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980"/>
              </a:lnSpc>
              <a:buNone/>
            </a:pPr>
            <a:r>
              <a:rPr lang="en-US" sz="52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차별화 전략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12800" y="3959820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언론이 주목한 달러 상품 · 인플레이션 헷지 · 서베이 활용 · 금리의 방향 · 와타나베 부인</a:t>
            </a:r>
            <a:endParaRPr lang="en-US" sz="1700" dirty="0"/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080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차별화 전략 · 기사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7975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해외 투자 수익에 환차익까지… 달러 상품이 뜬다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384201"/>
            <a:ext cx="10566400" cy="46228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한국경제 기사 「해외 투자 수익에 환차익까지…달러 상품이 뜬다」 지면">    </p:cNvPr>
          <p:cNvPicPr>
            <a:picLocks noChangeAspect="1"/>
          </p:cNvPicPr>
          <p:nvPr/>
        </p:nvPicPr>
        <p:blipFill>
          <a:blip r:embed="rId1"/>
          <a:srcRect l="-3476" r="-3476" t="0" b="0"/>
          <a:stretch/>
        </p:blipFill>
        <p:spPr>
          <a:xfrm>
            <a:off x="819150" y="1390551"/>
            <a:ext cx="10553700" cy="46101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5975" y="1387376"/>
            <a:ext cx="10560050" cy="4616450"/>
          </a:xfrm>
          <a:prstGeom prst="rect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차별화 전략 · 한국경제 기사 요약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기사가 짚은 상품 경쟁력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562001"/>
            <a:ext cx="4064000" cy="4483199"/>
          </a:xfrm>
          <a:prstGeom prst="roundRect">
            <a:avLst>
              <a:gd name="adj" fmla="val 1250"/>
            </a:avLst>
          </a:prstGeom>
          <a:solidFill>
            <a:srgbClr val="FBF4E3"/>
          </a:solidFill>
          <a:ln/>
        </p:spPr>
      </p:sp>
      <p:sp>
        <p:nvSpPr>
          <p:cNvPr id="5" name="Text 3"/>
          <p:cNvSpPr/>
          <p:nvPr/>
        </p:nvSpPr>
        <p:spPr>
          <a:xfrm>
            <a:off x="1117600" y="2597249"/>
            <a:ext cx="355803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기사 본문 중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117600" y="2937570"/>
            <a:ext cx="3558032" cy="20976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720"/>
              </a:lnSpc>
              <a:buNone/>
            </a:pPr>
            <a:r>
              <a:rPr lang="en-US" sz="17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“신보험인 ‘무배당 유니버셜달러종신보험’은 미국 국채와 회사채 등으로 자산을 굴리면서 보험료를 낮추고 환급률을 높인 상품이다. 한국보다 이율 경쟁력이 있어 상대적으로 높은 운용 수익률을 기대할 수 있다.”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133975" y="1565176"/>
            <a:ext cx="6242050" cy="2159000"/>
          </a:xfrm>
          <a:prstGeom prst="roundRect">
            <a:avLst>
              <a:gd name="adj" fmla="val 1029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391150" y="1771551"/>
            <a:ext cx="5899531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달러로 납입하고 달러로 수령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391150" y="2111276"/>
            <a:ext cx="5899531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미국 장기 국채와 회사채 등으로 포트폴리오 구성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391150" y="2451001"/>
            <a:ext cx="5899531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원화상품 대비 높은 이율과 경쟁력 있는 보험료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391150" y="2790726"/>
            <a:ext cx="5899531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보험료는 낮추고 ▼ 환급율은 높인 상품 ▲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5133975" y="3882926"/>
            <a:ext cx="6242050" cy="2159099"/>
          </a:xfrm>
          <a:prstGeom prst="roundRect">
            <a:avLst>
              <a:gd name="adj" fmla="val 1029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1150" y="4089301"/>
            <a:ext cx="5899531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최저해지환급금 3.0% 보증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391150" y="4429026"/>
            <a:ext cx="5899531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환율 · 환전수수료 90% 우대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5391150" y="4768751"/>
            <a:ext cx="5899531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추가납입 최대 150%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391150" y="5108476"/>
            <a:ext cx="5899531" cy="3016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원화고정납입옵션</a:t>
            </a:r>
            <a:endParaRPr lang="en-US" sz="1500" dirty="0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259595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차별화 전략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3022600"/>
            <a:ext cx="10883392" cy="784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980"/>
              </a:lnSpc>
              <a:buNone/>
            </a:pPr>
            <a:r>
              <a:rPr lang="en-US" sz="52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인플레이션 헷지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12800" y="3959820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환율과 소비자물가지수로 보는 달러 보유의 의미</a:t>
            </a:r>
            <a:endParaRPr lang="en-US" sz="1700" dirty="0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인플레이션 헷지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USD/KRW 환율 추이 (2007.01~2019.12)</a:t>
            </a:r>
            <a:endParaRPr lang="en-US" sz="2800" dirty="0"/>
          </a:p>
        </p:txBody>
      </p:sp>
      <p:pic>
        <p:nvPicPr>
          <p:cNvPr id="4" name="Image 0" descr="2007년 1월~2019년 12월 USD/KRW 환율 그래프: 07.01 899원에서 19.12 1,172원으로 30.36% 상승">    </p:cNvPr>
          <p:cNvPicPr>
            <a:picLocks noChangeAspect="1"/>
          </p:cNvPicPr>
          <p:nvPr/>
        </p:nvPicPr>
        <p:blipFill>
          <a:blip r:embed="rId1"/>
          <a:srcRect l="-19043" r="-19043" t="0" b="0"/>
          <a:stretch/>
        </p:blipFill>
        <p:spPr>
          <a:xfrm>
            <a:off x="812800" y="1511201"/>
            <a:ext cx="10566400" cy="4292600"/>
          </a:xfrm>
          <a:prstGeom prst="rect">
            <a:avLst/>
          </a:prstGeom>
        </p:spPr>
      </p:pic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인플레이션 헷지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USD/KRW 환율 &amp; 소비자물가지수 상승률</a:t>
            </a:r>
            <a:endParaRPr lang="en-US" sz="2800" dirty="0"/>
          </a:p>
        </p:txBody>
      </p:sp>
      <p:pic>
        <p:nvPicPr>
          <p:cNvPr id="4" name="Image 0" descr="USD/KRW 환율과 소비자물가지수 상승률 비교 그래프(2007.01~2019.12): 환율 30.36% 상승">    </p:cNvPr>
          <p:cNvPicPr>
            <a:picLocks noChangeAspect="1"/>
          </p:cNvPicPr>
          <p:nvPr/>
        </p:nvPicPr>
        <p:blipFill>
          <a:blip r:embed="rId1"/>
          <a:srcRect l="-28322" r="-28322" t="0" b="0"/>
          <a:stretch/>
        </p:blipFill>
        <p:spPr>
          <a:xfrm>
            <a:off x="812800" y="1511201"/>
            <a:ext cx="10566400" cy="4292600"/>
          </a:xfrm>
          <a:prstGeom prst="rect">
            <a:avLst/>
          </a:prstGeom>
        </p:spPr>
      </p:pic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인플레이션 헷지 · Sales Concept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화폐가치 변화: 소비자물가지수로 계산하면</a:t>
            </a:r>
            <a:endParaRPr lang="en-US" sz="2800" dirty="0"/>
          </a:p>
        </p:txBody>
      </p:sp>
      <p:pic>
        <p:nvPicPr>
          <p:cNvPr id="4" name="Image 0" descr="통계청 화폐가치 계산 화면: 2007년 1월 10,000원은 2019년 11월 13,000원, 소비자물가지수 30% 상승. USD/KRW 환율 899원에서 1,172원으로 30.36% 상승. 출처: 통계청, CPI 소비자물가지수">    </p:cNvPr>
          <p:cNvPicPr>
            <a:picLocks noChangeAspect="1"/>
          </p:cNvPicPr>
          <p:nvPr/>
        </p:nvPicPr>
        <p:blipFill>
          <a:blip r:embed="rId1"/>
          <a:srcRect l="-25749" r="-25749" t="0" b="0"/>
          <a:stretch/>
        </p:blipFill>
        <p:spPr>
          <a:xfrm>
            <a:off x="812800" y="1511201"/>
            <a:ext cx="10566400" cy="4292600"/>
          </a:xfrm>
          <a:prstGeom prst="rect">
            <a:avLst/>
          </a:prstGeom>
        </p:spPr>
      </p:pic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D9B3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인플레이션 헷지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지난 12년, 환율도 물가도 30% 올랐다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612801"/>
            <a:ext cx="5156200" cy="2166541"/>
          </a:xfrm>
          <a:prstGeom prst="roundRect">
            <a:avLst>
              <a:gd name="adj" fmla="val 2345"/>
            </a:avLst>
          </a:prstGeom>
          <a:solidFill>
            <a:srgbClr val="1D3557"/>
          </a:solidFill>
          <a:ln/>
        </p:spPr>
      </p:sp>
      <p:sp>
        <p:nvSpPr>
          <p:cNvPr id="5" name="Text 3"/>
          <p:cNvSpPr/>
          <p:nvPr/>
        </p:nvSpPr>
        <p:spPr>
          <a:xfrm>
            <a:off x="1092200" y="1892201"/>
            <a:ext cx="473532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6CF9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USD/KRW 환율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092200" y="2260501"/>
            <a:ext cx="473532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2E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07.01: 899원 → 19.12: 1,172원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2200" y="2646561"/>
            <a:ext cx="4735322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30.36% </a:t>
            </a:r>
            <a:r>
              <a:rPr lang="en-US" sz="4800" b="1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상승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6223000" y="1612801"/>
            <a:ext cx="5156200" cy="2166541"/>
          </a:xfrm>
          <a:prstGeom prst="roundRect">
            <a:avLst>
              <a:gd name="adj" fmla="val 2345"/>
            </a:avLst>
          </a:prstGeom>
          <a:solidFill>
            <a:srgbClr val="1D3557"/>
          </a:solidFill>
          <a:ln/>
        </p:spPr>
      </p:sp>
      <p:sp>
        <p:nvSpPr>
          <p:cNvPr id="9" name="Text 7"/>
          <p:cNvSpPr/>
          <p:nvPr/>
        </p:nvSpPr>
        <p:spPr>
          <a:xfrm>
            <a:off x="6502400" y="1892201"/>
            <a:ext cx="473532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E6CF9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소비자 물가지수 상승률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6502400" y="2260501"/>
            <a:ext cx="4735322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dirty="0">
                <a:solidFill>
                  <a:srgbClr val="C9D2E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07.01 ~ 19.12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502400" y="2646561"/>
            <a:ext cx="4735322" cy="8787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72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30% </a:t>
            </a:r>
            <a:r>
              <a:rPr lang="en-US" sz="4800" b="1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상승</a:t>
            </a:r>
            <a:endParaRPr lang="en-US" sz="4800" dirty="0"/>
          </a:p>
        </p:txBody>
      </p:sp>
      <p:sp>
        <p:nvSpPr>
          <p:cNvPr id="12" name="Shape 10"/>
          <p:cNvSpPr/>
          <p:nvPr/>
        </p:nvSpPr>
        <p:spPr>
          <a:xfrm>
            <a:off x="812800" y="4090491"/>
            <a:ext cx="10566400" cy="0"/>
          </a:xfrm>
          <a:prstGeom prst="line">
            <a:avLst/>
          </a:prstGeom>
          <a:noFill/>
          <a:ln w="12700">
            <a:solidFill>
              <a:srgbClr val="2E4A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2800" y="4728071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지난 12년간 </a:t>
            </a:r>
            <a:r>
              <a:rPr lang="en-US" sz="20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달러</a:t>
            </a:r>
            <a:r>
              <a:rPr lang="en-US" sz="20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를 보유했다면 </a:t>
            </a:r>
            <a:r>
              <a:rPr lang="en-US" sz="2000" b="1" dirty="0">
                <a:solidFill>
                  <a:srgbClr val="CD9B3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30%</a:t>
            </a:r>
            <a:r>
              <a:rPr lang="en-US" sz="20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의 </a:t>
            </a:r>
            <a:r>
              <a:rPr lang="en-US" sz="20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환차익</a:t>
            </a:r>
            <a:r>
              <a:rPr lang="en-US" sz="20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발생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812800" y="5210671"/>
            <a:ext cx="1088339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지난 12년간 </a:t>
            </a:r>
            <a:r>
              <a:rPr lang="en-US" sz="20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원화</a:t>
            </a:r>
            <a:r>
              <a:rPr lang="en-US" sz="20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를 보유했다면 </a:t>
            </a:r>
            <a:r>
              <a:rPr lang="en-US" sz="2000" b="1" dirty="0">
                <a:solidFill>
                  <a:srgbClr val="CD9B3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30%</a:t>
            </a:r>
            <a:r>
              <a:rPr lang="en-US" sz="20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의 </a:t>
            </a:r>
            <a:r>
              <a:rPr lang="en-US" sz="20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화폐가치 하락</a:t>
            </a:r>
            <a:r>
              <a:rPr lang="en-US" sz="20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발생</a:t>
            </a:r>
            <a:endParaRPr lang="en-US" sz="2000" dirty="0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259595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차별화 전략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3022600"/>
            <a:ext cx="10883392" cy="784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980"/>
              </a:lnSpc>
              <a:buNone/>
            </a:pPr>
            <a:r>
              <a:rPr lang="en-US" sz="52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서베이 활용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12800" y="3959820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「한국 수도권 가계의 자산배분에 대한 인식 조사」 보고서</a:t>
            </a:r>
            <a:endParaRPr lang="en-US" sz="1700" dirty="0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서베이 활용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한국 수도권 가계의 자산배분에 대한 인식 조사</a:t>
            </a:r>
            <a:endParaRPr lang="en-US" sz="2800" dirty="0"/>
          </a:p>
        </p:txBody>
      </p:sp>
      <p:pic>
        <p:nvPicPr>
          <p:cNvPr id="4" name="Image 0" descr="메트라이프·현대경제연구원 「한국 수도권 가계의 자산배분에 대한 인식 조사 보고서」(2019.11) 표지와 사내 포털 화면">    </p:cNvPr>
          <p:cNvPicPr>
            <a:picLocks noChangeAspect="1"/>
          </p:cNvPicPr>
          <p:nvPr/>
        </p:nvPicPr>
        <p:blipFill>
          <a:blip r:embed="rId1"/>
          <a:srcRect l="-3262" r="-3262" t="0" b="0"/>
          <a:stretch/>
        </p:blipFill>
        <p:spPr>
          <a:xfrm>
            <a:off x="812800" y="1631851"/>
            <a:ext cx="6985000" cy="4292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102600" y="2796580"/>
            <a:ext cx="3374898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보고서 정보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8102600" y="3154660"/>
            <a:ext cx="3374898" cy="5943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한국 수도권 가계의 자산배분에 대한 인식 조사 보고서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102600" y="3850580"/>
            <a:ext cx="337489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부동산 및 원화자산에 치우친 자산배분 인식을 중심으로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02600" y="4510980"/>
            <a:ext cx="337489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2019. 11. · 메트라이프 · 현대경제연구원</a:t>
            </a:r>
            <a:endParaRPr lang="en-US" sz="1400" dirty="0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58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서베이 활용 ①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483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국내외 가계 자산배분 비율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435001"/>
            <a:ext cx="10566400" cy="1679178"/>
          </a:xfrm>
          <a:prstGeom prst="roundRect">
            <a:avLst>
              <a:gd name="adj" fmla="val 3025"/>
            </a:avLst>
          </a:prstGeom>
          <a:solidFill>
            <a:srgbClr val="F3F5F8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1612801"/>
            <a:ext cx="5049266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 한국 수도권 가계의 〈금융자산〉 대 〈비금융자산〉 비중 </a:t>
            </a:r>
            <a:r>
              <a:rPr lang="en-US" sz="13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“20:80”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48400" y="1612801"/>
            <a:ext cx="5049266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4. 일본은 금융자산 비중이 꾸준히 증가하여 현재 〈금융 대 비금융〉 비중 </a:t>
            </a:r>
            <a:r>
              <a:rPr lang="en-US" sz="13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“64:36”</a:t>
            </a: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으로 선진국화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41400" y="2154932"/>
            <a:ext cx="5049266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2. 비금융자산의 비중이 높은 경우는 개발도상국형 자산배분 구조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48400" y="2154932"/>
            <a:ext cx="5049266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5. 일본은 1992년 부동산 버블붕괴 후, 젊은 세대를 중심으로 부동산 비관론 확산, 현재 구조로 변화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41400" y="2697063"/>
            <a:ext cx="5049266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3. 미국은 〈금융 대 비금융〉 비중 </a:t>
            </a:r>
            <a:r>
              <a:rPr lang="en-US" sz="13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“7:3~6:4”</a:t>
            </a: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수준 유지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48400" y="2697063"/>
            <a:ext cx="5049266" cy="2647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6. 한국은 30대를 중심으로 가계 자산배분 비율 변화의 조짐이 나타남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2800" y="3291979"/>
            <a:ext cx="10566400" cy="23304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0" descr="국가별 금융자산 대 비금융자산 비중(한국 20:80, 일본 64:36, 미국 70:30), 미국·일본 가계의 자산배분 비율 추이 차트">    </p:cNvPr>
          <p:cNvPicPr>
            <a:picLocks noChangeAspect="1"/>
          </p:cNvPicPr>
          <p:nvPr/>
        </p:nvPicPr>
        <p:blipFill>
          <a:blip r:embed="rId1"/>
          <a:srcRect l="0" r="0" t="-55" b="-55"/>
          <a:stretch/>
        </p:blipFill>
        <p:spPr>
          <a:xfrm>
            <a:off x="812800" y="3291979"/>
            <a:ext cx="10566400" cy="2330450"/>
          </a:xfrm>
          <a:prstGeom prst="rect">
            <a:avLst/>
          </a:prstGeom>
        </p:spPr>
      </p:pic>
    </p:spTree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서베이 활용 ②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하락하는 원화의 가치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2419251"/>
            <a:ext cx="5740400" cy="3111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 한국은 고령화로 장기 침체 가능성이 높고 장기 저성장 국면에 진입 중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812800" y="2857401"/>
            <a:ext cx="5598668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2. 부동산 및 원화자산에 편중된 한국가계는 외부충격 시, 자산가격 하락으로 노년 빈곤에 취약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2800" y="3581301"/>
            <a:ext cx="5598668" cy="8826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3. 지난 30년간 원화와 달러의 명목실효환율(Nominal Effective Exchange Rate) 변동 추이를 비교할 때, </a:t>
            </a: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달러 대비 원화의 가치하락폭이 컸으며</a:t>
            </a: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, 상관계수는 0.0469로 분산효과를 지님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12800" y="4590951"/>
            <a:ext cx="5598668" cy="596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50"/>
              </a:lnSpc>
              <a:buNone/>
            </a:pPr>
            <a:r>
              <a:rPr lang="en-US" sz="15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4. 명목실효환율이란 교역상대국 대비 자국 화폐의 구매력을 뜻하며, 화폐 가치를 평가하는 데 쓰임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553200" y="1536601"/>
            <a:ext cx="4826000" cy="3530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9" name="Image 0" descr="원화 vs 달러 실효환율 비교 차트(1990~2019): 원화 실효환율은 하락 추세, 달러는 상대적으로 안정">    </p:cNvPr>
          <p:cNvPicPr>
            <a:picLocks noChangeAspect="1"/>
          </p:cNvPicPr>
          <p:nvPr/>
        </p:nvPicPr>
        <p:blipFill>
          <a:blip r:embed="rId1"/>
          <a:srcRect l="-71" r="-71" t="0" b="0"/>
          <a:stretch/>
        </p:blipFill>
        <p:spPr>
          <a:xfrm>
            <a:off x="6559550" y="1542951"/>
            <a:ext cx="4813300" cy="35179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556375" y="1539776"/>
            <a:ext cx="4819650" cy="3524250"/>
          </a:xfrm>
          <a:prstGeom prst="rect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</p:spTree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58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서베이 활용 ③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483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한국 가계의 외화자산 현황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435001"/>
            <a:ext cx="10566400" cy="1918494"/>
          </a:xfrm>
          <a:prstGeom prst="roundRect">
            <a:avLst>
              <a:gd name="adj" fmla="val 2648"/>
            </a:avLst>
          </a:prstGeom>
          <a:solidFill>
            <a:srgbClr val="F3F5F8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1612801"/>
            <a:ext cx="5049266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 전체자산 중 외화자산 비중은 9.6%, 외화자산보유자 비중은 13.3%로 집계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48400" y="1612801"/>
            <a:ext cx="5049266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4. 외화자산에 대한 만족도는 〈매우만족 6.8% / 약간만족 25.6% / 보통 65.4% / 불만족 2.2%〉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41400" y="2154932"/>
            <a:ext cx="5049266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2. 소득이 높고 총자산이 많을수록 외화자산에 대한 관심도 증가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48400" y="2154932"/>
            <a:ext cx="5049266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5. 외화자산 구성에 대해서는 〈비중확대 68.4% / 중립 27.1% / 축소 4.5%〉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41400" y="2697063"/>
            <a:ext cx="5049266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3. 금융이해력이 높을수록 외화자산에 대한 관심도 증가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248400" y="2697063"/>
            <a:ext cx="5049266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6. 고소득, 자산가, 금융이해력이 높을수록 외화자산을 많이 보유하고 있으며 비중을 확대해 감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812800" y="3531295"/>
            <a:ext cx="10566400" cy="2133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2" name="Image 0" descr="원화자산과 외화자산 구성 비중(원화 90.4%, 외화 9.6%), 소득구간별·금융자산 규모별 외화 금융자산 보유 여부 차트">    </p:cNvPr>
          <p:cNvPicPr>
            <a:picLocks noChangeAspect="1"/>
          </p:cNvPicPr>
          <p:nvPr/>
        </p:nvPicPr>
        <p:blipFill>
          <a:blip r:embed="rId1"/>
          <a:srcRect l="-4167" r="-4167" t="0" b="0"/>
          <a:stretch/>
        </p:blipFill>
        <p:spPr>
          <a:xfrm>
            <a:off x="812800" y="3531295"/>
            <a:ext cx="105664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5588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서베이 활용 ④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483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외화 금융자산 희망도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435001"/>
            <a:ext cx="10566400" cy="1615678"/>
          </a:xfrm>
          <a:prstGeom prst="roundRect">
            <a:avLst>
              <a:gd name="adj" fmla="val 3144"/>
            </a:avLst>
          </a:prstGeom>
          <a:solidFill>
            <a:srgbClr val="F3F5F8"/>
          </a:solidFill>
          <a:ln/>
        </p:spPr>
      </p:sp>
      <p:sp>
        <p:nvSpPr>
          <p:cNvPr id="5" name="Text 3"/>
          <p:cNvSpPr/>
          <p:nvPr/>
        </p:nvSpPr>
        <p:spPr>
          <a:xfrm>
            <a:off x="1041400" y="1612801"/>
            <a:ext cx="5049266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1. 외화 금융자산 보유의 29.7%는 유학자금 및 해외송금, 22.2%는 수익률, 20.9%는 Risk Hedge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248400" y="1612801"/>
            <a:ext cx="5049266" cy="74334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3. 반면, 외화 금융자산을 보유하지 못하는 이유로는 대부분 여유부족과 정보부족을 꼽아 아직까지 외화 금융자산은 재산이 많은 사람의 전유물이라는 선입견이 있는 것으로 판단 됨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41400" y="2394248"/>
            <a:ext cx="5049266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2. 외화 금융자산 추가확보 이유는 수익률과 Risk 관리 목적이 높아, 외화 금융자산의 포트폴리오적 성격이 확대되어 가고 있음을 유추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48400" y="2394248"/>
            <a:ext cx="5049266" cy="504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85"/>
              </a:lnSpc>
              <a:buNone/>
            </a:pPr>
            <a:r>
              <a:rPr lang="en-US" sz="13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4. 월적립식으로 장기간 외화 금융상품에 투자할 시, 평균 희망 월납입액은 29.1만원으로 집계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12800" y="3228479"/>
            <a:ext cx="10566400" cy="2133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0" name="Image 0" descr="외화 금융자산을 취득한 이유, 취득하려는 이유, 소액 월적립식 외화 금융상품 희망 월납입액(평균 29.1만원) 차트">    </p:cNvPr>
          <p:cNvPicPr>
            <a:picLocks noChangeAspect="1"/>
          </p:cNvPicPr>
          <p:nvPr/>
        </p:nvPicPr>
        <p:blipFill>
          <a:blip r:embed="rId1"/>
          <a:srcRect l="-5714" r="-5714" t="0" b="0"/>
          <a:stretch/>
        </p:blipFill>
        <p:spPr>
          <a:xfrm>
            <a:off x="812800" y="3228479"/>
            <a:ext cx="10566400" cy="2133600"/>
          </a:xfrm>
          <a:prstGeom prst="rect">
            <a:avLst/>
          </a:prstGeom>
        </p:spPr>
      </p:pic>
    </p:spTree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259595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차별화 전략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3022600"/>
            <a:ext cx="10883392" cy="784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980"/>
              </a:lnSpc>
              <a:buNone/>
            </a:pPr>
            <a:r>
              <a:rPr lang="en-US" sz="52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금리의 방향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12800" y="3959820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한미 기준금리 · 미국 10년 채권수익률 · 고령화와 금리</a:t>
            </a:r>
            <a:endParaRPr lang="en-US" sz="1700" dirty="0"/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금리의 방향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한·미 기준금리 추이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536601"/>
            <a:ext cx="5334000" cy="3937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한·미 기준금리 추이(2007~2019): 미국 2.25~2.50% 1월30일 동결, 한국 1.75%. 연합뉴스 2019.01.31">    </p:cNvPr>
          <p:cNvPicPr>
            <a:picLocks noChangeAspect="1"/>
          </p:cNvPicPr>
          <p:nvPr/>
        </p:nvPicPr>
        <p:blipFill>
          <a:blip r:embed="rId1"/>
          <a:srcRect l="-1609" r="-1609" t="0" b="0"/>
          <a:stretch/>
        </p:blipFill>
        <p:spPr>
          <a:xfrm>
            <a:off x="812800" y="1536601"/>
            <a:ext cx="5334000" cy="3937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5549801"/>
            <a:ext cx="54940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연합뉴스 2019.01.31 · 자료: 한국은행, 미국 연방준비제도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451600" y="1536601"/>
            <a:ext cx="4597400" cy="3937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1" descr="한·미 기준금리 추이(2015~2019): 미국 1.50~1.75% 1월29일 동결, 한국 1.25%. 연합뉴스 2020.01.30">    </p:cNvPr>
          <p:cNvPicPr>
            <a:picLocks noChangeAspect="1"/>
          </p:cNvPicPr>
          <p:nvPr/>
        </p:nvPicPr>
        <p:blipFill>
          <a:blip r:embed="rId2"/>
          <a:srcRect l="-1644" r="-1644" t="0" b="0"/>
          <a:stretch/>
        </p:blipFill>
        <p:spPr>
          <a:xfrm>
            <a:off x="6451600" y="1536601"/>
            <a:ext cx="4597400" cy="3937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51600" y="5549801"/>
            <a:ext cx="473532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연합뉴스 2020.01.30 · 자료: 한국은행, 미국 연방준비제도(Fed)</a:t>
            </a:r>
            <a:endParaRPr lang="en-US" sz="1200" dirty="0"/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금리의 방향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연준 2020년 12월 FOMC 금리 인상 · 동결 · 인하 확률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536601"/>
            <a:ext cx="10566400" cy="3937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연준 2020년 12월 FOMC 금리 인상, 동결(1.50~1.75%), 인하 확률 추이(2019.05~2020.01). 자료: Bloomberg, 키움증권 리서치센터">    </p:cNvPr>
          <p:cNvPicPr>
            <a:picLocks noChangeAspect="1"/>
          </p:cNvPicPr>
          <p:nvPr/>
        </p:nvPicPr>
        <p:blipFill>
          <a:blip r:embed="rId1"/>
          <a:srcRect l="-12732" r="-12732" t="0" b="0"/>
          <a:stretch/>
        </p:blipFill>
        <p:spPr>
          <a:xfrm>
            <a:off x="812800" y="1536601"/>
            <a:ext cx="10566400" cy="3937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2800" y="626368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자료: Bloomberg, 키움증권 리서치센터</a:t>
            </a:r>
            <a:endParaRPr lang="en-US" sz="1200" dirty="0"/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금리의 방향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미국 10년 채권수익률 (2010.01~2019.12)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669951"/>
            <a:ext cx="7239000" cy="42418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2010.01~2019.12 미국 10년 채권수익률 그래프, 추세선 기준 46% 하락. 출처: investing.com US10YT chart 2019.12 기준">    </p:cNvPr>
          <p:cNvPicPr>
            <a:picLocks noChangeAspect="1"/>
          </p:cNvPicPr>
          <p:nvPr/>
        </p:nvPicPr>
        <p:blipFill>
          <a:blip r:embed="rId1"/>
          <a:srcRect l="-2994" r="-2994" t="0" b="0"/>
          <a:stretch/>
        </p:blipFill>
        <p:spPr>
          <a:xfrm>
            <a:off x="812800" y="1669951"/>
            <a:ext cx="7239000" cy="424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56600" y="2741910"/>
            <a:ext cx="311327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10년간 추세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356600" y="3092351"/>
            <a:ext cx="3113278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A3182E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46%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8356600" y="3955951"/>
            <a:ext cx="311327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하락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356600" y="4413151"/>
            <a:ext cx="311327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출처: investing.com, ‘US10YT chart’ 2019.12 기준</a:t>
            </a:r>
            <a:endParaRPr lang="en-US" sz="1200" dirty="0"/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금리의 방향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미국 10년 채권수익률 (1995.01~2019.12)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669951"/>
            <a:ext cx="7239000" cy="42418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1995.01~2019.12 미국 10년 채권수익률 그래프, 추세선 기준 75% 하락. 출처: investing.com US10YT chart 2019.12 기준">    </p:cNvPr>
          <p:cNvPicPr>
            <a:picLocks noChangeAspect="1"/>
          </p:cNvPicPr>
          <p:nvPr/>
        </p:nvPicPr>
        <p:blipFill>
          <a:blip r:embed="rId1"/>
          <a:srcRect l="-2994" r="-2994" t="0" b="0"/>
          <a:stretch/>
        </p:blipFill>
        <p:spPr>
          <a:xfrm>
            <a:off x="812800" y="1669951"/>
            <a:ext cx="7239000" cy="4241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356600" y="2741910"/>
            <a:ext cx="311327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25년간 추세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8356600" y="3092351"/>
            <a:ext cx="3113278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000"/>
              </a:lnSpc>
              <a:buNone/>
            </a:pPr>
            <a:r>
              <a:rPr lang="en-US" sz="6000" b="1" dirty="0">
                <a:solidFill>
                  <a:srgbClr val="A3182E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75%</a:t>
            </a:r>
            <a:endParaRPr lang="en-US" sz="6000" dirty="0"/>
          </a:p>
        </p:txBody>
      </p:sp>
      <p:sp>
        <p:nvSpPr>
          <p:cNvPr id="8" name="Text 5"/>
          <p:cNvSpPr/>
          <p:nvPr/>
        </p:nvSpPr>
        <p:spPr>
          <a:xfrm>
            <a:off x="8356600" y="3955951"/>
            <a:ext cx="3113278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하락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356600" y="4413151"/>
            <a:ext cx="311327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출처: investing.com, ‘US10YT chart’ 2019.12 기준</a:t>
            </a:r>
            <a:endParaRPr lang="en-US" sz="1200" dirty="0"/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금리의 방향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한국 · 일본 고령화사회 진입 전후 기준금리 변화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695351"/>
            <a:ext cx="7239000" cy="4191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일본(1986~2003)과 한국(2008~2019) 기준금리 비교 그래프. 1994년 일본 고령사회 진입, 2018년 한국 고령사회 진입 이후 금리 하락. 출처: tradingeconomics.com">    </p:cNvPr>
          <p:cNvPicPr>
            <a:picLocks noChangeAspect="1"/>
          </p:cNvPicPr>
          <p:nvPr/>
        </p:nvPicPr>
        <p:blipFill>
          <a:blip r:embed="rId1"/>
          <a:srcRect l="-3636" r="-3636" t="0" b="0"/>
          <a:stretch/>
        </p:blipFill>
        <p:spPr>
          <a:xfrm>
            <a:off x="812800" y="1695351"/>
            <a:ext cx="7239000" cy="41910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75650" y="2668290"/>
            <a:ext cx="0" cy="731441"/>
          </a:xfrm>
          <a:prstGeom prst="line">
            <a:avLst/>
          </a:prstGeom>
          <a:noFill/>
          <a:ln w="38100">
            <a:solidFill>
              <a:srgbClr val="CD9B3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47100" y="2668290"/>
            <a:ext cx="291706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1994년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547100" y="3133030"/>
            <a:ext cx="291706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일본 고령사회 진입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8375650" y="3577530"/>
            <a:ext cx="0" cy="731441"/>
          </a:xfrm>
          <a:prstGeom prst="line">
            <a:avLst/>
          </a:prstGeom>
          <a:noFill/>
          <a:ln w="38100">
            <a:solidFill>
              <a:srgbClr val="2E4A7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47100" y="3577530"/>
            <a:ext cx="2917063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360"/>
              </a:lnSpc>
              <a:buNone/>
            </a:pPr>
            <a:r>
              <a:rPr lang="en-US" sz="24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2018년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8547100" y="4042271"/>
            <a:ext cx="291706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한국 고령사회 진입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356600" y="4486771"/>
            <a:ext cx="311327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출처: tradingeconomics.com, 일본 1986~2003, 한국 2008~2019</a:t>
            </a:r>
            <a:endParaRPr lang="en-US" sz="1200" dirty="0"/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금리의 방향 · 기사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“늙어가는 한국… 4년내 제로금리 될 것”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996976"/>
            <a:ext cx="6985000" cy="358775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매일경제 2019.09.24 기사 「늙어가는 한국…4년내 제로금리될것」 지면, KB증권 보고서 인용">    </p:cNvPr>
          <p:cNvPicPr>
            <a:picLocks noChangeAspect="1"/>
          </p:cNvPicPr>
          <p:nvPr/>
        </p:nvPicPr>
        <p:blipFill>
          <a:blip r:embed="rId1"/>
          <a:srcRect l="-59" r="-59" t="0" b="0"/>
          <a:stretch/>
        </p:blipFill>
        <p:spPr>
          <a:xfrm>
            <a:off x="819150" y="2003326"/>
            <a:ext cx="6972300" cy="357505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15975" y="2000151"/>
            <a:ext cx="6978650" cy="3581400"/>
          </a:xfrm>
          <a:prstGeom prst="rect">
            <a:avLst/>
          </a:prstGeom>
          <a:noFill/>
          <a:ln w="6350">
            <a:solidFill>
              <a:srgbClr val="E1E6ED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102600" y="2282130"/>
            <a:ext cx="3276600" cy="3017441"/>
          </a:xfrm>
          <a:prstGeom prst="roundRect">
            <a:avLst>
              <a:gd name="adj" fmla="val 1684"/>
            </a:avLst>
          </a:prstGeom>
          <a:solidFill>
            <a:srgbClr val="FBF4E3"/>
          </a:solidFill>
          <a:ln/>
        </p:spPr>
      </p:sp>
      <p:sp>
        <p:nvSpPr>
          <p:cNvPr id="8" name="Text 5"/>
          <p:cNvSpPr/>
          <p:nvPr/>
        </p:nvSpPr>
        <p:spPr>
          <a:xfrm>
            <a:off x="8356600" y="2536130"/>
            <a:ext cx="28516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KB증권 보고서 · 기사 본문 중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356600" y="2876451"/>
            <a:ext cx="2851658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“한국보다 먼저 10년물 국채 금리가 0%대에 진입한 국가들의 고령화율과 한국 인구 추계를 이용해 추정한 결과 </a:t>
            </a: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2023년까지 10년물 국고채 금리가 0%대에 도달</a:t>
            </a: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할 것으로 바라봤다.”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356600" y="4832251"/>
            <a:ext cx="2851658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매일경제 2019.09.24</a:t>
            </a:r>
            <a:endParaRPr lang="en-US" sz="1200" dirty="0"/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금리의 방향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미국 10년 채권수익률 &amp; USD UL 공시이율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669951"/>
            <a:ext cx="7239000" cy="42418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2018년 1월~2019년 12월 미국 국채 10년 수익률(2.71%→최저 1.50%→1.92%)과 유니버셜달러종신보험 공시이율(3.50%→3.10%) 비교 그래프">    </p:cNvPr>
          <p:cNvPicPr>
            <a:picLocks noChangeAspect="1"/>
          </p:cNvPicPr>
          <p:nvPr/>
        </p:nvPicPr>
        <p:blipFill>
          <a:blip r:embed="rId1"/>
          <a:srcRect l="-3549" r="-3549" t="0" b="0"/>
          <a:stretch/>
        </p:blipFill>
        <p:spPr>
          <a:xfrm>
            <a:off x="812800" y="1669951"/>
            <a:ext cx="7239000" cy="42418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375650" y="2649240"/>
            <a:ext cx="0" cy="624780"/>
          </a:xfrm>
          <a:prstGeom prst="line">
            <a:avLst/>
          </a:prstGeom>
          <a:noFill/>
          <a:ln w="38100">
            <a:solidFill>
              <a:srgbClr val="2E4A7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47100" y="2649240"/>
            <a:ext cx="291706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USD UL 공시이율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547100" y="2918420"/>
            <a:ext cx="29170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3.50% → 3.10%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8375650" y="3451820"/>
            <a:ext cx="0" cy="876201"/>
          </a:xfrm>
          <a:prstGeom prst="line">
            <a:avLst/>
          </a:prstGeom>
          <a:noFill/>
          <a:ln w="38100">
            <a:solidFill>
              <a:srgbClr val="CD9B3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47100" y="3451820"/>
            <a:ext cx="2917063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미국 국채 10년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547100" y="3721001"/>
            <a:ext cx="2917063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2.71% → 1.92%</a:t>
            </a:r>
            <a:endParaRPr lang="en-US" sz="2000" dirty="0"/>
          </a:p>
        </p:txBody>
      </p:sp>
      <p:sp>
        <p:nvSpPr>
          <p:cNvPr id="12" name="Text 9"/>
          <p:cNvSpPr/>
          <p:nvPr/>
        </p:nvSpPr>
        <p:spPr>
          <a:xfrm>
            <a:off x="8547100" y="4114701"/>
            <a:ext cx="291706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(2019년 8월 최저 1.50%)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8356600" y="4505821"/>
            <a:ext cx="3113278" cy="452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출처: investing.com, ‘US10YT chart’ 2019.12 기준</a:t>
            </a:r>
            <a:endParaRPr lang="en-US" sz="1200" dirty="0"/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259595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차별화 전략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3022600"/>
            <a:ext cx="10883392" cy="784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980"/>
              </a:lnSpc>
              <a:buNone/>
            </a:pPr>
            <a:r>
              <a:rPr lang="en-US" sz="52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와타나베 부인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12800" y="3959820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저금리 시대, 일본 주부들은 어떻게 자산을 지켰을까</a:t>
            </a:r>
            <a:endParaRPr lang="en-US" sz="1700" dirty="0"/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기모노를 입고 지폐 가방을 멘 일본 여성 일러스트(와타나베 부인)">    </p:cNvPr>
          <p:cNvPicPr>
            <a:picLocks noChangeAspect="1"/>
          </p:cNvPicPr>
          <p:nvPr/>
        </p:nvPicPr>
        <p:blipFill>
          <a:blip r:embed="rId1"/>
          <a:srcRect l="0" r="0" t="-26" b="-26"/>
          <a:stretch/>
        </p:blipFill>
        <p:spPr>
          <a:xfrm>
            <a:off x="812800" y="1285875"/>
            <a:ext cx="3556000" cy="408305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78400" y="2172395"/>
            <a:ext cx="6592824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와타나베 부인</a:t>
            </a:r>
            <a:endParaRPr lang="en-US" sz="1200" dirty="0"/>
          </a:p>
        </p:txBody>
      </p:sp>
      <p:sp>
        <p:nvSpPr>
          <p:cNvPr id="4" name="Text 1"/>
          <p:cNvSpPr/>
          <p:nvPr>
            <p:ph type="title"/>
          </p:nvPr>
        </p:nvSpPr>
        <p:spPr>
          <a:xfrm>
            <a:off x="4978400" y="2639715"/>
            <a:ext cx="7213600" cy="5130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840"/>
              </a:lnSpc>
              <a:buNone/>
            </a:pPr>
            <a:r>
              <a:rPr lang="en-US" sz="32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“와타나베 부인을 알고 계신가요?”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4978400" y="3381375"/>
            <a:ext cx="6592824" cy="11264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90"/>
              </a:lnSpc>
              <a:buNone/>
            </a:pPr>
            <a:r>
              <a:rPr lang="en-US" sz="17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일본에서 저금리 상황이 계속되어 예금 이자가 낮아지자 일본 주부들이 낮은 금리인 엔화를 빌려 금리가 높은 외국 자산에 투자했습니다. [중략] 일본에서 가장 흔한 성을 따서 </a:t>
            </a:r>
            <a:r>
              <a:rPr lang="en-US" sz="17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‘와타나베 부인’</a:t>
            </a:r>
            <a:r>
              <a:rPr lang="en-US" sz="17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이라고 부르게 된 것입니다.</a:t>
            </a:r>
            <a:endParaRPr lang="en-US" sz="1700" dirty="0"/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와타나베 부인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강남 사모님 vs 와타나베 부인</a:t>
            </a:r>
            <a:endParaRPr lang="en-US" sz="2800" dirty="0"/>
          </a:p>
        </p:txBody>
      </p:sp>
      <p:pic>
        <p:nvPicPr>
          <p:cNvPr id="4" name="Image 0" descr="펀드 서류를 든 강남 사모님 일러스트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241550" y="1511201"/>
            <a:ext cx="1079500" cy="13335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244457" y="2895501"/>
            <a:ext cx="1073587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강남 사모님</a:t>
            </a:r>
            <a:endParaRPr lang="en-US" sz="1500" dirty="0"/>
          </a:p>
        </p:txBody>
      </p:sp>
      <p:pic>
        <p:nvPicPr>
          <p:cNvPr id="6" name="Image 1" descr="달러 상자를 든 와타나베 부인 일러스트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8870950" y="1511201"/>
            <a:ext cx="1079500" cy="13335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8771940" y="2895501"/>
            <a:ext cx="127742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와타나베 부인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5500" y="3378101"/>
          <a:ext cx="10553700" cy="2387600"/>
        </p:xfrm>
        <a:graphic>
          <a:graphicData uri="http://schemas.openxmlformats.org/drawingml/2006/table">
            <a:tbl>
              <a:tblPr/>
              <a:tblGrid>
                <a:gridCol w="3904869"/>
                <a:gridCol w="2743962"/>
                <a:gridCol w="3904869"/>
              </a:tblGrid>
              <a:tr h="4222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강남 사모님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E6CF9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구분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와타나베 부인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2340"/>
                    </a:solidFill>
                  </a:tcPr>
                </a:tc>
              </a:tr>
              <a:tr h="4222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부유층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특징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일반 가정주부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0203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2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투자열풍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등장 배경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저금리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2275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펀드, 부동산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투자 수단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외환거래, 해외예금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98500"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18202E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전문가와 투자매체 등에서 정보를 얻은 뒤 여유자산을 활용하여 투자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3D4757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투자 방법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lnSpc>
                          <a:spcPts val="2100"/>
                        </a:lnSpc>
                        <a:buNone/>
                      </a:pPr>
                      <a:r>
                        <a:rPr lang="en-US" sz="1500" dirty="0">
                          <a:solidFill>
                            <a:srgbClr val="0F2340"/>
                          </a:solidFill>
                          <a:latin typeface="IBM Plex Sans KR" pitchFamily="34" charset="0"/>
                          <a:ea typeface="IBM Plex Sans KR" pitchFamily="34" charset="-122"/>
                          <a:cs typeface="IBM Plex Sans KR" pitchFamily="34" charset="-120"/>
                        </a:rPr>
                        <a:t>금리가 싼 엔화를 빌리고 그 돈으로 금리가 높은 호주 등에 투자</a:t>
                      </a:r>
                      <a:endParaRPr lang="en-US" sz="1500" dirty="0">
                        <a:latin typeface="IBM Plex Sans KR" charset="0"/>
                        <a:ea typeface="IBM Plex Sans KR" charset="0"/>
                        <a:cs typeface="IBM Plex Sans KR" charset="0"/>
                      </a:endParaRPr>
                    </a:p>
                  </a:txBody>
                  <a:tcPr marL="66675" marR="66675" marT="66675" marB="66675" anchor="t">
                    <a:lnL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C9C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와타나베 부인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일본 저축예금 금리 0.001%</a:t>
            </a:r>
            <a:endParaRPr lang="en-US" sz="2800" dirty="0"/>
          </a:p>
        </p:txBody>
      </p:sp>
      <p:pic>
        <p:nvPicPr>
          <p:cNvPr id="4" name="Image 0" descr="미즈호은행 홈페이지 저축예금(貯蓄預金) 금리표: 예치금액 구간과 관계없이 연 0.001%. 2019.12.24">    </p:cNvPr>
          <p:cNvPicPr>
            <a:picLocks noChangeAspect="1"/>
          </p:cNvPicPr>
          <p:nvPr/>
        </p:nvPicPr>
        <p:blipFill>
          <a:blip r:embed="rId1"/>
          <a:srcRect l="-10730" r="-10730" t="0" b="0"/>
          <a:stretch/>
        </p:blipFill>
        <p:spPr>
          <a:xfrm>
            <a:off x="812800" y="1695351"/>
            <a:ext cx="7493000" cy="4191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610600" y="2861270"/>
            <a:ext cx="2851658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미즈호은행 저축예금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8610600" y="3211711"/>
            <a:ext cx="2851658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4400"/>
              </a:lnSpc>
              <a:buNone/>
            </a:pPr>
            <a:r>
              <a:rPr lang="en-US" sz="4400" b="1" dirty="0">
                <a:solidFill>
                  <a:srgbClr val="A3182E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0.001%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610600" y="3872111"/>
            <a:ext cx="2851658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10만엔 미만부터 1,000만엔 이상까지 모든 구간 동일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610600" y="4507111"/>
            <a:ext cx="3322320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출처: 미즈호은행 홈페이지, 2019.12.24</a:t>
            </a:r>
            <a:endParaRPr lang="en-US" sz="1200" dirty="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와타나베 부인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20년간 미국은 평균 4%, 일본은 1.5%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1644551"/>
            <a:ext cx="5842000" cy="4292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20년간 미국(파랑)과 일본(초록) 국채 금리 비교 차트. 미국 평균 4%, 일본 1.5%. investing.com">    </p:cNvPr>
          <p:cNvPicPr>
            <a:picLocks noChangeAspect="1"/>
          </p:cNvPicPr>
          <p:nvPr/>
        </p:nvPicPr>
        <p:blipFill>
          <a:blip r:embed="rId1"/>
          <a:srcRect l="-57" r="-57" t="0" b="0"/>
          <a:stretch/>
        </p:blipFill>
        <p:spPr>
          <a:xfrm>
            <a:off x="812800" y="1644551"/>
            <a:ext cx="5842000" cy="4292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978650" y="2713930"/>
            <a:ext cx="0" cy="975320"/>
          </a:xfrm>
          <a:prstGeom prst="line">
            <a:avLst/>
          </a:prstGeom>
          <a:noFill/>
          <a:ln w="38100">
            <a:solidFill>
              <a:srgbClr val="2E4A72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150100" y="2713930"/>
            <a:ext cx="435597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미국 20년 평균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150100" y="3018730"/>
            <a:ext cx="4355973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4%</a:t>
            </a:r>
            <a:endParaRPr lang="en-US" sz="4800" dirty="0"/>
          </a:p>
        </p:txBody>
      </p:sp>
      <p:sp>
        <p:nvSpPr>
          <p:cNvPr id="9" name="Shape 6"/>
          <p:cNvSpPr/>
          <p:nvPr/>
        </p:nvSpPr>
        <p:spPr>
          <a:xfrm>
            <a:off x="6978650" y="3892451"/>
            <a:ext cx="0" cy="975320"/>
          </a:xfrm>
          <a:prstGeom prst="line">
            <a:avLst/>
          </a:prstGeom>
          <a:noFill/>
          <a:ln w="38100">
            <a:solidFill>
              <a:srgbClr val="66718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150100" y="3892451"/>
            <a:ext cx="4355973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일본 20년 평균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150100" y="4197251"/>
            <a:ext cx="4355973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280"/>
              </a:lnSpc>
              <a:buNone/>
            </a:pPr>
            <a:r>
              <a:rPr lang="en-US" sz="4800" b="1" dirty="0">
                <a:solidFill>
                  <a:srgbClr val="667185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1.5%</a:t>
            </a:r>
            <a:endParaRPr lang="en-US" sz="4800" dirty="0"/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와타나베 부인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똑같이 1억을 저축했다면, 20년 뒤</a:t>
            </a:r>
            <a:endParaRPr lang="en-US" sz="2800" dirty="0"/>
          </a:p>
        </p:txBody>
      </p:sp>
      <p:pic>
        <p:nvPicPr>
          <p:cNvPr id="4" name="Image 0" descr="와타나베 부인 일러스트">    </p:cNvPr>
          <p:cNvPicPr>
            <a:picLocks noChangeAspect="1"/>
          </p:cNvPicPr>
          <p:nvPr/>
        </p:nvPicPr>
        <p:blipFill>
          <a:blip r:embed="rId1"/>
          <a:srcRect l="0" r="0" t="-17" b="-17"/>
          <a:stretch/>
        </p:blipFill>
        <p:spPr>
          <a:xfrm>
            <a:off x="812800" y="2006501"/>
            <a:ext cx="3175000" cy="36449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495800" y="2508151"/>
            <a:ext cx="6883400" cy="1219200"/>
          </a:xfrm>
          <a:prstGeom prst="roundRect">
            <a:avLst>
              <a:gd name="adj" fmla="val 4167"/>
            </a:avLst>
          </a:prstGeom>
          <a:solidFill>
            <a:srgbClr val="0F2340"/>
          </a:solidFill>
          <a:ln/>
        </p:spPr>
      </p:sp>
      <p:sp>
        <p:nvSpPr>
          <p:cNvPr id="6" name="Text 3"/>
          <p:cNvSpPr/>
          <p:nvPr/>
        </p:nvSpPr>
        <p:spPr>
          <a:xfrm>
            <a:off x="4800600" y="3035201"/>
            <a:ext cx="2087047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E6CF9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미국에 투자한 경우</a:t>
            </a:r>
            <a:endParaRPr lang="en-US" sz="1800" dirty="0"/>
          </a:p>
        </p:txBody>
      </p:sp>
      <p:sp>
        <p:nvSpPr>
          <p:cNvPr id="7" name="Text 4"/>
          <p:cNvSpPr/>
          <p:nvPr/>
        </p:nvSpPr>
        <p:spPr>
          <a:xfrm>
            <a:off x="7741841" y="2762151"/>
            <a:ext cx="3332559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2억 2천만원</a:t>
            </a:r>
            <a:endParaRPr lang="en-US" sz="4000" dirty="0"/>
          </a:p>
        </p:txBody>
      </p:sp>
      <p:sp>
        <p:nvSpPr>
          <p:cNvPr id="8" name="Shape 5"/>
          <p:cNvSpPr/>
          <p:nvPr/>
        </p:nvSpPr>
        <p:spPr>
          <a:xfrm>
            <a:off x="4495800" y="3930551"/>
            <a:ext cx="6883400" cy="1219200"/>
          </a:xfrm>
          <a:prstGeom prst="roundRect">
            <a:avLst>
              <a:gd name="adj" fmla="val 4167"/>
            </a:avLst>
          </a:prstGeom>
          <a:solidFill>
            <a:srgbClr val="F3F5F8"/>
          </a:solidFill>
          <a:ln/>
        </p:spPr>
      </p:sp>
      <p:sp>
        <p:nvSpPr>
          <p:cNvPr id="9" name="Text 6"/>
          <p:cNvSpPr/>
          <p:nvPr/>
        </p:nvSpPr>
        <p:spPr>
          <a:xfrm>
            <a:off x="4800600" y="4457601"/>
            <a:ext cx="2087047" cy="3453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20"/>
              </a:lnSpc>
              <a:buNone/>
            </a:pPr>
            <a:r>
              <a:rPr lang="en-US" sz="18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일본에 투자한 경우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7741841" y="4184551"/>
            <a:ext cx="3332559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ts val="5600"/>
              </a:lnSpc>
              <a:buNone/>
            </a:pPr>
            <a:r>
              <a:rPr lang="en-US" sz="4000" b="1" dirty="0">
                <a:solidFill>
                  <a:srgbClr val="3D4757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1억 3천만원</a:t>
            </a:r>
            <a:endParaRPr lang="en-US" sz="4000" dirty="0"/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37056" y="2875260"/>
            <a:ext cx="231779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spc="200" kern="0" dirty="0">
                <a:solidFill>
                  <a:srgbClr val="CD9B3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SALES CONCEPT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3047048" y="3312120"/>
            <a:ext cx="6097905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컨셉 </a:t>
            </a:r>
            <a:r>
              <a:rPr lang="en-US" sz="4800" b="1" i="0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“1억”</a:t>
            </a:r>
            <a:r>
              <a:rPr lang="en-US" sz="4800" b="1" i="0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 만들기</a:t>
            </a:r>
            <a:endParaRPr lang="en-US" sz="4800" dirty="0"/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44500"/>
            <a:ext cx="143420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컨셉 “1억” 만들기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2247007" y="355600"/>
            <a:ext cx="525780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해지환급금 예시로 보는 1억 만들기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2800" y="829270"/>
            <a:ext cx="7937500" cy="5562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해지환급금 예시표(경과기간·보험나이·보험료누계, ①최저해지환급금, ②평균공시이율과 공시이율 중 낮은이율 2.5%, ③공시이율 연복리 3.5% 가정). 11년(41세) 행 강조: 보험료누계 90,574, 해지환급금 98,208~100,668, 환급률 108.43~111.14%">    </p:cNvPr>
          <p:cNvPicPr>
            <a:picLocks noChangeAspect="1"/>
          </p:cNvPicPr>
          <p:nvPr/>
        </p:nvPicPr>
        <p:blipFill>
          <a:blip r:embed="rId1"/>
          <a:srcRect l="0" r="0" t="-57" b="-57"/>
          <a:stretch/>
        </p:blipFill>
        <p:spPr>
          <a:xfrm>
            <a:off x="812800" y="829270"/>
            <a:ext cx="7937500" cy="5562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004300" y="2547938"/>
            <a:ext cx="2446147" cy="911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5년 추가납입 포함 </a:t>
            </a: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150만원씩</a:t>
            </a: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납입 시, 5년 거치하여 </a:t>
            </a:r>
            <a:r>
              <a:rPr lang="en-US" sz="15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10년째에 1억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004300" y="3611563"/>
            <a:ext cx="2374900" cy="12700"/>
          </a:xfrm>
          <a:prstGeom prst="rect">
            <a:avLst/>
          </a:prstGeom>
          <a:solidFill>
            <a:srgbClr val="CD9B34"/>
          </a:solidFill>
          <a:ln/>
        </p:spPr>
      </p:sp>
      <p:sp>
        <p:nvSpPr>
          <p:cNvPr id="8" name="Text 5"/>
          <p:cNvSpPr/>
          <p:nvPr/>
        </p:nvSpPr>
        <p:spPr>
          <a:xfrm>
            <a:off x="9004300" y="3802062"/>
            <a:ext cx="2446147" cy="615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월불입액이 </a:t>
            </a: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30만원</a:t>
            </a: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이라면 </a:t>
            </a:r>
            <a:r>
              <a:rPr lang="en-US" sz="15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2천만원 만들기</a:t>
            </a: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컨셉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004300" y="4570413"/>
            <a:ext cx="2446147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dirty="0">
                <a:solidFill>
                  <a:srgbClr val="667185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점선 강조 행: 11년(41세) 시점</a:t>
            </a:r>
            <a:endParaRPr lang="en-US" sz="1200" dirty="0"/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67833" y="2875260"/>
            <a:ext cx="3056334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2240"/>
              </a:lnSpc>
              <a:buNone/>
            </a:pPr>
            <a:r>
              <a:rPr lang="en-US" sz="1600" b="1" spc="200" kern="0" dirty="0">
                <a:solidFill>
                  <a:srgbClr val="CD9B3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SALES CONCEPT · 3%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2438400" y="3312120"/>
            <a:ext cx="7315200" cy="695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lnSpc>
                <a:spcPts val="5280"/>
              </a:lnSpc>
              <a:buNone/>
            </a:pPr>
            <a:r>
              <a:rPr lang="en-US" sz="4800" b="1" i="0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컨셉 </a:t>
            </a:r>
            <a:r>
              <a:rPr lang="en-US" sz="4800" b="1" i="0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“마르지 않는”</a:t>
            </a:r>
            <a:r>
              <a:rPr lang="en-US" sz="4800" b="1" i="0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 샘</a:t>
            </a:r>
            <a:endParaRPr lang="en-US" sz="4800" dirty="0"/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44500"/>
            <a:ext cx="167600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컨셉 “마르지 않는” 샘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2488803" y="355600"/>
            <a:ext cx="5058013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해지환급금 예시로 보는 평생 인출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2800" y="829270"/>
            <a:ext cx="7150100" cy="5562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해지환급금 예시표(경과기간 3개월~25년, 보험나이 30~55세). 20년(50세) 보험료누계 79,600, 25년(55세) 해지환급금 105,805~110,858, 환급률 132.92~139.27%">    </p:cNvPr>
          <p:cNvPicPr>
            <a:picLocks noChangeAspect="1"/>
          </p:cNvPicPr>
          <p:nvPr/>
        </p:nvPicPr>
        <p:blipFill>
          <a:blip r:embed="rId1"/>
          <a:srcRect l="-26" r="-26" t="0" b="0"/>
          <a:stretch/>
        </p:blipFill>
        <p:spPr>
          <a:xfrm>
            <a:off x="812800" y="829270"/>
            <a:ext cx="7150100" cy="5562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16900" y="2743498"/>
            <a:ext cx="3257169" cy="9112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20년 추가납입 포함하여 </a:t>
            </a: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월 33만원씩</a:t>
            </a: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납입하고 5년간 거치하면 적립금은 </a:t>
            </a:r>
            <a:r>
              <a:rPr lang="en-US" sz="15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1억 1천만원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8216900" y="3807123"/>
            <a:ext cx="3162300" cy="12700"/>
          </a:xfrm>
          <a:prstGeom prst="rect">
            <a:avLst/>
          </a:prstGeom>
          <a:solidFill>
            <a:srgbClr val="CD9B34"/>
          </a:solidFill>
          <a:ln/>
        </p:spPr>
      </p:sp>
      <p:sp>
        <p:nvSpPr>
          <p:cNvPr id="8" name="Text 5"/>
          <p:cNvSpPr/>
          <p:nvPr/>
        </p:nvSpPr>
        <p:spPr>
          <a:xfrm>
            <a:off x="8216900" y="3997623"/>
            <a:ext cx="3257169" cy="6159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5"/>
              </a:lnSpc>
              <a:buNone/>
            </a:pP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이때부터 죽을 때까지 </a:t>
            </a: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매월 33만원씩 인출</a:t>
            </a: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해도 </a:t>
            </a:r>
            <a:r>
              <a:rPr lang="en-US" sz="15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1억 1천만원은 마르지 않음</a:t>
            </a:r>
            <a:endParaRPr lang="en-US" sz="1500" dirty="0"/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259595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유니버셜달러종신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3022600"/>
            <a:ext cx="10883392" cy="784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980"/>
              </a:lnSpc>
              <a:buNone/>
            </a:pPr>
            <a:r>
              <a:rPr lang="en-US" sz="52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가입설계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12800" y="3959820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[1] 가입금액을 먼저 설정 · [2] 보험료를 먼저 설정 · 가입설계서 읽는 법</a:t>
            </a:r>
            <a:endParaRPr lang="en-US" sz="1700" dirty="0"/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44500"/>
            <a:ext cx="10270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가입설계 [1]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839813" y="355600"/>
            <a:ext cx="5314117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가입금액을 먼저 설정하는 설계방식</a:t>
            </a:r>
            <a:endParaRPr lang="en-US" sz="2200" dirty="0"/>
          </a:p>
        </p:txBody>
      </p:sp>
      <p:pic>
        <p:nvPicPr>
          <p:cNvPr id="4" name="Image 0" descr="설계 시스템 화면: ① 납입기간 설정 ② 가입금액 설정(원화 기준이 아니라 달러 기준) ③ 보험료 계산 ④ 보험료 확인(421.88 USD, 원화환산금액 460,390원)">    </p:cNvPr>
          <p:cNvPicPr>
            <a:picLocks noChangeAspect="1"/>
          </p:cNvPicPr>
          <p:nvPr/>
        </p:nvPicPr>
        <p:blipFill>
          <a:blip r:embed="rId1"/>
          <a:srcRect l="0" r="0" t="-1975" b="-1975"/>
          <a:stretch/>
        </p:blipFill>
        <p:spPr>
          <a:xfrm>
            <a:off x="812800" y="829270"/>
            <a:ext cx="8255000" cy="5562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21800" y="2815134"/>
            <a:ext cx="211912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①</a:t>
            </a:r>
            <a:r>
              <a:rPr lang="en-US" sz="14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납입기간 설정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321800" y="3216374"/>
            <a:ext cx="2119122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②</a:t>
            </a:r>
            <a:r>
              <a:rPr lang="en-US" sz="14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가입금액 설정 </a:t>
            </a:r>
            <a:r>
              <a:rPr lang="en-US" sz="1400" dirty="0">
                <a:solidFill>
                  <a:srgbClr val="A318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(원화 기준이 아니라, 달러 기준임)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321800" y="3866455"/>
            <a:ext cx="211912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③</a:t>
            </a:r>
            <a:r>
              <a:rPr lang="en-US" sz="14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보험료 계산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321800" y="4267696"/>
            <a:ext cx="211912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④</a:t>
            </a:r>
            <a:r>
              <a:rPr lang="en-US" sz="14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보험료 확인</a:t>
            </a:r>
            <a:endParaRPr lang="en-US" sz="1400" dirty="0"/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44500"/>
            <a:ext cx="10270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가입설계 [1]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839813" y="355600"/>
            <a:ext cx="729365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가입금액을 먼저 설정하는 설계방식 · 환율계산기</a:t>
            </a:r>
            <a:endParaRPr lang="en-US" sz="2200" dirty="0"/>
          </a:p>
        </p:txBody>
      </p:sp>
      <p:pic>
        <p:nvPicPr>
          <p:cNvPr id="4" name="Image 0" descr="환율계산기 화면: 2017년 12월 18일 1 USD = 1,089.30 KRW. 기준 100,000 USD = 108,930,000 KRW, 납입 109,130,000, 지급 108,730,000">    </p:cNvPr>
          <p:cNvPicPr>
            <a:picLocks noChangeAspect="1"/>
          </p:cNvPicPr>
          <p:nvPr/>
        </p:nvPicPr>
        <p:blipFill>
          <a:blip r:embed="rId1"/>
          <a:srcRect l="0" r="0" t="-1489" b="-1489"/>
          <a:stretch/>
        </p:blipFill>
        <p:spPr>
          <a:xfrm>
            <a:off x="812800" y="829270"/>
            <a:ext cx="8255000" cy="5562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21800" y="2755404"/>
            <a:ext cx="2119122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환율계산기 · 2017.12.18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9321800" y="3113484"/>
            <a:ext cx="211912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 USD = 1,089.30 KRW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321800" y="3489325"/>
            <a:ext cx="2119122" cy="5230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기준 USD 100,000</a:t>
            </a:r>
            <a:endParaRPr lang="en-US" sz="1400" dirty="0"/>
          </a:p>
          <a:p>
            <a:pPr algn="l" indent="0" marL="0">
              <a:lnSpc>
                <a:spcPts val="1960"/>
              </a:lnSpc>
              <a:buNone/>
            </a:pPr>
            <a:r>
              <a:rPr lang="en-US" sz="14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= </a:t>
            </a:r>
            <a:r>
              <a:rPr lang="en-US" sz="14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KRW 108,930,000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9321800" y="4114006"/>
            <a:ext cx="2119122" cy="487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납입 109,130,000</a:t>
            </a:r>
            <a:endParaRPr lang="en-US" sz="1300" dirty="0"/>
          </a:p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지급 108,730,000</a:t>
            </a:r>
            <a:endParaRPr lang="en-US" sz="1300" dirty="0"/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44500"/>
            <a:ext cx="10270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가입설계 [1]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839813" y="355600"/>
            <a:ext cx="6955750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가입금액을 먼저 설정하는 설계방식 · 추가납입</a:t>
            </a:r>
            <a:endParaRPr lang="en-US" sz="2200" dirty="0"/>
          </a:p>
        </p:txBody>
      </p:sp>
      <p:pic>
        <p:nvPicPr>
          <p:cNvPr id="4" name="Image 0" descr="설계 시스템 추가납입 선택 화면: 없음, 1배수, 1.5배수">    </p:cNvPr>
          <p:cNvPicPr>
            <a:picLocks noChangeAspect="1"/>
          </p:cNvPicPr>
          <p:nvPr/>
        </p:nvPicPr>
        <p:blipFill>
          <a:blip r:embed="rId1"/>
          <a:srcRect l="0" r="0" t="-794" b="-794"/>
          <a:stretch/>
        </p:blipFill>
        <p:spPr>
          <a:xfrm>
            <a:off x="812800" y="829270"/>
            <a:ext cx="8255000" cy="5562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21800" y="2910185"/>
            <a:ext cx="211912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318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※ 추가납입 한도 150%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9321800" y="3303885"/>
            <a:ext cx="211912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시스템 개발 과정상 현재 1배수와 1.5배수만 예시될 뿐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321800" y="3926185"/>
            <a:ext cx="211912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실제 고객은 2차월부터 $10 단위로 자유롭게 추가납입 가능</a:t>
            </a:r>
            <a:endParaRPr lang="en-US" sz="1300" dirty="0"/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44500"/>
            <a:ext cx="10270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가입설계 [2]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839813" y="355600"/>
            <a:ext cx="4976217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보험료를 먼저 설정하는 설계방식</a:t>
            </a:r>
            <a:endParaRPr lang="en-US" sz="2200" dirty="0"/>
          </a:p>
        </p:txBody>
      </p:sp>
      <p:pic>
        <p:nvPicPr>
          <p:cNvPr id="4" name="Image 0" descr="설계 시스템 화면: 가입금액 65,000 USD, 주계약보험료 275.60 USD 입력 후 ④ 보험료 계산 버튼을 누름">    </p:cNvPr>
          <p:cNvPicPr>
            <a:picLocks noChangeAspect="1"/>
          </p:cNvPicPr>
          <p:nvPr/>
        </p:nvPicPr>
        <p:blipFill>
          <a:blip r:embed="rId1"/>
          <a:srcRect l="0" r="0" t="-488" b="-488"/>
          <a:stretch/>
        </p:blipFill>
        <p:spPr>
          <a:xfrm>
            <a:off x="812800" y="829270"/>
            <a:ext cx="8255000" cy="5562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21800" y="3106440"/>
            <a:ext cx="211912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④</a:t>
            </a:r>
            <a:r>
              <a:rPr lang="en-US" sz="14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보험료 계산 버튼을 누름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321800" y="3482280"/>
            <a:ext cx="2119122" cy="768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예시: 가입금액 65,000 USD · 주계약보험료 275.60 USD · 10년납</a:t>
            </a:r>
            <a:endParaRPr lang="en-US" sz="1300" dirty="0"/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44500"/>
            <a:ext cx="1027013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가입설계 [2]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1839813" y="355600"/>
            <a:ext cx="6699766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보험료를 먼저 설정하는 설계방식 · 결과 확인</a:t>
            </a:r>
            <a:endParaRPr lang="en-US" sz="2200" dirty="0"/>
          </a:p>
        </p:txBody>
      </p:sp>
      <p:pic>
        <p:nvPicPr>
          <p:cNvPr id="4" name="Image 0" descr="설계 결과 화면: 총 보험료 합계 275.60 USD(원화환산금액 300,760원), ⑤ 원화환산금액과 납입기간이 선택한 내용과 맞는지 확인">    </p:cNvPr>
          <p:cNvPicPr>
            <a:picLocks noChangeAspect="1"/>
          </p:cNvPicPr>
          <p:nvPr/>
        </p:nvPicPr>
        <p:blipFill>
          <a:blip r:embed="rId1"/>
          <a:srcRect l="0" r="0" t="-234" b="-234"/>
          <a:stretch/>
        </p:blipFill>
        <p:spPr>
          <a:xfrm>
            <a:off x="812800" y="829270"/>
            <a:ext cx="8255000" cy="5562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321800" y="2981424"/>
            <a:ext cx="2119122" cy="771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⑤</a:t>
            </a:r>
            <a:r>
              <a:rPr lang="en-US" sz="14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원화환산금액과 납입기간이 선택한 내용과 맞는지 확인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9321800" y="3854946"/>
            <a:ext cx="2119122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총 보험료 합계 275.60 USD</a:t>
            </a:r>
            <a:endParaRPr lang="en-US" sz="1300" dirty="0"/>
          </a:p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(원화환산금액 300,760원)</a:t>
            </a:r>
            <a:endParaRPr lang="en-US" sz="1300" dirty="0"/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44500"/>
            <a:ext cx="14553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가입설계서 읽기 ①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2268141" y="355600"/>
            <a:ext cx="2447211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보험계약의 개요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2800" y="829270"/>
            <a:ext cx="7708900" cy="5562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가입설계서 보험계약의 개요: 무배당 유니버셜달러종신보험(보증형), 가입금액 $65,000, 종신, 10년납, 보험료 $275.60(₩300,760). 원화가 아니라 달러로 표시됨">    </p:cNvPr>
          <p:cNvPicPr>
            <a:picLocks noChangeAspect="1"/>
          </p:cNvPicPr>
          <p:nvPr/>
        </p:nvPicPr>
        <p:blipFill>
          <a:blip r:embed="rId1"/>
          <a:srcRect l="-148" r="-148" t="0" b="0"/>
          <a:stretch/>
        </p:blipFill>
        <p:spPr>
          <a:xfrm>
            <a:off x="812800" y="829270"/>
            <a:ext cx="7708900" cy="5562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775700" y="3034010"/>
            <a:ext cx="2681605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318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원화가 아니라, 달러로 표시됨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8775700" y="3427710"/>
            <a:ext cx="2681605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가입금액 $65,000 · 보험료 $275.60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775700" y="3802360"/>
            <a:ext cx="2681605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원화환산보험료(₩300,760)는 보험료 출금일에 따라 달라질 수 있음</a:t>
            </a:r>
            <a:endParaRPr lang="en-US" sz="1300" dirty="0"/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44500"/>
            <a:ext cx="14553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가입설계서 읽기 ②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2268141" y="355600"/>
            <a:ext cx="2426256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보장내용 (요약)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2800" y="829270"/>
            <a:ext cx="10566400" cy="5562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가입설계서 보장내용 요약: 사망보장 주계약 사망시 $65,000(40세~종신). 주계약 사망보험금은 기본보험금액, 계약자적립금×105%, 기납입보험료 중 가장 큰 금액. 원화가 아니라 달러로 표시됨">    </p:cNvPr>
          <p:cNvPicPr>
            <a:picLocks noChangeAspect="1"/>
          </p:cNvPicPr>
          <p:nvPr/>
        </p:nvPicPr>
        <p:blipFill>
          <a:blip r:embed="rId1"/>
          <a:srcRect l="-5322" r="-5322" t="0" b="0"/>
          <a:stretch/>
        </p:blipFill>
        <p:spPr>
          <a:xfrm>
            <a:off x="812800" y="829270"/>
            <a:ext cx="10566400" cy="5562600"/>
          </a:xfrm>
          <a:prstGeom prst="rect">
            <a:avLst/>
          </a:prstGeom>
        </p:spPr>
      </p:pic>
    </p:spTree>
  </p:cSld>
  <p:clrMapOvr>
    <a:masterClrMapping/>
  </p:clrMapOvr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44500"/>
            <a:ext cx="14553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가입설계서 읽기 ③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2268141" y="355600"/>
            <a:ext cx="2447211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사망보험금 예시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2800" y="829270"/>
            <a:ext cx="5994400" cy="5562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가입설계서 사망보험금 예시표(경과기간 3개월~40년, 보험나이 40~80세): 최저사망보험금·평균공시이율 2.5%·공시이율 3.5% 가정 모두 $65,000. 원화가 아니라 달러로 표시됨">    </p:cNvPr>
          <p:cNvPicPr>
            <a:picLocks noChangeAspect="1"/>
          </p:cNvPicPr>
          <p:nvPr/>
        </p:nvPicPr>
        <p:blipFill>
          <a:blip r:embed="rId1"/>
          <a:srcRect l="0" r="0" t="-135" b="-135"/>
          <a:stretch/>
        </p:blipFill>
        <p:spPr>
          <a:xfrm>
            <a:off x="812800" y="829270"/>
            <a:ext cx="5994400" cy="5562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112000" y="3014960"/>
            <a:ext cx="4395216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318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원화가 아니라, 달러로 표시됨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112000" y="3408660"/>
            <a:ext cx="4395216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4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경과기간과 금리 가정에 관계없이 사망보험금 </a:t>
            </a:r>
            <a:r>
              <a:rPr lang="en-US" sz="14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$65,000</a:t>
            </a:r>
            <a:r>
              <a:rPr lang="en-US" sz="14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유지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112000" y="4069060"/>
            <a:ext cx="4395216" cy="2730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기준: 계약정보 참조, 단위 USD</a:t>
            </a:r>
            <a:endParaRPr lang="en-US" sz="1300" dirty="0"/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444500"/>
            <a:ext cx="1455341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가입설계서 읽기 ④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2268141" y="355600"/>
            <a:ext cx="5856327" cy="3466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530"/>
              </a:lnSpc>
              <a:buNone/>
            </a:pPr>
            <a:r>
              <a:rPr lang="en-US" sz="22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해지환급금 예시 (주계약 + 추가납 1배)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812800" y="829270"/>
            <a:ext cx="6718300" cy="5562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5" name="Image 0" descr="가입설계서 해지환급금 예시표(주계약+추가납 1배, 매월 275.6달러 추가납입). ①최저해지환급금(3.0%)과 ②(2.5%) 중 큰 값 기준, 40년(80세) 환급률 223.83~248.22%. 원화가 아니라 달러로 표시됨">    </p:cNvPr>
          <p:cNvPicPr>
            <a:picLocks noChangeAspect="1"/>
          </p:cNvPicPr>
          <p:nvPr/>
        </p:nvPicPr>
        <p:blipFill>
          <a:blip r:embed="rId1"/>
          <a:srcRect l="0" r="0" t="-12" b="-12"/>
          <a:stretch/>
        </p:blipFill>
        <p:spPr>
          <a:xfrm>
            <a:off x="812800" y="829270"/>
            <a:ext cx="6718300" cy="55626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835900" y="2814935"/>
            <a:ext cx="3649599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A318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원화가 아니라, 달러로 표시됨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7835900" y="3208635"/>
            <a:ext cx="3649599" cy="520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50"/>
              </a:lnSpc>
              <a:buNone/>
            </a:pPr>
            <a:r>
              <a:rPr lang="en-US" sz="13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①과 ② 중 큰 값을 기준으로 하기 때문에 </a:t>
            </a:r>
            <a:r>
              <a:rPr lang="en-US" sz="13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①최저해지환급금(3.0%)을 동일하게 사용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35900" y="3830935"/>
            <a:ext cx="3649599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00"/>
              </a:lnSpc>
              <a:buNone/>
            </a:pPr>
            <a:r>
              <a:rPr lang="en-US" sz="12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③은 공시이율 연복리 3.5%(2017년 12월 현재) 적용. 환급률은 예시이율로 계산된 해지환급금과 ①최저해지환급금 중 큰 값 기준</a:t>
            </a:r>
            <a:endParaRPr lang="en-US" sz="1200" dirty="0"/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0F2340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2595959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15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유니버셜달러종신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3022600"/>
            <a:ext cx="10883392" cy="7848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5980"/>
              </a:lnSpc>
              <a:buNone/>
            </a:pPr>
            <a:r>
              <a:rPr lang="en-US" sz="52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유의사항</a:t>
            </a:r>
            <a:endParaRPr lang="en-US" sz="5200" dirty="0"/>
          </a:p>
        </p:txBody>
      </p:sp>
      <p:sp>
        <p:nvSpPr>
          <p:cNvPr id="5" name="Text 3"/>
          <p:cNvSpPr/>
          <p:nvPr/>
        </p:nvSpPr>
        <p:spPr>
          <a:xfrm>
            <a:off x="812800" y="3959820"/>
            <a:ext cx="10883392" cy="3276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80"/>
              </a:lnSpc>
              <a:buNone/>
            </a:pPr>
            <a:r>
              <a:rPr lang="en-US" sz="17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상품설명 시 필수 설명항목 · 발생 예상 민원사례</a:t>
            </a:r>
            <a:endParaRPr lang="en-US" sz="1700" dirty="0"/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유의사항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상품설명 시 필수 설명항목 및 유의사항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12800" y="1562001"/>
            <a:ext cx="6514338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상품설명 시 </a:t>
            </a:r>
            <a:r>
              <a:rPr lang="en-US" sz="1500" b="1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필수 설명항목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12800" y="1955701"/>
            <a:ext cx="3098800" cy="1988840"/>
          </a:xfrm>
          <a:prstGeom prst="roundRect">
            <a:avLst>
              <a:gd name="adj" fmla="val 2554"/>
            </a:avLst>
          </a:prstGeom>
          <a:solidFill>
            <a:srgbClr val="0F2340"/>
          </a:solidFill>
          <a:ln/>
        </p:spPr>
      </p:sp>
      <p:sp>
        <p:nvSpPr>
          <p:cNvPr id="6" name="Text 4"/>
          <p:cNvSpPr/>
          <p:nvPr/>
        </p:nvSpPr>
        <p:spPr>
          <a:xfrm>
            <a:off x="990600" y="2684760"/>
            <a:ext cx="2825496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종신보험상품, 장기상품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90600" y="2984401"/>
            <a:ext cx="2825496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E6CF9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≠ 저축(연금)상품, 단기 투자상품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038600" y="1955701"/>
            <a:ext cx="3098800" cy="1988840"/>
          </a:xfrm>
          <a:prstGeom prst="roundRect">
            <a:avLst>
              <a:gd name="adj" fmla="val 2554"/>
            </a:avLst>
          </a:prstGeom>
          <a:solidFill>
            <a:srgbClr val="F3F5F8"/>
          </a:solidFill>
          <a:ln/>
        </p:spPr>
        <p:txBody>
          <a:bodyPr wrap="square" lIns="162921" tIns="162921" rIns="80625" bIns="162921" rtlCol="0" anchor="ctr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달러상품이므로 환율에 따라 </a:t>
            </a:r>
            <a:r>
              <a:rPr lang="en-US" sz="14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보험료가 매월 변동</a:t>
            </a:r>
            <a:r>
              <a:rPr lang="en-US" sz="14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된다는 내용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12800" y="4071541"/>
            <a:ext cx="3098800" cy="1973659"/>
          </a:xfrm>
          <a:prstGeom prst="roundRect">
            <a:avLst>
              <a:gd name="adj" fmla="val 2574"/>
            </a:avLst>
          </a:prstGeom>
          <a:solidFill>
            <a:srgbClr val="F3F5F8"/>
          </a:solidFill>
          <a:ln/>
        </p:spPr>
        <p:txBody>
          <a:bodyPr wrap="square" lIns="162921" tIns="162921" rIns="80625" bIns="162921" rtlCol="0" anchor="ctr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해지환급금, 보험금, 중도인출금 등을 </a:t>
            </a:r>
            <a:r>
              <a:rPr lang="en-US" sz="14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달러로 지급</a:t>
            </a:r>
            <a:r>
              <a:rPr lang="en-US" sz="14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받게 되는 구조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038600" y="4071541"/>
            <a:ext cx="3098800" cy="1973659"/>
          </a:xfrm>
          <a:prstGeom prst="roundRect">
            <a:avLst>
              <a:gd name="adj" fmla="val 2574"/>
            </a:avLst>
          </a:prstGeom>
          <a:solidFill>
            <a:srgbClr val="FBF4E3"/>
          </a:solidFill>
          <a:ln/>
        </p:spPr>
        <p:txBody>
          <a:bodyPr wrap="square" lIns="162921" tIns="162921" rIns="80625" bIns="162921" rtlCol="0" anchor="ctr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불명확한 미래 시점의 </a:t>
            </a:r>
            <a:r>
              <a:rPr lang="en-US" sz="14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달러가치 상승 예측 또는 확정 금지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442200" y="1562001"/>
            <a:ext cx="4055110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0F234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상품설명 시 </a:t>
            </a:r>
            <a:r>
              <a:rPr lang="en-US" sz="1500" b="1" dirty="0">
                <a:solidFill>
                  <a:srgbClr val="A318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유의사항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7445375" y="1958876"/>
            <a:ext cx="3930650" cy="1289050"/>
          </a:xfrm>
          <a:prstGeom prst="roundRect">
            <a:avLst>
              <a:gd name="adj" fmla="val 3695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pic>
        <p:nvPicPr>
          <p:cNvPr id="13" name="Image 0" descr="Chart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626350" y="2451001"/>
            <a:ext cx="304800" cy="304800"/>
          </a:xfrm>
          <a:prstGeom prst="rect">
            <a:avLst/>
          </a:prstGeom>
        </p:spPr>
      </p:pic>
      <p:sp>
        <p:nvSpPr>
          <p:cNvPr id="14" name="Text 11"/>
          <p:cNvSpPr/>
          <p:nvPr/>
        </p:nvSpPr>
        <p:spPr>
          <a:xfrm>
            <a:off x="8058150" y="2345630"/>
            <a:ext cx="3231007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계약자는 </a:t>
            </a:r>
            <a:r>
              <a:rPr lang="en-US" sz="14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환차익, 환차손</a:t>
            </a:r>
            <a:r>
              <a:rPr lang="en-US" sz="14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에 대한 기본개념 이해가 가능해야 함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7445375" y="3355876"/>
            <a:ext cx="3930650" cy="1289149"/>
          </a:xfrm>
          <a:prstGeom prst="roundRect">
            <a:avLst>
              <a:gd name="adj" fmla="val 3694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pic>
        <p:nvPicPr>
          <p:cNvPr id="16" name="Image 1" descr="Warni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626350" y="3848001"/>
            <a:ext cx="304800" cy="30480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8058150" y="3742630"/>
            <a:ext cx="3231007" cy="540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지적재산권</a:t>
            </a:r>
            <a:r>
              <a:rPr lang="en-US" sz="14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문제가 발생할 수 있는 자료의 무단 활용 금지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7445375" y="4752975"/>
            <a:ext cx="3930650" cy="1289050"/>
          </a:xfrm>
          <a:prstGeom prst="roundRect">
            <a:avLst>
              <a:gd name="adj" fmla="val 3695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pic>
        <p:nvPicPr>
          <p:cNvPr id="19" name="Image 2" descr="Lock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626350" y="5245100"/>
            <a:ext cx="304800" cy="30480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058150" y="5268615"/>
            <a:ext cx="3231007" cy="28317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030"/>
              </a:lnSpc>
              <a:buNone/>
            </a:pPr>
            <a:r>
              <a:rPr lang="en-US" sz="14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미승인자료</a:t>
            </a:r>
            <a:r>
              <a:rPr lang="en-US" sz="14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 사용 금지</a:t>
            </a:r>
            <a:endParaRPr lang="en-US" sz="1400" dirty="0"/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유의사항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발생 예상 민원사례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2800" y="2264866"/>
            <a:ext cx="5130800" cy="0"/>
          </a:xfrm>
          <a:prstGeom prst="line">
            <a:avLst/>
          </a:prstGeom>
          <a:noFill/>
          <a:ln w="19050">
            <a:solidFill>
              <a:srgbClr val="0F234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12800" y="1562001"/>
            <a:ext cx="528472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종신보험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12800" y="1818481"/>
            <a:ext cx="5284724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장기상품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12800" y="2401391"/>
            <a:ext cx="5130800" cy="1129903"/>
          </a:xfrm>
          <a:prstGeom prst="roundRect">
            <a:avLst>
              <a:gd name="adj" fmla="val 4496"/>
            </a:avLst>
          </a:prstGeom>
          <a:solidFill>
            <a:srgbClr val="F3F5F8"/>
          </a:solidFill>
          <a:ln/>
        </p:spPr>
        <p:txBody>
          <a:bodyPr wrap="square" lIns="188321" tIns="137521" rIns="46589" bIns="137521" rtlCol="0" anchor="ctr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“</a:t>
            </a: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저축(or 연금)상품</a:t>
            </a: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으로 알았는데, 보장성(or 종신)상품으로 가입되어 있다”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12800" y="3658295"/>
            <a:ext cx="5130800" cy="1130002"/>
          </a:xfrm>
          <a:prstGeom prst="roundRect">
            <a:avLst>
              <a:gd name="adj" fmla="val 4496"/>
            </a:avLst>
          </a:prstGeom>
          <a:solidFill>
            <a:srgbClr val="F3F5F8"/>
          </a:solidFill>
          <a:ln/>
        </p:spPr>
        <p:txBody>
          <a:bodyPr wrap="square" lIns="188321" tIns="137521" rIns="188321" bIns="137521" rtlCol="0" anchor="ctr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“</a:t>
            </a: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투자상품</a:t>
            </a: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으로 설명 받았다”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12800" y="4915297"/>
            <a:ext cx="5130800" cy="1129903"/>
          </a:xfrm>
          <a:prstGeom prst="roundRect">
            <a:avLst>
              <a:gd name="adj" fmla="val 4496"/>
            </a:avLst>
          </a:prstGeom>
          <a:solidFill>
            <a:srgbClr val="F3F5F8"/>
          </a:solidFill>
          <a:ln/>
        </p:spPr>
        <p:txBody>
          <a:bodyPr wrap="square" lIns="188321" tIns="137521" rIns="46589" bIns="137521" rtlCol="0" anchor="ctr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“</a:t>
            </a: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단기에 원금확보(or 원금보장)</a:t>
            </a: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가 가능한 상품으로 설명 받았다”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48400" y="2264866"/>
            <a:ext cx="5130800" cy="0"/>
          </a:xfrm>
          <a:prstGeom prst="line">
            <a:avLst/>
          </a:prstGeom>
          <a:noFill/>
          <a:ln w="19050">
            <a:solidFill>
              <a:srgbClr val="CD9B3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48400" y="1562001"/>
            <a:ext cx="5284724" cy="256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820"/>
              </a:lnSpc>
              <a:buNone/>
            </a:pPr>
            <a:r>
              <a:rPr lang="en-US" sz="1300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달러상품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248400" y="1818481"/>
            <a:ext cx="5284724" cy="3606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640"/>
              </a:lnSpc>
              <a:buNone/>
            </a:pPr>
            <a:r>
              <a:rPr lang="en-US" sz="22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원화환산서비스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6248400" y="2401391"/>
            <a:ext cx="5130800" cy="1129903"/>
          </a:xfrm>
          <a:prstGeom prst="roundRect">
            <a:avLst>
              <a:gd name="adj" fmla="val 4496"/>
            </a:avLst>
          </a:prstGeom>
          <a:solidFill>
            <a:srgbClr val="FBF4E3"/>
          </a:solidFill>
          <a:ln/>
        </p:spPr>
        <p:txBody>
          <a:bodyPr wrap="square" lIns="188321" tIns="137521" rIns="188321" bIns="137521" rtlCol="0" anchor="ctr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“</a:t>
            </a:r>
            <a:r>
              <a:rPr lang="en-US" sz="1500" b="1" dirty="0">
                <a:solidFill>
                  <a:srgbClr val="A318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보험료가 변동</a:t>
            </a: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되는지 몰랐다”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248400" y="3658295"/>
            <a:ext cx="5130800" cy="1130002"/>
          </a:xfrm>
          <a:prstGeom prst="roundRect">
            <a:avLst>
              <a:gd name="adj" fmla="val 4496"/>
            </a:avLst>
          </a:prstGeom>
          <a:solidFill>
            <a:srgbClr val="FBF4E3"/>
          </a:solidFill>
          <a:ln/>
        </p:spPr>
        <p:txBody>
          <a:bodyPr wrap="square" lIns="188321" tIns="137521" rIns="46589" bIns="137521" rtlCol="0" anchor="ctr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“</a:t>
            </a:r>
            <a:r>
              <a:rPr lang="en-US" sz="1500" b="1" dirty="0">
                <a:solidFill>
                  <a:srgbClr val="A318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환차손</a:t>
            </a: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으로 인해 손해가 가능한 상품인지 몰랐다” </a:t>
            </a:r>
            <a:r>
              <a:rPr lang="en-US" sz="1500" dirty="0">
                <a:solidFill>
                  <a:srgbClr val="A318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(환율하락 시 집중 가능성)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248400" y="4915297"/>
            <a:ext cx="5130800" cy="1129903"/>
          </a:xfrm>
          <a:prstGeom prst="roundRect">
            <a:avLst>
              <a:gd name="adj" fmla="val 4496"/>
            </a:avLst>
          </a:prstGeom>
          <a:solidFill>
            <a:srgbClr val="FBF4E3"/>
          </a:solidFill>
          <a:ln/>
        </p:spPr>
        <p:txBody>
          <a:bodyPr wrap="square" lIns="188321" tIns="137521" rIns="188321" bIns="137521" rtlCol="0" anchor="ctr">
            <a:normAutofit/>
          </a:bodyPr>
          <a:lstStyle/>
          <a:p>
            <a:pPr algn="l" indent="0" marL="0">
              <a:lnSpc>
                <a:spcPts val="2175"/>
              </a:lnSpc>
              <a:buNone/>
            </a:pP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“</a:t>
            </a:r>
            <a:r>
              <a:rPr lang="en-US" sz="1500" b="1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원화! 환산! 서비스!</a:t>
            </a:r>
            <a:r>
              <a:rPr lang="en-US" sz="15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에 대한 설명을 못 들었다”</a:t>
            </a:r>
            <a:endParaRPr lang="en-US" sz="1500" dirty="0"/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CD9B3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달러의 가치를 전달하는 법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달러로 받는 랍스터 뷔페</a:t>
            </a:r>
            <a:endParaRPr lang="en-US" sz="2800" dirty="0"/>
          </a:p>
        </p:txBody>
      </p:sp>
      <p:pic>
        <p:nvPicPr>
          <p:cNvPr id="4" name="Image 0" descr="뷔페 매장에 진열된 랍스터">    </p:cNvPr>
          <p:cNvPicPr>
            <a:picLocks noChangeAspect="1"/>
          </p:cNvPicPr>
          <p:nvPr/>
        </p:nvPicPr>
        <p:blipFill>
          <a:blip r:embed="rId1"/>
          <a:srcRect l="10638" r="10638" t="0" b="0"/>
          <a:stretch/>
        </p:blipFill>
        <p:spPr>
          <a:xfrm>
            <a:off x="812800" y="1536601"/>
            <a:ext cx="3937000" cy="4292600"/>
          </a:xfrm>
          <a:prstGeom prst="roundRect">
            <a:avLst>
              <a:gd name="adj" fmla="val 1290"/>
            </a:avLst>
          </a:prstGeom>
        </p:spPr>
      </p:pic>
      <p:pic>
        <p:nvPicPr>
          <p:cNvPr id="5" name="Image 1" descr="이용가격 안내판: 성인 $100, 어린이 $50, 원화와 달러 모두 결제 가능">    </p:cNvPr>
          <p:cNvPicPr>
            <a:picLocks noChangeAspect="1"/>
          </p:cNvPicPr>
          <p:nvPr/>
        </p:nvPicPr>
        <p:blipFill>
          <a:blip r:embed="rId2"/>
          <a:srcRect l="15345" r="15345" t="0" b="0"/>
          <a:stretch/>
        </p:blipFill>
        <p:spPr>
          <a:xfrm>
            <a:off x="5003800" y="1536601"/>
            <a:ext cx="2667000" cy="4292600"/>
          </a:xfrm>
          <a:prstGeom prst="roundRect">
            <a:avLst>
              <a:gd name="adj" fmla="val 1905"/>
            </a:avLst>
          </a:prstGeom>
        </p:spPr>
      </p:pic>
      <p:sp>
        <p:nvSpPr>
          <p:cNvPr id="6" name="Text 2"/>
          <p:cNvSpPr/>
          <p:nvPr/>
        </p:nvSpPr>
        <p:spPr>
          <a:xfrm>
            <a:off x="7924800" y="2815630"/>
            <a:ext cx="355803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‘진짜 대서양에서 잡힌 랍스터’ 마케팅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7924800" y="3288010"/>
            <a:ext cx="3558032" cy="6145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32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· 점점 떨어지는 환율에 매장은 대기 1시간은 기본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7924800" y="4054971"/>
            <a:ext cx="3558032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CD9B34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‘달러’로 내는 보험료의 가치를 전달하면 보험영업도 성공!!</a:t>
            </a:r>
            <a:endParaRPr lang="en-US" sz="2000" dirty="0"/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2245320"/>
            <a:ext cx="6409690" cy="3098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240"/>
              </a:lnSpc>
              <a:buNone/>
            </a:pPr>
            <a:r>
              <a:rPr lang="en-US" sz="1600" b="1" dirty="0">
                <a:solidFill>
                  <a:srgbClr val="3D475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(무)유니버셜달러종신보험</a:t>
            </a:r>
            <a:endParaRPr lang="en-US" sz="16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2783780"/>
            <a:ext cx="6409690" cy="1854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7200"/>
              </a:lnSpc>
              <a:buNone/>
            </a:pPr>
            <a:r>
              <a:rPr lang="en-US" sz="6000" b="1" i="0" dirty="0">
                <a:solidFill>
                  <a:srgbClr val="7C5916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보험</a:t>
            </a:r>
            <a:r>
              <a:rPr lang="en-US" sz="60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으로 묻고</a:t>
            </a:r>
            <a:endParaRPr lang="en-US" sz="6000" dirty="0"/>
          </a:p>
          <a:p>
            <a:pPr algn="l" indent="0" marL="0">
              <a:lnSpc>
                <a:spcPts val="7200"/>
              </a:lnSpc>
              <a:buNone/>
            </a:pPr>
            <a:r>
              <a:rPr lang="en-US" sz="6000" b="1" i="0" dirty="0">
                <a:solidFill>
                  <a:srgbClr val="2E4A72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달러</a:t>
            </a:r>
            <a:r>
              <a:rPr lang="en-US" sz="60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로 답하다!</a:t>
            </a:r>
            <a:endParaRPr lang="en-US" sz="6000" dirty="0"/>
          </a:p>
        </p:txBody>
      </p:sp>
      <p:pic>
        <p:nvPicPr>
          <p:cNvPr id="4" name="Image 0" descr="고무줄로 묶은 100달러 지폐 뭉치">    </p:cNvPr>
          <p:cNvPicPr>
            <a:picLocks noChangeAspect="1"/>
          </p:cNvPicPr>
          <p:nvPr/>
        </p:nvPicPr>
        <p:blipFill>
          <a:blip r:embed="rId1"/>
          <a:srcRect l="-29" r="-29" t="0" b="0"/>
          <a:stretch/>
        </p:blipFill>
        <p:spPr>
          <a:xfrm>
            <a:off x="7442200" y="1651000"/>
            <a:ext cx="3937000" cy="3556000"/>
          </a:xfrm>
          <a:prstGeom prst="rect">
            <a:avLst/>
          </a:prstGeom>
        </p:spPr>
      </p:pic>
    </p:spTree>
  </p:cSld>
  <p:clrMapOvr>
    <a:masterClrMapping/>
  </p:clrMapOvr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C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12800" y="609600"/>
            <a:ext cx="10883392" cy="2387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680"/>
              </a:lnSpc>
              <a:buNone/>
            </a:pPr>
            <a:r>
              <a:rPr lang="en-US" sz="1200" b="1" spc="100" kern="0" dirty="0">
                <a:solidFill>
                  <a:srgbClr val="7C5916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유니버셜달러종신 · 실행</a:t>
            </a:r>
            <a:endParaRPr lang="en-US" sz="1200" dirty="0"/>
          </a:p>
        </p:txBody>
      </p:sp>
      <p:sp>
        <p:nvSpPr>
          <p:cNvPr id="3" name="Text 1"/>
          <p:cNvSpPr/>
          <p:nvPr>
            <p:ph type="title"/>
          </p:nvPr>
        </p:nvSpPr>
        <p:spPr>
          <a:xfrm>
            <a:off x="812800" y="899120"/>
            <a:ext cx="10883392" cy="434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220"/>
              </a:lnSpc>
              <a:buNone/>
            </a:pPr>
            <a:r>
              <a:rPr lang="en-US" sz="2800" b="1" i="0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타겟 리스트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15975" y="1615976"/>
            <a:ext cx="5149850" cy="4426049"/>
          </a:xfrm>
          <a:prstGeom prst="roundRect">
            <a:avLst>
              <a:gd name="adj" fmla="val 1076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74750" y="1974751"/>
            <a:ext cx="4565269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1. 신규, 타사 가망고객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174750" y="2518271"/>
            <a:ext cx="4565269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1) 사망보장 업그레이드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74750" y="3058021"/>
            <a:ext cx="4565269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2) 달러유니버셜종신 + 건강보험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226175" y="1615976"/>
            <a:ext cx="5149850" cy="4426049"/>
          </a:xfrm>
          <a:prstGeom prst="roundRect">
            <a:avLst>
              <a:gd name="adj" fmla="val 1076"/>
            </a:avLst>
          </a:prstGeom>
          <a:solidFill>
            <a:srgbClr val="FFFFFF"/>
          </a:solidFill>
          <a:ln w="6350">
            <a:solidFill>
              <a:srgbClr val="E1E6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4950" y="1974751"/>
            <a:ext cx="4565269" cy="3911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80"/>
              </a:lnSpc>
              <a:buNone/>
            </a:pPr>
            <a:r>
              <a:rPr lang="en-US" sz="2400" b="1" dirty="0">
                <a:solidFill>
                  <a:srgbClr val="0F2340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2. 기존 고객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6584950" y="2518271"/>
            <a:ext cx="4565269" cy="387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850"/>
              </a:lnSpc>
              <a:buNone/>
            </a:pPr>
            <a:r>
              <a:rPr lang="en-US" sz="1900" dirty="0">
                <a:solidFill>
                  <a:srgbClr val="18202E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1) 기존 종신보험 주계약 리모델링</a:t>
            </a:r>
            <a:endParaRPr lang="en-US" sz="1900" dirty="0"/>
          </a:p>
        </p:txBody>
      </p:sp>
    </p:spTree>
  </p:cSld>
  <p:clrMapOvr>
    <a:masterClrMapping/>
  </p:clrMapOvr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0F23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52400" cy="6858000"/>
          </a:xfrm>
          <a:prstGeom prst="rect">
            <a:avLst/>
          </a:prstGeom>
          <a:solidFill>
            <a:srgbClr val="CD9B34"/>
          </a:solidFill>
          <a:ln/>
        </p:spPr>
      </p:sp>
      <p:sp>
        <p:nvSpPr>
          <p:cNvPr id="3" name="Text 1"/>
          <p:cNvSpPr/>
          <p:nvPr/>
        </p:nvSpPr>
        <p:spPr>
          <a:xfrm>
            <a:off x="812800" y="812800"/>
            <a:ext cx="10883392" cy="2742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1960"/>
              </a:lnSpc>
              <a:buNone/>
            </a:pPr>
            <a:r>
              <a:rPr lang="en-US" sz="1400" b="1" spc="200" kern="0" dirty="0">
                <a:solidFill>
                  <a:srgbClr val="E6CF97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2026년 2월 Issue &amp; Concept</a:t>
            </a:r>
            <a:endParaRPr lang="en-US" sz="1400" dirty="0"/>
          </a:p>
        </p:txBody>
      </p:sp>
      <p:sp>
        <p:nvSpPr>
          <p:cNvPr id="4" name="Text 2"/>
          <p:cNvSpPr/>
          <p:nvPr>
            <p:ph type="title"/>
          </p:nvPr>
        </p:nvSpPr>
        <p:spPr>
          <a:xfrm>
            <a:off x="812800" y="2729210"/>
            <a:ext cx="10883392" cy="863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6600"/>
              </a:lnSpc>
              <a:buNone/>
            </a:pPr>
            <a:r>
              <a:rPr lang="en-US" sz="6000" b="1" i="0" dirty="0">
                <a:solidFill>
                  <a:srgbClr val="FFFFFF"/>
                </a:solidFill>
                <a:latin typeface="Gothic A1" pitchFamily="34" charset="0"/>
                <a:ea typeface="Gothic A1" pitchFamily="34" charset="-122"/>
                <a:cs typeface="Gothic A1" pitchFamily="34" charset="-120"/>
              </a:rPr>
              <a:t>한국보험금융(주)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12800" y="3719810"/>
            <a:ext cx="10883392" cy="416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3080"/>
              </a:lnSpc>
              <a:buNone/>
            </a:pPr>
            <a:r>
              <a:rPr lang="en-US" sz="2200" dirty="0">
                <a:solidFill>
                  <a:srgbClr val="CD9B34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사람을 위한 따뜻한 보험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12800" y="5778500"/>
            <a:ext cx="10883392" cy="2921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ts val="2100"/>
              </a:lnSpc>
              <a:buNone/>
            </a:pPr>
            <a:r>
              <a:rPr lang="en-US" sz="1500" dirty="0">
                <a:solidFill>
                  <a:srgbClr val="C9D2E0"/>
                </a:solidFill>
                <a:latin typeface="IBM Plex Sans KR" pitchFamily="34" charset="0"/>
                <a:ea typeface="IBM Plex Sans KR" pitchFamily="34" charset="-122"/>
                <a:cs typeface="IBM Plex Sans KR" pitchFamily="34" charset="-120"/>
              </a:rPr>
              <a:t>전략채널본부 조진열 관리부장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026년 2월 Issue &amp; Concept">
  <a:themeElements>
    <a:clrScheme name="2026년 2월 Issue &amp; Concept">
      <a:dk1>
        <a:srgbClr val="0F2340"/>
      </a:dk1>
      <a:lt1>
        <a:srgbClr val="FCFCFA"/>
      </a:lt1>
      <a:dk2>
        <a:srgbClr val="4A596F"/>
      </a:dk2>
      <a:lt2>
        <a:srgbClr val="E4E6E7"/>
      </a:lt2>
      <a:accent1>
        <a:srgbClr val="7C5916"/>
      </a:accent1>
      <a:accent2>
        <a:srgbClr val="CD9B34"/>
      </a:accent2>
      <a:accent3>
        <a:srgbClr val="E6CF97"/>
      </a:accent3>
      <a:accent4>
        <a:srgbClr val="A3182E"/>
      </a:accent4>
      <a:accent5>
        <a:srgbClr val="2E4A72"/>
      </a:accent5>
      <a:accent6>
        <a:srgbClr val="1E6B4F"/>
      </a:accent6>
      <a:hlink>
        <a:srgbClr val="0563C1"/>
      </a:hlink>
      <a:folHlink>
        <a:srgbClr val="954F72"/>
      </a:folHlink>
    </a:clrScheme>
    <a:fontScheme name="2026년 2월 Issue &amp; Concept">
      <a:majorFont>
        <a:latin typeface="Gothic A1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 KR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121</Slides>
  <Notes>121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121</vt:i4>
      </vt:variant>
    </vt:vector>
  </HeadingPairs>
  <TitlesOfParts>
    <vt:vector size="1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2026년 2월 Issue &amp; Concept</dc:title>
  <dc:subject/>
  <dc:creator/>
  <cp:lastModifiedBy/>
  <cp:revision>1</cp:revision>
  <dcterms:created xsi:type="dcterms:W3CDTF">2026-10-23T05:19:01Z</dcterms:created>
  <dcterms:modified xsi:type="dcterms:W3CDTF">2026-10-23T05:19:01Z</dcterms:modified>
</cp:coreProperties>
</file>