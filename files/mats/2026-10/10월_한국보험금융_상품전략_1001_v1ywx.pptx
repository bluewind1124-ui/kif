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794" r:id="rId3"/>
    <p:sldId id="1448947329" r:id="rId4"/>
    <p:sldId id="1448947348" r:id="rId5"/>
    <p:sldId id="1448947359" r:id="rId6"/>
    <p:sldId id="1448947360" r:id="rId7"/>
    <p:sldId id="1448947358" r:id="rId8"/>
    <p:sldId id="1077" r:id="rId9"/>
    <p:sldId id="1448947362" r:id="rId10"/>
    <p:sldId id="1448947353" r:id="rId11"/>
    <p:sldId id="1448947354" r:id="rId12"/>
    <p:sldId id="1448947356" r:id="rId13"/>
    <p:sldId id="1448947357" r:id="rId14"/>
    <p:sldId id="1448947349" r:id="rId15"/>
    <p:sldId id="1448947351" r:id="rId16"/>
    <p:sldId id="1448947361" r:id="rId17"/>
    <p:sldId id="1093" r:id="rId18"/>
    <p:sldId id="395" r:id="rId19"/>
    <p:sldId id="934" r:id="rId20"/>
    <p:sldId id="805" r:id="rId21"/>
    <p:sldId id="946" r:id="rId22"/>
    <p:sldId id="1022" r:id="rId23"/>
    <p:sldId id="1023" r:id="rId24"/>
    <p:sldId id="1024" r:id="rId25"/>
    <p:sldId id="951" r:id="rId26"/>
    <p:sldId id="1067" r:id="rId27"/>
    <p:sldId id="1448947344" r:id="rId28"/>
    <p:sldId id="1448947345" r:id="rId29"/>
    <p:sldId id="1448947346" r:id="rId30"/>
    <p:sldId id="1448947347" r:id="rId31"/>
    <p:sldId id="311" r:id="rId32"/>
  </p:sldIdLst>
  <p:sldSz cx="12192000" cy="6858000"/>
  <p:notesSz cx="6797675" cy="9929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F3B24"/>
    <a:srgbClr val="100A94"/>
    <a:srgbClr val="0C419A"/>
    <a:srgbClr val="F37321"/>
    <a:srgbClr val="0146F5"/>
    <a:srgbClr val="665DCF"/>
    <a:srgbClr val="E6F3FD"/>
    <a:srgbClr val="0046FF"/>
    <a:srgbClr val="FFF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3212" autoAdjust="0"/>
  </p:normalViewPr>
  <p:slideViewPr>
    <p:cSldViewPr snapToGrid="0">
      <p:cViewPr varScale="1">
        <p:scale>
          <a:sx n="103" d="100"/>
          <a:sy n="103" d="100"/>
        </p:scale>
        <p:origin x="1074" y="-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215"/>
          </a:xfrm>
          <a:prstGeom prst="rect">
            <a:avLst/>
          </a:prstGeom>
        </p:spPr>
        <p:txBody>
          <a:bodyPr vert="horz" lIns="95581" tIns="47790" rIns="95581" bIns="47790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2" y="1"/>
            <a:ext cx="2945659" cy="498215"/>
          </a:xfrm>
          <a:prstGeom prst="rect">
            <a:avLst/>
          </a:prstGeom>
        </p:spPr>
        <p:txBody>
          <a:bodyPr vert="horz" lIns="95581" tIns="47790" rIns="95581" bIns="47790" rtlCol="0"/>
          <a:lstStyle>
            <a:lvl1pPr algn="r">
              <a:defRPr sz="1300"/>
            </a:lvl1pPr>
          </a:lstStyle>
          <a:p>
            <a:fld id="{5C247EB6-E5C2-4C4F-9653-3E9120505C95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81" tIns="47790" rIns="95581" bIns="4779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8723"/>
            <a:ext cx="5438140" cy="3909863"/>
          </a:xfrm>
          <a:prstGeom prst="rect">
            <a:avLst/>
          </a:prstGeom>
        </p:spPr>
        <p:txBody>
          <a:bodyPr vert="horz" lIns="95581" tIns="47790" rIns="95581" bIns="4779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5581" tIns="47790" rIns="95581" bIns="47790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2" y="9431600"/>
            <a:ext cx="2945659" cy="498214"/>
          </a:xfrm>
          <a:prstGeom prst="rect">
            <a:avLst/>
          </a:prstGeom>
        </p:spPr>
        <p:txBody>
          <a:bodyPr vert="horz" lIns="95581" tIns="47790" rIns="95581" bIns="47790" rtlCol="0" anchor="b"/>
          <a:lstStyle>
            <a:lvl1pPr algn="r">
              <a:defRPr sz="1300"/>
            </a:lvl1pPr>
          </a:lstStyle>
          <a:p>
            <a:fld id="{43238271-CDB7-4310-88F1-50E96CAE3E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61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38271-CDB7-4310-88F1-50E96CAE3E3F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840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38271-CDB7-4310-88F1-50E96CAE3E3F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8207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238271-CDB7-4310-88F1-50E96CAE3E3F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383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0F910-8398-484D-82AF-39C82A689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E96FFE-F533-4FE3-BBE4-3F370C00D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137172-DD04-4086-AA2E-2469CCCAA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537A2-CBBF-4C28-8171-E9C073A20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A99FA-30C1-49F0-BB67-D2A791DD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256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7635B-7CAE-4829-AEE5-F773DF00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4CFB9-B438-4D99-9A93-CEAF99079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DB4094-5BD6-40F6-A2CC-310B12B4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E437C-BA38-4116-A29A-4BAFAF02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9C820-FD3C-49D3-8A38-3A4BF184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9963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5A463-20A7-4764-8139-18EF98A4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FC29D4-196F-4CCB-A9C4-C990740CA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3B0703-8A31-4649-95F8-A2BA368F3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343D92-5032-46C3-A184-5A53F0B1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A87862-EB5A-426F-A568-249FF8EF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828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BB22F-F5A4-46AE-8975-27A0AFB2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2886F3-18E0-4261-8431-F31F74AF0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945742-A728-4758-8302-1D40437F8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ADB090-3B20-4542-B453-885BC6C50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576BBD-D2F9-4B8D-9AB2-07621EE3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3130D5-93D3-416D-B1EB-AE35FABB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581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91F74-B37E-4EF6-AAD5-8FDDB7627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AB8018-6A4F-49CF-8E09-093856C1A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54732F-7293-408E-AA8B-A43FF64AB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955255-DB28-4907-917F-7A776495A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2F0E525-8747-4041-95C9-D6885DBCB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5D7271-F8D2-4276-80CC-6E9C951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15532A-A790-4E41-97BA-67A8EE97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742E805-B27A-4255-9977-355D3C39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320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0BCD0-FCB8-47E0-AD09-4F7E76C9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A5C922-46AD-43D9-BF0E-D1988923D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576FF3-61CC-4B28-A149-8F4BA728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D2E485-5BA8-4B19-9CAC-4F3645A2C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0641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B00D61-749B-47D2-BFB0-154797930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37246F-63E6-498E-A45C-FEE1C3E9B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CC9C0A-CB7A-462D-9388-2D02D502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833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D232E-F48C-4630-9DE1-42B9C927F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AF2F80-626C-48E4-9892-FD476F5D1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32940A-D9DF-44B8-9E5A-C5E2A0CD7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DD716C-D96F-4D36-9E6B-71825C0F6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EE8413-F85F-4F58-8254-EA95FFEBB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F570C7-6ADE-4A28-9988-49653748C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60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1B53F-3DBE-4160-9412-288F0F8B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18987A-19A9-46F3-A8CF-AA8CC02EE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FC0225-70E3-43A6-AF54-472FDE019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702E5F-5A18-4E94-B256-C17AC962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06D5FA-1DDB-4D03-B488-8A3258F1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2F6C0B-BF00-4A3C-AB66-D90D84CC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771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5B60C-EC67-42C8-A975-384029FD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6324DE-C00E-4FA6-B5EC-55EB00B18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943EC4-861F-4DBE-BD7D-CA1709AB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21301A-2991-4403-B28C-737EE687E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85C72C-DC8C-40BD-8760-CA8D29C4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365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098510-8CE2-40AA-93CC-6ECC8A05C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F494B4-8413-476B-B130-9DF084433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4F9F81-6958-4964-BC33-9009FD78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9D6437-5AFB-43CB-82B3-EC853426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9A2C4A-1B42-4070-9934-0A57C8EA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31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5ADA95-F799-461D-8425-569AC60DC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17E02C-F6C5-4C10-9E3B-70A32C3B7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DEF8F6-1D1B-4AC9-8C11-9EEEB2E13A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3BE2-1C48-4FC2-8650-4A5CCADB1646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F1AE4D-B0C2-404D-B3BC-C6A4D8F0B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F014A4-2F83-4DC1-B87A-EABA982B3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B8379-4731-44E7-B19B-11C73466D83F}" type="slidenum">
              <a:rPr lang="ko-KR" altLang="en-US" smtClean="0"/>
              <a:t>‹#›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49A0056-3D7A-4427-A6C6-3A38C364A654}"/>
              </a:ext>
            </a:extLst>
          </p:cNvPr>
          <p:cNvGrpSpPr/>
          <p:nvPr userDrawn="1"/>
        </p:nvGrpSpPr>
        <p:grpSpPr>
          <a:xfrm>
            <a:off x="-1537381" y="79153"/>
            <a:ext cx="1404000" cy="7056001"/>
            <a:chOff x="1994179" y="337132"/>
            <a:chExt cx="1403999" cy="6414456"/>
          </a:xfrm>
        </p:grpSpPr>
        <p:graphicFrame>
          <p:nvGraphicFramePr>
            <p:cNvPr id="10" name="표 70">
              <a:extLst>
                <a:ext uri="{FF2B5EF4-FFF2-40B4-BE49-F238E27FC236}">
                  <a16:creationId xmlns:a16="http://schemas.microsoft.com/office/drawing/2014/main" id="{203B4023-8884-4667-80B1-B8BD9CB4ABF7}"/>
                </a:ext>
              </a:extLst>
            </p:cNvPr>
            <p:cNvGraphicFramePr>
              <a:graphicFrameLocks/>
            </p:cNvGraphicFramePr>
            <p:nvPr userDrawn="1">
              <p:extLst>
                <p:ext uri="{D42A27DB-BD31-4B8C-83A1-F6EECF244321}">
                  <p14:modId xmlns:p14="http://schemas.microsoft.com/office/powerpoint/2010/main" val="1793881759"/>
                </p:ext>
              </p:extLst>
            </p:nvPr>
          </p:nvGraphicFramePr>
          <p:xfrm>
            <a:off x="1994179" y="337134"/>
            <a:ext cx="1403999" cy="6185367"/>
          </p:xfrm>
          <a:graphic>
            <a:graphicData uri="http://schemas.openxmlformats.org/drawingml/2006/table">
              <a:tbl>
                <a:tblPr firstRow="1" bandRow="1"/>
                <a:tblGrid>
                  <a:gridCol w="900000">
                    <a:extLst>
                      <a:ext uri="{9D8B030D-6E8A-4147-A177-3AD203B41FA5}">
                        <a16:colId xmlns:a16="http://schemas.microsoft.com/office/drawing/2014/main" val="3953706172"/>
                      </a:ext>
                    </a:extLst>
                  </a:gridCol>
                  <a:gridCol w="252000">
                    <a:extLst>
                      <a:ext uri="{9D8B030D-6E8A-4147-A177-3AD203B41FA5}">
                        <a16:colId xmlns:a16="http://schemas.microsoft.com/office/drawing/2014/main" val="379123263"/>
                      </a:ext>
                    </a:extLst>
                  </a:gridCol>
                  <a:gridCol w="252000">
                    <a:extLst>
                      <a:ext uri="{9D8B030D-6E8A-4147-A177-3AD203B41FA5}">
                        <a16:colId xmlns:a16="http://schemas.microsoft.com/office/drawing/2014/main" val="412403904"/>
                      </a:ext>
                    </a:extLst>
                  </a:gridCol>
                </a:tblGrid>
                <a:tr h="252000">
                  <a:tc gridSpan="3">
                    <a:txBody>
                      <a:bodyPr/>
                      <a:lstStyle>
                        <a:lvl1pPr marL="0" algn="l" defTabSz="914400" rtl="0" eaLnBrk="1" latinLnBrk="1" hangingPunct="1">
                          <a:defRPr sz="1800" b="1" kern="1200">
                            <a:solidFill>
                              <a:schemeClr val="lt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b="1" kern="1200">
                            <a:solidFill>
                              <a:schemeClr val="lt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b="1" kern="1200">
                            <a:solidFill>
                              <a:schemeClr val="lt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b="1" kern="1200">
                            <a:solidFill>
                              <a:schemeClr val="lt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b="1" kern="1200">
                            <a:solidFill>
                              <a:schemeClr val="lt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b="1" kern="1200">
                            <a:solidFill>
                              <a:schemeClr val="lt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b="1" kern="1200">
                            <a:solidFill>
                              <a:schemeClr val="lt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b="1" kern="1200">
                            <a:solidFill>
                              <a:schemeClr val="lt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b="1" kern="1200">
                            <a:solidFill>
                              <a:schemeClr val="lt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색상표</a:t>
                        </a: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ysClr val="window" lastClr="FFFFFF">
                          <a:lumMod val="95000"/>
                        </a:sys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 latinLnBrk="1"/>
                        <a:endParaRPr lang="ko-KR" altLang="en-US" sz="1000" dirty="0"/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E52712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pPr algn="ctr" latinLnBrk="1"/>
                        <a:endParaRPr lang="ko-KR" altLang="en-US" sz="1000" dirty="0"/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167423642"/>
                    </a:ext>
                  </a:extLst>
                </a:tr>
                <a:tr h="252000">
                  <a:tc>
                    <a:txBody>
                      <a:bodyPr/>
                      <a:lstStyle/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한국보험금융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D6A64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241814184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en-US" altLang="ko-KR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ABL</a:t>
                        </a:r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E3124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398128410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en-US" altLang="ko-KR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DB</a:t>
                        </a:r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854A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528231619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en-US" altLang="ko-KR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iM</a:t>
                        </a:r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라이프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C7A9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130736566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en-US" altLang="ko-KR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IBK</a:t>
                        </a:r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연금보험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56A4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99DA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26598050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en-US" altLang="ko-KR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KB</a:t>
                        </a:r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라이프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BC00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60584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823870638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en-US" altLang="ko-KR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KDB</a:t>
                        </a:r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3C7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654775995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en-US" altLang="ko-KR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NH</a:t>
                        </a:r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농협생명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B300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C419A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946966801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교보생명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4DAC27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81D5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0816954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동양생명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solidFill>
                            <a:srgbClr val="2498D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599D9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496873151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라이나생명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CAF17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100A94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013182236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메트라이프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61A0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A4CE4E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65620081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미래에셋생명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58220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43B7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807686761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삼성생명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3CDC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5BC2E7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729004519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신한라이프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665DC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92B3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19328187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처브라이프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6E27C5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654354874"/>
                    </a:ext>
                  </a:extLst>
                </a:tr>
                <a:tr h="252000">
                  <a:tc>
                    <a:txBody>
                      <a:bodyPr/>
                      <a:lstStyle/>
                      <a:p>
                        <a:pPr algn="r" latinLnBrk="1"/>
                        <a:r>
                          <a:rPr lang="ko-KR" altLang="en-US" sz="800" b="1" dirty="0" err="1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카디프생명</a:t>
                        </a:r>
                        <a:endPara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11875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175709103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푸본현대생명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85AE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979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545826315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하나생명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9178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DC221E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991376758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한화생명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3732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509254801"/>
                    </a:ext>
                  </a:extLst>
                </a:tr>
                <a:tr h="252000"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흥국생명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C008C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1pPr>
                        <a:lvl2pPr marL="457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2pPr>
                        <a:lvl3pPr marL="914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3pPr>
                        <a:lvl4pPr marL="1371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4pPr>
                        <a:lvl5pPr marL="18288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5pPr>
                        <a:lvl6pPr marL="22860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6pPr>
                        <a:lvl7pPr marL="27432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7pPr>
                        <a:lvl8pPr marL="32004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8pPr>
                        <a:lvl9pPr marL="3657600" algn="l" defTabSz="914400" rtl="0" eaLnBrk="1" latinLnBrk="1" hangingPunct="1">
                          <a:defRPr sz="1800" kern="1200">
                            <a:solidFill>
                              <a:schemeClr val="dk1"/>
                            </a:solidFill>
                            <a:latin typeface="나눔고딕 Bold"/>
                            <a:ea typeface="a고딕14"/>
                          </a:defRPr>
                        </a:lvl9pPr>
                      </a:lstStyle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351B6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32016306"/>
                    </a:ext>
                  </a:extLst>
                </a:tr>
                <a:tr h="252000">
                  <a:tc>
                    <a:txBody>
                      <a:bodyPr/>
                      <a:lstStyle/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현대해상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18D0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2F7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989855637"/>
                    </a:ext>
                  </a:extLst>
                </a:tr>
                <a:tr h="252000">
                  <a:tc>
                    <a:txBody>
                      <a:bodyPr/>
                      <a:lstStyle/>
                      <a:p>
                        <a:pPr algn="r" latinLnBrk="1"/>
                        <a:r>
                          <a:rPr lang="en-US" altLang="ko-KR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AIG</a:t>
                        </a:r>
                        <a:r>
                          <a:rPr lang="ko-KR" altLang="en-US" sz="800" b="1" dirty="0" err="1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손보</a:t>
                        </a:r>
                        <a:endPara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146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A4E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596908480"/>
                    </a:ext>
                  </a:extLst>
                </a:tr>
                <a:tr h="252000">
                  <a:tc>
                    <a:txBody>
                      <a:bodyPr/>
                      <a:lstStyle/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메리츠화재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3B2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6D6E7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776664831"/>
                    </a:ext>
                  </a:extLst>
                </a:tr>
                <a:tr h="252000">
                  <a:tc>
                    <a:txBody>
                      <a:bodyPr/>
                      <a:lstStyle/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롯데손보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DC351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00000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261494669"/>
                    </a:ext>
                  </a:extLst>
                </a:tr>
                <a:tr h="252000">
                  <a:tc>
                    <a:txBody>
                      <a:bodyPr/>
                      <a:lstStyle/>
                      <a:p>
                        <a:pPr algn="r" latinLnBrk="1"/>
                        <a:r>
                          <a:rPr lang="ko-KR" altLang="en-US" sz="800" b="1" dirty="0">
                            <a:ln>
                              <a:solidFill>
                                <a:schemeClr val="accent1">
                                  <a:shade val="50000"/>
                                  <a:alpha val="0"/>
                                </a:schemeClr>
                              </a:solidFill>
                            </a:ln>
                            <a:solidFill>
                              <a:schemeClr val="tx1"/>
                            </a:solidFill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라이나손보</a:t>
                        </a: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317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16BED5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endParaRPr lang="ko-KR" altLang="en-US" sz="10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a:txBody>
                    <a:tcPr marL="72000" marR="72000" marT="36000" marB="36000"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372371990"/>
                    </a:ext>
                  </a:extLst>
                </a:tr>
              </a:tbl>
            </a:graphicData>
          </a:graphic>
        </p:graphicFrame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E556A6-4C00-4910-8E25-EACCDEDCF74A}"/>
                </a:ext>
              </a:extLst>
            </p:cNvPr>
            <p:cNvSpPr>
              <a:spLocks/>
            </p:cNvSpPr>
            <p:nvPr/>
          </p:nvSpPr>
          <p:spPr>
            <a:xfrm>
              <a:off x="1994179" y="337132"/>
              <a:ext cx="1403999" cy="6414456"/>
            </a:xfrm>
            <a:prstGeom prst="rect">
              <a:avLst/>
            </a:prstGeom>
            <a:noFill/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63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a고딕14"/>
                <a:cs typeface="+mn-cs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321F978-DA16-4BB1-9166-58180164667B}"/>
              </a:ext>
            </a:extLst>
          </p:cNvPr>
          <p:cNvSpPr txBox="1"/>
          <p:nvPr userDrawn="1"/>
        </p:nvSpPr>
        <p:spPr>
          <a:xfrm rot="20498283">
            <a:off x="3118099" y="2790364"/>
            <a:ext cx="5955803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700" dirty="0">
                <a:solidFill>
                  <a:schemeClr val="bg1">
                    <a:lumMod val="9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한국보험금융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3CCF1-D12A-9A3A-6E1C-0DD4295061DA}"/>
              </a:ext>
            </a:extLst>
          </p:cNvPr>
          <p:cNvSpPr txBox="1"/>
          <p:nvPr userDrawn="1"/>
        </p:nvSpPr>
        <p:spPr>
          <a:xfrm>
            <a:off x="0" y="6616044"/>
            <a:ext cx="12192000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0" dirty="0">
                <a:solidFill>
                  <a:schemeClr val="bg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※</a:t>
            </a:r>
            <a:r>
              <a:rPr lang="ko-KR" altLang="en-US" sz="1000" b="0" dirty="0">
                <a:solidFill>
                  <a:schemeClr val="bg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本 자료는 고객설명 및 외부유출을 엄금하며</a:t>
            </a:r>
            <a:r>
              <a:rPr lang="en-US" altLang="ko-KR" sz="1000" b="0" dirty="0">
                <a:solidFill>
                  <a:schemeClr val="bg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, </a:t>
            </a:r>
            <a:r>
              <a:rPr lang="ko-KR" altLang="en-US" sz="1000" b="0" dirty="0">
                <a:solidFill>
                  <a:schemeClr val="bg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상품에 대한 자세한 내용은 약관 및 상품설명서를 참고해 주시기 바랍니다</a:t>
            </a:r>
            <a:r>
              <a:rPr lang="en-US" altLang="ko-KR" sz="1000" b="0" dirty="0">
                <a:solidFill>
                  <a:schemeClr val="bg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. (</a:t>
            </a:r>
            <a:r>
              <a:rPr lang="ko-KR" altLang="en-US" sz="1000" b="0" dirty="0">
                <a:solidFill>
                  <a:schemeClr val="bg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마케팅부 제작 관리번호 </a:t>
            </a:r>
            <a:r>
              <a:rPr lang="en-US" altLang="ko-KR" sz="1000" b="0" dirty="0">
                <a:solidFill>
                  <a:schemeClr val="bg1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KIF-MKT-20261001-01)</a:t>
            </a:r>
            <a:endParaRPr lang="ko-KR" altLang="en-US" sz="1000" b="0" dirty="0">
              <a:solidFill>
                <a:schemeClr val="bg1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676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E360417-A674-455D-A58B-65A94418F3E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19" y="1088170"/>
            <a:ext cx="10135162" cy="4681661"/>
          </a:xfrm>
          <a:prstGeom prst="rect">
            <a:avLst/>
          </a:prstGeom>
          <a:effectLst>
            <a:outerShdw blurRad="137656" dist="108523" dir="1080000">
              <a:srgbClr val="082A3D">
                <a:alpha val="19000"/>
              </a:srgbClr>
            </a:outerShdw>
          </a:effectLst>
        </p:spPr>
      </p:pic>
      <p:sp>
        <p:nvSpPr>
          <p:cNvPr id="5" name="TextBox 5"/>
          <p:cNvSpPr txBox="1"/>
          <p:nvPr/>
        </p:nvSpPr>
        <p:spPr>
          <a:xfrm>
            <a:off x="1610463" y="2391443"/>
            <a:ext cx="1897970" cy="118939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0470"/>
              </a:lnSpc>
            </a:pPr>
            <a:r>
              <a:rPr lang="en-US" sz="2590" spc="-399" dirty="0">
                <a:solidFill>
                  <a:srgbClr val="4D4D4D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  <a:cs typeface="조선일보명조" panose="02030304000000000000" pitchFamily="18" charset="-127"/>
              </a:rPr>
              <a:t>2026</a:t>
            </a:r>
            <a:r>
              <a:rPr lang="ko-KR" altLang="en-US" sz="2590" spc="-399" dirty="0">
                <a:solidFill>
                  <a:srgbClr val="4D4D4D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  <a:cs typeface="조선일보명조" panose="02030304000000000000" pitchFamily="18" charset="-127"/>
              </a:rPr>
              <a:t>년</a:t>
            </a:r>
            <a:r>
              <a:rPr lang="en-US" sz="2590" spc="-399" dirty="0">
                <a:solidFill>
                  <a:srgbClr val="4D4D4D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  <a:cs typeface="조선일보명조" panose="02030304000000000000" pitchFamily="18" charset="-127"/>
              </a:rPr>
              <a:t> 10</a:t>
            </a:r>
            <a:r>
              <a:rPr lang="ko-KR" altLang="en-US" sz="2590" spc="-399" dirty="0">
                <a:solidFill>
                  <a:srgbClr val="4D4D4D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  <a:cs typeface="조선일보명조" panose="02030304000000000000" pitchFamily="18" charset="-127"/>
              </a:rPr>
              <a:t>월</a:t>
            </a:r>
          </a:p>
          <a:p>
            <a:pPr lvl="0" algn="ctr">
              <a:lnSpc>
                <a:spcPct val="90470"/>
              </a:lnSpc>
            </a:pPr>
            <a:r>
              <a:rPr lang="ko-KR" altLang="en-US" sz="2590" spc="-399" dirty="0">
                <a:solidFill>
                  <a:srgbClr val="4D4D4D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  <a:cs typeface="조선일보명조" panose="02030304000000000000" pitchFamily="18" charset="-127"/>
              </a:rPr>
              <a:t>한국보험금융</a:t>
            </a:r>
          </a:p>
          <a:p>
            <a:pPr lvl="0" algn="ctr">
              <a:lnSpc>
                <a:spcPct val="90470"/>
              </a:lnSpc>
            </a:pPr>
            <a:r>
              <a:rPr lang="ko-KR" altLang="en-US" sz="2590" spc="-399" dirty="0">
                <a:solidFill>
                  <a:srgbClr val="4D4D4D"/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  <a:cs typeface="조선일보명조" panose="02030304000000000000" pitchFamily="18" charset="-127"/>
              </a:rPr>
              <a:t>상품전략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82602" y="2024502"/>
            <a:ext cx="2467362" cy="270777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0470"/>
              </a:lnSpc>
            </a:pPr>
            <a:r>
              <a:rPr lang="en-US" sz="15243" spc="996" dirty="0">
                <a:solidFill>
                  <a:srgbClr val="EB9E46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00297" y="2024502"/>
            <a:ext cx="2948181" cy="270777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0470"/>
              </a:lnSpc>
            </a:pPr>
            <a:r>
              <a:rPr lang="ko-KR" altLang="en-US" sz="15200" spc="996" dirty="0">
                <a:solidFill>
                  <a:srgbClr val="EB9E46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월</a:t>
            </a:r>
            <a:endParaRPr lang="ko-KR" altLang="en-US" sz="15243" spc="996" dirty="0">
              <a:solidFill>
                <a:srgbClr val="EB9E46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443961" y="4922070"/>
            <a:ext cx="3720022" cy="29102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35289"/>
              </a:lnSpc>
            </a:pPr>
            <a:r>
              <a:rPr lang="en-US" sz="1395" spc="-100" dirty="0">
                <a:solidFill>
                  <a:srgbClr val="4D4D4D">
                    <a:alpha val="65882"/>
                  </a:srgb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2026.10.01 </a:t>
            </a:r>
            <a:r>
              <a:rPr lang="ko-KR" altLang="en-US" sz="1395" spc="-100" dirty="0">
                <a:solidFill>
                  <a:srgbClr val="4D4D4D">
                    <a:alpha val="65882"/>
                  </a:srgbClr>
                </a:solidFill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마케팅부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8956AD0C-909F-4850-B065-D8D2C2A4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00" y="388157"/>
            <a:ext cx="11160000" cy="5991157"/>
          </a:xfrm>
          <a:prstGeom prst="rect">
            <a:avLst/>
          </a:prstGeom>
          <a:effectLst>
            <a:outerShdw blurRad="361548" dir="2700000">
              <a:srgbClr val="556B73">
                <a:alpha val="41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C3F8BB-2925-4EC0-92DD-DBEA6A41B565}"/>
              </a:ext>
            </a:extLst>
          </p:cNvPr>
          <p:cNvSpPr txBox="1"/>
          <p:nvPr/>
        </p:nvSpPr>
        <p:spPr>
          <a:xfrm>
            <a:off x="1354183" y="2032626"/>
            <a:ext cx="94836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본 자료는 한국보험금융㈜소속 </a:t>
            </a:r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FC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분들의 교육용으로 작성한 자료로</a:t>
            </a:r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, </a:t>
            </a:r>
          </a:p>
          <a:p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    </a:t>
            </a:r>
            <a:r>
              <a:rPr lang="ko-KR" altLang="en-US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고객 교부 및 온라인 게시 목적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으로 사용 할 수 없습니다</a:t>
            </a:r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.</a:t>
            </a:r>
          </a:p>
          <a:p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    (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금융소비자보험법 제</a:t>
            </a:r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22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조 준수</a:t>
            </a:r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)</a:t>
            </a:r>
          </a:p>
          <a:p>
            <a:endParaRPr lang="en-US" altLang="ko-KR" dirty="0">
              <a:latin typeface="조선일보명조" panose="02030304000000000000" pitchFamily="18" charset="-127"/>
              <a:ea typeface="조선일보명조" panose="02030304000000000000" pitchFamily="18" charset="-127"/>
              <a:cs typeface="조선일보명조" panose="02030304000000000000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본 자료에 수록된 내용은 </a:t>
            </a:r>
            <a:r>
              <a:rPr lang="en-US" altLang="ko-KR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2026</a:t>
            </a:r>
            <a:r>
              <a:rPr lang="ko-KR" altLang="en-US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년 </a:t>
            </a:r>
            <a:r>
              <a:rPr lang="en-US" altLang="ko-KR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9</a:t>
            </a:r>
            <a:r>
              <a:rPr lang="ko-KR" altLang="en-US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월 </a:t>
            </a:r>
            <a:r>
              <a:rPr lang="en-US" altLang="ko-KR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30</a:t>
            </a:r>
            <a:r>
              <a:rPr lang="ko-KR" altLang="en-US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일 시점을 기준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으로 작성된 자료이므로</a:t>
            </a:r>
            <a:endParaRPr lang="en-US" altLang="ko-KR" dirty="0">
              <a:latin typeface="조선일보명조" panose="02030304000000000000" pitchFamily="18" charset="-127"/>
              <a:ea typeface="조선일보명조" panose="02030304000000000000" pitchFamily="18" charset="-127"/>
              <a:cs typeface="조선일보명조" panose="02030304000000000000" pitchFamily="18" charset="-127"/>
            </a:endParaRPr>
          </a:p>
          <a:p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    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향후</a:t>
            </a:r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 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상품개정 및 공시이율의 변화 등으로 </a:t>
            </a:r>
            <a:r>
              <a:rPr lang="ko-KR" altLang="en-US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상품이 변경되거나 판매 중단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될 수 있으며</a:t>
            </a:r>
            <a:endParaRPr lang="en-US" altLang="ko-KR" dirty="0">
              <a:latin typeface="조선일보명조" panose="02030304000000000000" pitchFamily="18" charset="-127"/>
              <a:ea typeface="조선일보명조" panose="02030304000000000000" pitchFamily="18" charset="-127"/>
              <a:cs typeface="조선일보명조" panose="02030304000000000000" pitchFamily="18" charset="-127"/>
            </a:endParaRPr>
          </a:p>
          <a:p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    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자세한 내용은 </a:t>
            </a:r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10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월 각 사 자료를 참고 바랍니다</a:t>
            </a:r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.</a:t>
            </a:r>
          </a:p>
          <a:p>
            <a:endParaRPr lang="en-US" altLang="ko-KR" dirty="0">
              <a:latin typeface="조선일보명조" panose="02030304000000000000" pitchFamily="18" charset="-127"/>
              <a:ea typeface="조선일보명조" panose="02030304000000000000" pitchFamily="18" charset="-127"/>
              <a:cs typeface="조선일보명조" panose="02030304000000000000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본 자료는 어떠한 경우에도 고객과의 계약 후 결과에 대한 </a:t>
            </a:r>
            <a:r>
              <a:rPr lang="ko-KR" altLang="en-US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법적 책임소재에 대한</a:t>
            </a:r>
            <a:endParaRPr lang="en-US" altLang="ko-KR" dirty="0">
              <a:solidFill>
                <a:srgbClr val="FF0000"/>
              </a:solidFill>
              <a:latin typeface="조선일보명조" panose="02030304000000000000" pitchFamily="18" charset="-127"/>
              <a:ea typeface="조선일보명조" panose="02030304000000000000" pitchFamily="18" charset="-127"/>
              <a:cs typeface="조선일보명조" panose="02030304000000000000" pitchFamily="18" charset="-127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    </a:t>
            </a:r>
            <a:r>
              <a:rPr lang="ko-KR" altLang="en-US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증빙 자료로 사용될 수 없습니다</a:t>
            </a:r>
            <a:r>
              <a:rPr lang="en-US" altLang="ko-KR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.</a:t>
            </a:r>
          </a:p>
          <a:p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상품에 대한 자세한 내용은 </a:t>
            </a:r>
            <a:r>
              <a:rPr lang="ko-KR" altLang="en-US" dirty="0">
                <a:solidFill>
                  <a:srgbClr val="FF0000"/>
                </a:solidFill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상품설명서 및 약관</a:t>
            </a:r>
            <a:r>
              <a:rPr lang="ko-KR" altLang="en-US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을 참조하시기 바랍니다</a:t>
            </a:r>
            <a:r>
              <a:rPr lang="en-US" altLang="ko-KR" dirty="0">
                <a:latin typeface="조선일보명조" panose="02030304000000000000" pitchFamily="18" charset="-127"/>
                <a:ea typeface="조선일보명조" panose="02030304000000000000" pitchFamily="18" charset="-127"/>
                <a:cs typeface="조선일보명조" panose="02030304000000000000" pitchFamily="18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7A61A8B-C01A-4F99-8BD9-D9D21AF18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344" y="1795745"/>
            <a:ext cx="1880557" cy="2249639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4452123A-FEFC-4E3D-A7BB-49CD84098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40000">
            <a:off x="9461254" y="4827442"/>
            <a:ext cx="4801637" cy="1645976"/>
          </a:xfrm>
          <a:prstGeom prst="rect">
            <a:avLst/>
          </a:prstGeom>
          <a:effectLst>
            <a:outerShdw blurRad="39550" dist="444545" dir="2700000">
              <a:srgbClr val="EEEEEE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911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BD422-8213-E22D-D888-63EE089C8006}"/>
              </a:ext>
            </a:extLst>
          </p:cNvPr>
          <p:cNvSpPr txBox="1"/>
          <p:nvPr/>
        </p:nvSpPr>
        <p:spPr>
          <a:xfrm>
            <a:off x="0" y="3269762"/>
            <a:ext cx="12192000" cy="739754"/>
          </a:xfrm>
          <a:prstGeom prst="rect">
            <a:avLst/>
          </a:prstGeom>
          <a:noFill/>
        </p:spPr>
        <p:txBody>
          <a:bodyPr wrap="square" lIns="90000" tIns="46800" rIns="90000" bIns="0" rtlCol="0" anchor="t" anchorCtr="0">
            <a:spAutoFit/>
          </a:bodyPr>
          <a:lstStyle/>
          <a:p>
            <a:pPr algn="ctr"/>
            <a:r>
              <a:rPr lang="ko-KR" altLang="en-US" sz="45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건강선지급 종신</a:t>
            </a:r>
            <a:endParaRPr lang="en-US" altLang="ko-KR" sz="4500" b="1" spc="-12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189A7F9-7E18-BAF8-BD4F-61719F65A50F}"/>
              </a:ext>
            </a:extLst>
          </p:cNvPr>
          <p:cNvSpPr/>
          <p:nvPr/>
        </p:nvSpPr>
        <p:spPr>
          <a:xfrm>
            <a:off x="4182533" y="2777744"/>
            <a:ext cx="3826934" cy="32545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600" spc="-8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상품전략</a:t>
            </a:r>
            <a:endParaRPr lang="en-US" altLang="ko-KR" sz="1300" spc="-8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3837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263213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3732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한화생명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건강더한종신보험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BF2FC3-27F0-D6C1-B811-805531480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677" y="988138"/>
            <a:ext cx="9888646" cy="55653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349F37-84AC-8267-E513-A747A51759DD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A93EC-2DED-5B45-34C1-A657C4C44B0B}"/>
              </a:ext>
            </a:extLst>
          </p:cNvPr>
          <p:cNvSpPr txBox="1"/>
          <p:nvPr/>
        </p:nvSpPr>
        <p:spPr>
          <a:xfrm>
            <a:off x="572650" y="510111"/>
            <a:ext cx="175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spc="-7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건강선지급 종신</a:t>
            </a:r>
          </a:p>
        </p:txBody>
      </p:sp>
    </p:spTree>
    <p:extLst>
      <p:ext uri="{BB962C8B-B14F-4D97-AF65-F5344CB8AC3E}">
        <p14:creationId xmlns:p14="http://schemas.microsoft.com/office/powerpoint/2010/main" val="2933499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243239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146F5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신한라이프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리필종신보험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BF2FC3-27F0-D6C1-B811-805531480C3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677" y="990000"/>
            <a:ext cx="9888645" cy="55656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34B71D-4394-4974-3F09-491F911E3F63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18D2CF-868D-209B-DF0D-65321F4506E7}"/>
              </a:ext>
            </a:extLst>
          </p:cNvPr>
          <p:cNvSpPr txBox="1"/>
          <p:nvPr/>
        </p:nvSpPr>
        <p:spPr>
          <a:xfrm>
            <a:off x="572650" y="510111"/>
            <a:ext cx="175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spc="-7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건강선지급 종신</a:t>
            </a:r>
          </a:p>
        </p:txBody>
      </p:sp>
    </p:spTree>
    <p:extLst>
      <p:ext uri="{BB962C8B-B14F-4D97-AF65-F5344CB8AC3E}">
        <p14:creationId xmlns:p14="http://schemas.microsoft.com/office/powerpoint/2010/main" val="782790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318324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C419A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농협생명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건강채움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NH</a:t>
            </a:r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암종신보험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BF2FC3-27F0-D6C1-B811-805531480C3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2000" y="988138"/>
            <a:ext cx="9889200" cy="55656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28CD75F-C019-1D7D-F0B1-900EAB80B48C}"/>
              </a:ext>
            </a:extLst>
          </p:cNvPr>
          <p:cNvSpPr/>
          <p:nvPr/>
        </p:nvSpPr>
        <p:spPr>
          <a:xfrm>
            <a:off x="6346030" y="3552034"/>
            <a:ext cx="157163" cy="54769"/>
          </a:xfrm>
          <a:prstGeom prst="rect">
            <a:avLst/>
          </a:prstGeom>
          <a:solidFill>
            <a:srgbClr val="E6F3FD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2B3D4-DE1C-6A06-87B2-778C607D83F7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370AF-C89C-A36E-54E2-954B608B6E04}"/>
              </a:ext>
            </a:extLst>
          </p:cNvPr>
          <p:cNvSpPr txBox="1"/>
          <p:nvPr/>
        </p:nvSpPr>
        <p:spPr>
          <a:xfrm>
            <a:off x="572650" y="510111"/>
            <a:ext cx="175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spc="-7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건강선지급 종신</a:t>
            </a:r>
          </a:p>
        </p:txBody>
      </p:sp>
    </p:spTree>
    <p:extLst>
      <p:ext uri="{BB962C8B-B14F-4D97-AF65-F5344CB8AC3E}">
        <p14:creationId xmlns:p14="http://schemas.microsoft.com/office/powerpoint/2010/main" val="404166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273344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건강 </a:t>
            </a:r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선지급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종신보험 비교표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91470F9-08DD-3A38-DF6E-99D97ED0F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469203"/>
              </p:ext>
            </p:extLst>
          </p:nvPr>
        </p:nvGraphicFramePr>
        <p:xfrm>
          <a:off x="390000" y="1161821"/>
          <a:ext cx="11412000" cy="50941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805339084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043663037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367052035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45565540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990100935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530845865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29055522"/>
                    </a:ext>
                  </a:extLst>
                </a:gridCol>
              </a:tblGrid>
              <a:tr h="23400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보험사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rgbClr val="F3732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한화생명</a:t>
                      </a:r>
                      <a:endParaRPr lang="en-US" sz="1050" b="0" kern="1200" spc="-50" baseline="0" dirty="0">
                        <a:solidFill>
                          <a:srgbClr val="F3732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rgbClr val="665DCF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신한라이프</a:t>
                      </a:r>
                      <a:endParaRPr lang="en-US" sz="1050" b="0" kern="1200" spc="-50" baseline="0" dirty="0">
                        <a:solidFill>
                          <a:srgbClr val="665DCF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rgbClr val="0C419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농협생명</a:t>
                      </a:r>
                      <a:endParaRPr lang="en-US" sz="1050" b="0" kern="1200" spc="-50" baseline="0" dirty="0">
                        <a:solidFill>
                          <a:srgbClr val="0C419A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rgbClr val="003C7F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KDB</a:t>
                      </a:r>
                      <a:r>
                        <a:rPr lang="ko-KR" altLang="en-US" sz="1050" b="0" kern="1200" spc="-50" baseline="0" dirty="0">
                          <a:solidFill>
                            <a:srgbClr val="003C7F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생명</a:t>
                      </a:r>
                      <a:endParaRPr lang="en-US" sz="1050" b="0" kern="1200" spc="-50" baseline="0" dirty="0">
                        <a:solidFill>
                          <a:srgbClr val="003C7F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DB</a:t>
                      </a:r>
                      <a:r>
                        <a:rPr lang="ko-KR" altLang="en-US" sz="1050" b="0" kern="1200" spc="-50" baseline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생명</a:t>
                      </a:r>
                      <a:endParaRPr lang="en-US" sz="1050" b="0" kern="1200" spc="-50" baseline="0" dirty="0">
                        <a:solidFill>
                          <a:srgbClr val="00854A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03526"/>
                  </a:ext>
                </a:extLst>
              </a:tr>
              <a:tr h="23400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 err="1">
                          <a:solidFill>
                            <a:srgbClr val="F3732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건강더한종신</a:t>
                      </a:r>
                      <a:r>
                        <a:rPr lang="ko-KR" altLang="en-US" sz="1050" b="0" kern="1200" spc="-50" baseline="0" dirty="0">
                          <a:solidFill>
                            <a:srgbClr val="F3732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</a:t>
                      </a:r>
                      <a:endParaRPr lang="en-US" altLang="ko-KR" sz="1050" b="0" kern="1200" spc="-50" baseline="0" dirty="0">
                        <a:solidFill>
                          <a:srgbClr val="F3732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 err="1">
                          <a:solidFill>
                            <a:srgbClr val="665DCF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리필종신보험</a:t>
                      </a:r>
                      <a:endParaRPr lang="en-US" sz="1050" b="0" kern="1200" spc="-50" baseline="0" dirty="0">
                        <a:solidFill>
                          <a:srgbClr val="665DCF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 err="1">
                          <a:solidFill>
                            <a:srgbClr val="0C419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건강채움</a:t>
                      </a:r>
                      <a:r>
                        <a:rPr lang="ko-KR" altLang="en-US" sz="1050" b="0" kern="1200" spc="-50" baseline="0" dirty="0">
                          <a:solidFill>
                            <a:srgbClr val="0C419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 dirty="0">
                          <a:solidFill>
                            <a:srgbClr val="0C419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NH </a:t>
                      </a:r>
                      <a:r>
                        <a:rPr lang="ko-KR" altLang="en-US" sz="1050" b="0" kern="1200" spc="-50" baseline="0" dirty="0" err="1">
                          <a:solidFill>
                            <a:srgbClr val="0C419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암종신보험</a:t>
                      </a:r>
                      <a:endParaRPr lang="en-US" sz="1050" b="0" kern="1200" spc="-50" baseline="0" dirty="0">
                        <a:solidFill>
                          <a:srgbClr val="0C419A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rgbClr val="003C7F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서포트</a:t>
                      </a:r>
                      <a:r>
                        <a:rPr lang="en-US" altLang="ko-KR" sz="1050" b="0" kern="1200" spc="-50" baseline="0" dirty="0">
                          <a:solidFill>
                            <a:srgbClr val="003C7F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100</a:t>
                      </a:r>
                      <a:r>
                        <a:rPr lang="ko-KR" altLang="en-US" sz="1050" b="0" kern="1200" spc="-50" baseline="0" dirty="0" err="1">
                          <a:solidFill>
                            <a:srgbClr val="003C7F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건강종신보험</a:t>
                      </a:r>
                      <a:endParaRPr lang="en-US" sz="1050" b="0" kern="1200" spc="-50" baseline="0" dirty="0">
                        <a:solidFill>
                          <a:srgbClr val="003C7F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뉴</a:t>
                      </a:r>
                      <a:r>
                        <a:rPr lang="en-US" altLang="ko-KR" sz="1050" b="0" kern="1200" spc="-50" baseline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b="0" kern="1200" spc="-50" baseline="0" dirty="0" err="1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올케어</a:t>
                      </a:r>
                      <a:r>
                        <a:rPr lang="ko-KR" altLang="en-US" sz="1050" b="0" kern="1200" spc="-50" baseline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50" b="0" kern="1200" spc="-50" baseline="0" dirty="0" err="1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암종신보험</a:t>
                      </a:r>
                      <a:endParaRPr lang="en-US" sz="1050" b="0" kern="1200" spc="-50" baseline="0" dirty="0">
                        <a:solidFill>
                          <a:srgbClr val="00854A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289087"/>
                  </a:ext>
                </a:extLst>
              </a:tr>
              <a:tr h="23400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 err="1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납입기간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7, 10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년납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10,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</a:t>
                      </a:r>
                      <a:r>
                        <a:rPr lang="ko-KR" altLang="en-US" sz="1050" b="0" kern="1200" spc="-5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년납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10,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15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스마트페이형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10,15,20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년납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10,15,20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년납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514050"/>
                  </a:ext>
                </a:extLst>
              </a:tr>
              <a:tr h="23400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5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천만원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년납 </a:t>
                      </a: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914,000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</a:t>
                      </a:r>
                      <a:endParaRPr lang="en-US" altLang="ko-KR" sz="1050" b="0" kern="1200" spc="-5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년납 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655,000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50" b="0" kern="1200" spc="-5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년납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708,070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</a:t>
                      </a:r>
                      <a:endParaRPr lang="en-US" altLang="ko-KR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소액암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백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남녀특정암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천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50" b="0" kern="1200" spc="-5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년납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544,700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</a:t>
                      </a:r>
                      <a:endParaRPr lang="en-US" altLang="ko-KR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1050" b="0" kern="1200" spc="-50" baseline="0" dirty="0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*10</a:t>
                      </a:r>
                      <a:r>
                        <a:rPr lang="ko-KR" altLang="en-US" sz="1050" b="0" kern="1200" spc="-50" baseline="0" dirty="0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월 출시</a:t>
                      </a:r>
                      <a:r>
                        <a:rPr lang="en-US" altLang="ko-KR" sz="1050" b="0" kern="1200" spc="-50" baseline="0" dirty="0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주계약</a:t>
                      </a:r>
                      <a:r>
                        <a:rPr lang="en-US" altLang="ko-KR" sz="1050" b="0" kern="1200" spc="-50" baseline="0" dirty="0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+</a:t>
                      </a:r>
                      <a:r>
                        <a:rPr lang="ko-KR" altLang="en-US" sz="1050" b="0" kern="1200" spc="-50" baseline="0" dirty="0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추가납입</a:t>
                      </a:r>
                      <a:endParaRPr lang="en-US" sz="1050" b="0" kern="1200" spc="-50" baseline="0" dirty="0">
                        <a:solidFill>
                          <a:srgbClr val="FF0000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50" b="0" kern="1200" spc="-5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년납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308,000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년납 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319,000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원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19850"/>
                  </a:ext>
                </a:extLst>
              </a:tr>
              <a:tr h="2340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 err="1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완납시</a:t>
                      </a:r>
                      <a:endParaRPr lang="en-US" altLang="ko-KR" sz="1050" b="0" kern="1200" spc="-50" baseline="0" dirty="0">
                        <a:solidFill>
                          <a:srgbClr val="FF00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 err="1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환급률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7</a:t>
                      </a:r>
                      <a:r>
                        <a:rPr lang="ko-KR" altLang="en-US" sz="1050" b="0" kern="1200" spc="-50" baseline="0" dirty="0" err="1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년납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100.0%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90939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59436" marR="59436" marT="29718" marB="2971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년납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113.2%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112.8%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112.3%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91.0%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95.0%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90906"/>
                  </a:ext>
                </a:extLst>
              </a:tr>
              <a:tr h="23400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 err="1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진단비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 감액기간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1050" b="0" kern="1200" spc="-50" baseline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90</a:t>
                      </a:r>
                      <a:r>
                        <a:rPr lang="ko-KR" altLang="en-US" sz="1050" b="0" kern="1200" spc="-50" baseline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일 이후 </a:t>
                      </a:r>
                      <a:r>
                        <a:rPr lang="en-US" altLang="ko-KR" sz="1050" b="0" kern="1200" spc="-50" baseline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100%</a:t>
                      </a:r>
                      <a:endParaRPr lang="en-US" sz="1050" b="0" kern="1200" spc="-50" baseline="0" dirty="0">
                        <a:solidFill>
                          <a:srgbClr val="FF00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1050" b="0" kern="1200" spc="-50" baseline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spc="-50" baseline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</a:t>
                      </a:r>
                      <a:endParaRPr lang="en-US" sz="1050" b="0" kern="1200" spc="-50" baseline="0" dirty="0">
                        <a:solidFill>
                          <a:srgbClr val="FF00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1050" b="0" kern="1200" spc="-50" baseline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spc="-50" baseline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</a:t>
                      </a:r>
                      <a:endParaRPr lang="en-US" sz="1050" b="0" kern="1200" spc="-50" baseline="0" dirty="0">
                        <a:solidFill>
                          <a:srgbClr val="FF00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buNone/>
                      </a:pPr>
                      <a:r>
                        <a:rPr lang="en-US" sz="1050" b="0" kern="1200" spc="-50" baseline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spc="-50" baseline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</a:t>
                      </a:r>
                      <a:endParaRPr lang="en-US" sz="1050" b="0" kern="1200" spc="-50" baseline="0" dirty="0">
                        <a:solidFill>
                          <a:srgbClr val="FF0000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90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일 이후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100%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607934"/>
                  </a:ext>
                </a:extLst>
              </a:tr>
              <a:tr h="23400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건강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보험금</a:t>
                      </a:r>
                    </a:p>
                    <a:p>
                      <a:pPr marL="0" indent="0" algn="ctr">
                        <a:buNone/>
                      </a:pP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지급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범위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일반암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62189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유방암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X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X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 (1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 미만 시 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50%)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606554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전립선암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X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X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506465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중증 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중증 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중증 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중증 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중증 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215832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9436" marR="59436" marT="29718" marB="2971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기타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피부암 제외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비침습방광암 </a:t>
                      </a:r>
                      <a:endParaRPr lang="en-US" altLang="ko-KR" sz="1050" b="0" kern="1200" spc="-5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피부암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대장점막내암 제외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피부암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대장점막내암 제외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피부암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경계성종양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제자리암 제외</a:t>
                      </a:r>
                      <a:endParaRPr lang="en-US" altLang="ko-KR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피부암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경계성종양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제자리암 제외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972762"/>
                  </a:ext>
                </a:extLst>
              </a:tr>
              <a:tr h="23400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보험료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납입면제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일반암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263281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유방암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X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 (1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 미만 시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50%)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27701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전립선암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X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O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750504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중증 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중증 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중증 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중증 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중증 갑상선암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068391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9436" marR="59436" marT="29718" marB="2971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기타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피부암 제외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비침습방광암 </a:t>
                      </a:r>
                      <a:endParaRPr lang="en-US" altLang="ko-KR" sz="1050" b="0" kern="1200" spc="-5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피부암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대장점막내암 </a:t>
                      </a:r>
                      <a:endParaRPr lang="en-US" altLang="ko-KR" sz="1050" b="0" kern="1200" spc="-5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제외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합산장해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50%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피부암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대장점막내암</a:t>
                      </a:r>
                      <a:endParaRPr lang="en-US" altLang="ko-KR" sz="1050" b="0" kern="1200" spc="-5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제외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피부암</a:t>
                      </a: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대장점막내암</a:t>
                      </a:r>
                      <a:endParaRPr lang="en-US" altLang="ko-KR" sz="1050" b="0" kern="1200" spc="-5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제외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기타 피부암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spc="-5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경계성종양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제자리암 제외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 (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계약 소멸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47105"/>
                  </a:ext>
                </a:extLst>
              </a:tr>
              <a:tr h="23400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사망보장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년납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진단 전</a:t>
                      </a:r>
                      <a:endParaRPr lang="en-US" altLang="ko-KR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억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3,137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만원</a:t>
                      </a:r>
                      <a:endParaRPr lang="en-US" altLang="ko-KR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(4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 후 매년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20%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체증 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년간</a:t>
                      </a: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)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7,500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만원</a:t>
                      </a:r>
                      <a:endParaRPr lang="en-US" altLang="ko-KR" sz="1050" b="0" kern="1200" spc="-5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7,500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만원</a:t>
                      </a:r>
                      <a:endParaRPr lang="en-US" altLang="ko-KR" sz="1050" b="0" kern="1200" spc="-5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5,500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만원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5,000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만원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011033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진단 후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천만원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5,000</a:t>
                      </a:r>
                      <a:r>
                        <a:rPr lang="ko-KR" altLang="en-US" sz="1050" b="0" kern="1200" spc="-5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만원</a:t>
                      </a:r>
                      <a:endParaRPr lang="en-US" altLang="ko-KR" sz="1050" b="0" kern="1200" spc="-5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5,000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만원</a:t>
                      </a:r>
                      <a:endParaRPr lang="en-US" altLang="ko-KR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500</a:t>
                      </a:r>
                      <a:r>
                        <a:rPr lang="ko-KR" alt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만원</a:t>
                      </a:r>
                      <a:endParaRPr lang="en-US" sz="1050" b="0" kern="1200" spc="-5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kern="1200" spc="-5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21730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C95B4B0-B13C-3241-2D18-38298A1EBBE9}"/>
              </a:ext>
            </a:extLst>
          </p:cNvPr>
          <p:cNvSpPr txBox="1"/>
          <p:nvPr/>
        </p:nvSpPr>
        <p:spPr>
          <a:xfrm>
            <a:off x="390000" y="6258739"/>
            <a:ext cx="11412000" cy="234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36000" tIns="36000" rIns="36000" bIns="36000" rtlCol="0" anchor="ctr" anchorCtr="0">
            <a:spAutoFit/>
          </a:bodyPr>
          <a:lstStyle/>
          <a:p>
            <a:pPr algn="r">
              <a:defRPr/>
            </a:pPr>
            <a:r>
              <a: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105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환급률</a:t>
            </a:r>
            <a:r>
              <a:rPr lang="ko-KR" altLang="en-US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: 40</a:t>
            </a:r>
            <a:r>
              <a:rPr lang="ko-KR" altLang="en-US" sz="105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세남자</a:t>
            </a:r>
            <a:r>
              <a: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en-US" altLang="ko-KR" sz="1050" spc="-50" dirty="0">
                <a:solidFill>
                  <a:srgbClr val="FF0000"/>
                </a:solidFill>
                <a:latin typeface="페이퍼로지 6 SemiBold" pitchFamily="2" charset="-127"/>
                <a:ea typeface="페이퍼로지 6 SemiBold" pitchFamily="2" charset="-127"/>
              </a:rPr>
              <a:t>7</a:t>
            </a:r>
            <a:r>
              <a:rPr lang="ko-KR" altLang="en-US" sz="1050" spc="-50" dirty="0" err="1">
                <a:solidFill>
                  <a:srgbClr val="FF0000"/>
                </a:solidFill>
                <a:latin typeface="페이퍼로지 6 SemiBold" pitchFamily="2" charset="-127"/>
                <a:ea typeface="페이퍼로지 6 SemiBold" pitchFamily="2" charset="-127"/>
              </a:rPr>
              <a:t>년납</a:t>
            </a:r>
            <a:r>
              <a: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10</a:t>
            </a:r>
            <a:r>
              <a:rPr lang="ko-KR" altLang="en-US" sz="1050" spc="-50" dirty="0" err="1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년납</a:t>
            </a:r>
            <a:r>
              <a:rPr lang="ko-KR" altLang="en-US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 가입금액 </a:t>
            </a:r>
            <a:r>
              <a: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천만원</a:t>
            </a:r>
            <a:r>
              <a: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일반심사형</a:t>
            </a:r>
            <a:r>
              <a: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암보장형 기준</a:t>
            </a:r>
            <a:r>
              <a:rPr lang="en-US" altLang="ko-KR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50" dirty="0">
                <a:solidFill>
                  <a:prstClr val="black"/>
                </a:solidFill>
                <a:latin typeface="페이퍼로지 4 Regular" pitchFamily="2" charset="-127"/>
                <a:ea typeface="페이퍼로지 4 Regular" pitchFamily="2" charset="-127"/>
              </a:rPr>
              <a:t>각 회사별 가본납입형 기준</a:t>
            </a:r>
            <a:endParaRPr lang="en-US" altLang="ko-KR" sz="1050" spc="-50" dirty="0">
              <a:solidFill>
                <a:prstClr val="black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5EFEE-1A6E-2FD9-C6D9-D9824D2B0877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B17EB-D7D1-1CD0-3667-40E87A3713E7}"/>
              </a:ext>
            </a:extLst>
          </p:cNvPr>
          <p:cNvSpPr txBox="1"/>
          <p:nvPr/>
        </p:nvSpPr>
        <p:spPr>
          <a:xfrm>
            <a:off x="572650" y="510111"/>
            <a:ext cx="175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spc="-7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건강선지급 종신</a:t>
            </a:r>
          </a:p>
        </p:txBody>
      </p:sp>
    </p:spTree>
    <p:extLst>
      <p:ext uri="{BB962C8B-B14F-4D97-AF65-F5344CB8AC3E}">
        <p14:creationId xmlns:p14="http://schemas.microsoft.com/office/powerpoint/2010/main" val="3312787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BD422-8213-E22D-D888-63EE089C8006}"/>
              </a:ext>
            </a:extLst>
          </p:cNvPr>
          <p:cNvSpPr txBox="1"/>
          <p:nvPr/>
        </p:nvSpPr>
        <p:spPr>
          <a:xfrm>
            <a:off x="0" y="3269762"/>
            <a:ext cx="12192000" cy="739754"/>
          </a:xfrm>
          <a:prstGeom prst="rect">
            <a:avLst/>
          </a:prstGeom>
          <a:noFill/>
        </p:spPr>
        <p:txBody>
          <a:bodyPr wrap="square" lIns="90000" tIns="46800" rIns="90000" bIns="0" rtlCol="0" anchor="t" anchorCtr="0">
            <a:spAutoFit/>
          </a:bodyPr>
          <a:lstStyle/>
          <a:p>
            <a:pPr algn="ctr"/>
            <a:r>
              <a:rPr lang="ko-KR" altLang="en-US" sz="4500" b="1" spc="-12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판매플랜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189A7F9-7E18-BAF8-BD4F-61719F65A50F}"/>
              </a:ext>
            </a:extLst>
          </p:cNvPr>
          <p:cNvSpPr/>
          <p:nvPr/>
        </p:nvSpPr>
        <p:spPr>
          <a:xfrm>
            <a:off x="4182533" y="2777744"/>
            <a:ext cx="3826934" cy="32545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600" spc="-8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상품전략</a:t>
            </a:r>
            <a:endParaRPr lang="en-US" altLang="ko-KR" sz="1300" spc="-8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445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284436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EF3B2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메리츠화재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1-5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종 수술 플러스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" name="사각형: 둥근 모서리 80">
            <a:extLst>
              <a:ext uri="{FF2B5EF4-FFF2-40B4-BE49-F238E27FC236}">
                <a16:creationId xmlns:a16="http://schemas.microsoft.com/office/drawing/2014/main" id="{436C1A3C-7770-9B9B-B85C-4CF74E87EEDB}"/>
              </a:ext>
            </a:extLst>
          </p:cNvPr>
          <p:cNvSpPr/>
          <p:nvPr/>
        </p:nvSpPr>
        <p:spPr>
          <a:xfrm>
            <a:off x="6396203" y="1547521"/>
            <a:ext cx="5520748" cy="48783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사각형: 둥근 위쪽 모서리 91">
            <a:extLst>
              <a:ext uri="{FF2B5EF4-FFF2-40B4-BE49-F238E27FC236}">
                <a16:creationId xmlns:a16="http://schemas.microsoft.com/office/drawing/2014/main" id="{27AC0567-5392-6C84-5C17-EFA1D192A711}"/>
              </a:ext>
            </a:extLst>
          </p:cNvPr>
          <p:cNvSpPr/>
          <p:nvPr/>
        </p:nvSpPr>
        <p:spPr>
          <a:xfrm>
            <a:off x="6396202" y="1225576"/>
            <a:ext cx="5520748" cy="354179"/>
          </a:xfrm>
          <a:prstGeom prst="round2SameRect">
            <a:avLst>
              <a:gd name="adj1" fmla="val 36412"/>
              <a:gd name="adj2" fmla="val 0"/>
            </a:avLst>
          </a:prstGeom>
          <a:solidFill>
            <a:srgbClr val="EF3B2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1-5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종 수술 </a:t>
            </a:r>
            <a:r>
              <a:rPr lang="en-US" altLang="ko-KR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+ 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간병인플랜</a:t>
            </a:r>
            <a:endParaRPr lang="en-US" altLang="ko-KR" sz="1400" b="1" spc="-12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SemiBold" panose="020B0200000000000000" pitchFamily="34" charset="-128"/>
              <a:ea typeface="Noto Sans KR SemiBold" panose="020B0200000000000000" pitchFamily="34" charset="-128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566766-EC71-65EA-86A7-A1D669F87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90239"/>
              </p:ext>
            </p:extLst>
          </p:nvPr>
        </p:nvGraphicFramePr>
        <p:xfrm>
          <a:off x="462024" y="1225576"/>
          <a:ext cx="552074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0748">
                  <a:extLst>
                    <a:ext uri="{9D8B030D-6E8A-4147-A177-3AD203B41FA5}">
                      <a16:colId xmlns:a16="http://schemas.microsoft.com/office/drawing/2014/main" val="4160220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1-5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종 수술비와 </a:t>
                      </a:r>
                      <a:r>
                        <a:rPr lang="ko-KR" altLang="en-US" sz="1800" b="0" dirty="0" err="1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짝궁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! </a:t>
                      </a:r>
                      <a:r>
                        <a:rPr lang="ko-KR" altLang="en-US" sz="1800" b="0" dirty="0" err="1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누적없는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1-5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종 수술 플러스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pPr algn="l" latinLnBrk="1"/>
                      <a:r>
                        <a:rPr lang="ko-KR" altLang="en-US" sz="1800" b="1" u="sng" dirty="0">
                          <a:solidFill>
                            <a:srgbClr val="EF3B2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연 </a:t>
                      </a:r>
                      <a:r>
                        <a:rPr lang="en-US" altLang="ko-KR" sz="1800" b="1" u="sng" dirty="0">
                          <a:solidFill>
                            <a:srgbClr val="EF3B2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2</a:t>
                      </a:r>
                      <a:r>
                        <a:rPr lang="ko-KR" altLang="en-US" sz="1800" b="1" u="sng" dirty="0">
                          <a:solidFill>
                            <a:srgbClr val="EF3B2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회 </a:t>
                      </a:r>
                      <a:r>
                        <a:rPr lang="ko-KR" altLang="en-US" sz="1800" b="1" u="sng" dirty="0" err="1">
                          <a:solidFill>
                            <a:srgbClr val="EF3B2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수술시</a:t>
                      </a:r>
                      <a:r>
                        <a:rPr lang="ko-KR" altLang="en-US" sz="1800" b="1" u="sng" dirty="0">
                          <a:solidFill>
                            <a:srgbClr val="EF3B2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 큰 종을 한번 더 보장</a:t>
                      </a:r>
                      <a:r>
                        <a:rPr lang="en-US" altLang="ko-KR" sz="1800" b="1" u="sng" dirty="0">
                          <a:solidFill>
                            <a:srgbClr val="EF3B2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!</a:t>
                      </a:r>
                      <a:endParaRPr lang="ko-KR" altLang="en-US" sz="1800" b="1" u="sng" dirty="0">
                        <a:solidFill>
                          <a:srgbClr val="EF3B24"/>
                        </a:solidFill>
                        <a:latin typeface="페이퍼로지 9 Black" pitchFamily="2" charset="-127"/>
                        <a:ea typeface="페이퍼로지 9 Black" pitchFamily="2" charset="-127"/>
                      </a:endParaRPr>
                    </a:p>
                  </a:txBody>
                  <a:tcPr marL="137160" marR="137160" marT="137160" marB="137160" anchor="b">
                    <a:lnL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501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2CA99FB-841F-73B4-6AF2-DCD8FF191F82}"/>
              </a:ext>
            </a:extLst>
          </p:cNvPr>
          <p:cNvSpPr txBox="1"/>
          <p:nvPr/>
        </p:nvSpPr>
        <p:spPr>
          <a:xfrm>
            <a:off x="678024" y="2233197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EF3B24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한번 더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EF3B24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! 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EF3B24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보장받는 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EF3B24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1-5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EF3B24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종 플러스 보장 예시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EF3B24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21" name="그래픽 20">
            <a:extLst>
              <a:ext uri="{FF2B5EF4-FFF2-40B4-BE49-F238E27FC236}">
                <a16:creationId xmlns:a16="http://schemas.microsoft.com/office/drawing/2014/main" id="{468FFFCE-C0C0-33CA-BAF7-A7CA09657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24" y="2294473"/>
            <a:ext cx="216000" cy="216000"/>
          </a:xfrm>
          <a:prstGeom prst="rect">
            <a:avLst/>
          </a:prstGeom>
        </p:spPr>
      </p:pic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FA02780F-C81D-C6C0-4860-5D934246C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534891"/>
              </p:ext>
            </p:extLst>
          </p:nvPr>
        </p:nvGraphicFramePr>
        <p:xfrm>
          <a:off x="6768120" y="2163580"/>
          <a:ext cx="4786801" cy="253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3671551345"/>
                    </a:ext>
                  </a:extLst>
                </a:gridCol>
                <a:gridCol w="1546801">
                  <a:extLst>
                    <a:ext uri="{9D8B030D-6E8A-4147-A177-3AD203B41FA5}">
                      <a16:colId xmlns:a16="http://schemas.microsoft.com/office/drawing/2014/main" val="38565238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rgbClr val="EF3B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통합간편</a:t>
                      </a:r>
                      <a:r>
                        <a:rPr lang="en-US" altLang="ko-KR" sz="1200" b="0" dirty="0">
                          <a:solidFill>
                            <a:srgbClr val="EF3B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(3.10.5)</a:t>
                      </a:r>
                      <a:endParaRPr lang="ko-KR" altLang="en-US" sz="1200" b="0" dirty="0">
                        <a:solidFill>
                          <a:srgbClr val="EF3B24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EF3B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가입금액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785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1-5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종 수술비</a:t>
                      </a:r>
                      <a:b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상해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질병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 30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 1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백만</a:t>
                      </a:r>
                      <a:endParaRPr lang="en-US" altLang="ko-K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백만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 6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백만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51221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1-5</a:t>
                      </a:r>
                      <a:r>
                        <a:rPr lang="ko-KR" altLang="en-US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종 수술비 플러스</a:t>
                      </a:r>
                      <a:br>
                        <a:rPr lang="en-US" altLang="ko-KR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상해</a:t>
                      </a:r>
                      <a:r>
                        <a:rPr lang="en-US" altLang="ko-KR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질병</a:t>
                      </a:r>
                      <a:r>
                        <a:rPr lang="en-US" altLang="ko-KR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B24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 </a:t>
                      </a:r>
                      <a:r>
                        <a:rPr lang="en-US" altLang="ko-KR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/30</a:t>
                      </a:r>
                      <a:r>
                        <a:rPr lang="ko-KR" altLang="en-US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  <a:r>
                        <a:rPr lang="en-US" altLang="ko-KR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 50</a:t>
                      </a:r>
                      <a:r>
                        <a:rPr lang="ko-KR" altLang="en-US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  <a:endParaRPr lang="en-US" altLang="ko-KR" sz="1200" dirty="0">
                        <a:solidFill>
                          <a:srgbClr val="EF3B24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백만 </a:t>
                      </a:r>
                      <a:r>
                        <a:rPr lang="en-US" altLang="ko-KR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 3</a:t>
                      </a:r>
                      <a:r>
                        <a:rPr lang="ko-KR" altLang="en-US" sz="1200" dirty="0">
                          <a:solidFill>
                            <a:srgbClr val="EF3B24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백만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3B24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5697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질병수술비</a:t>
                      </a:r>
                      <a:b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전 질병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+5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대 제외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06738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365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일 간병인지원</a:t>
                      </a:r>
                      <a:b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간병인지원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VII)(180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일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)+(181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일이상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EF3B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간병인 지원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666489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762E8053-6D90-5453-72DC-6B12AC5E579A}"/>
              </a:ext>
            </a:extLst>
          </p:cNvPr>
          <p:cNvGraphicFramePr>
            <a:graphicFrameLocks noGrp="1"/>
          </p:cNvGraphicFramePr>
          <p:nvPr/>
        </p:nvGraphicFramePr>
        <p:xfrm>
          <a:off x="6763176" y="5180699"/>
          <a:ext cx="4786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600">
                  <a:extLst>
                    <a:ext uri="{9D8B030D-6E8A-4147-A177-3AD203B41FA5}">
                      <a16:colId xmlns:a16="http://schemas.microsoft.com/office/drawing/2014/main" val="3089384407"/>
                    </a:ext>
                  </a:extLst>
                </a:gridCol>
                <a:gridCol w="1595600">
                  <a:extLst>
                    <a:ext uri="{9D8B030D-6E8A-4147-A177-3AD203B41FA5}">
                      <a16:colId xmlns:a16="http://schemas.microsoft.com/office/drawing/2014/main" val="220212827"/>
                    </a:ext>
                  </a:extLst>
                </a:gridCol>
                <a:gridCol w="1595600">
                  <a:extLst>
                    <a:ext uri="{9D8B030D-6E8A-4147-A177-3AD203B41FA5}">
                      <a16:colId xmlns:a16="http://schemas.microsoft.com/office/drawing/2014/main" val="362389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EF3B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EF3B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남성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EF3B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여성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088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41,430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58,520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F3B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22629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8838B49F-21B3-7C4B-6D37-641893292C4F}"/>
              </a:ext>
            </a:extLst>
          </p:cNvPr>
          <p:cNvSpPr txBox="1"/>
          <p:nvPr/>
        </p:nvSpPr>
        <p:spPr>
          <a:xfrm>
            <a:off x="6763175" y="1905465"/>
            <a:ext cx="478680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* 기본계약 최저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20</a:t>
            </a:r>
            <a:r>
              <a:rPr lang="ko-KR" alt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년납</a:t>
            </a: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20</a:t>
            </a:r>
            <a:r>
              <a:rPr lang="ko-KR" alt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년만기</a:t>
            </a:r>
            <a:endParaRPr lang="ko-KR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9" name="그림 48" descr="텍스트, 인간의 얼굴, 의류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39E9AC-67EC-1B0B-8FE2-C3849FD25B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4" y="2633027"/>
            <a:ext cx="5333774" cy="37928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C2DB55-0097-A418-2A93-A170C791A9F1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A5F16-BC9B-E6DE-B29E-67117F7BB4DB}"/>
              </a:ext>
            </a:extLst>
          </p:cNvPr>
          <p:cNvSpPr txBox="1"/>
          <p:nvPr/>
        </p:nvSpPr>
        <p:spPr>
          <a:xfrm>
            <a:off x="572650" y="510111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판매플랜</a:t>
            </a:r>
          </a:p>
        </p:txBody>
      </p:sp>
    </p:spTree>
    <p:extLst>
      <p:ext uri="{BB962C8B-B14F-4D97-AF65-F5344CB8AC3E}">
        <p14:creationId xmlns:p14="http://schemas.microsoft.com/office/powerpoint/2010/main" val="1016244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333264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02F70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현대해상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고령자 간병인지원의 정석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" name="사각형: 둥근 모서리 80">
            <a:extLst>
              <a:ext uri="{FF2B5EF4-FFF2-40B4-BE49-F238E27FC236}">
                <a16:creationId xmlns:a16="http://schemas.microsoft.com/office/drawing/2014/main" id="{436C1A3C-7770-9B9B-B85C-4CF74E87EEDB}"/>
              </a:ext>
            </a:extLst>
          </p:cNvPr>
          <p:cNvSpPr/>
          <p:nvPr/>
        </p:nvSpPr>
        <p:spPr>
          <a:xfrm>
            <a:off x="6396203" y="1547521"/>
            <a:ext cx="5520748" cy="48783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사각형: 둥근 위쪽 모서리 91">
            <a:extLst>
              <a:ext uri="{FF2B5EF4-FFF2-40B4-BE49-F238E27FC236}">
                <a16:creationId xmlns:a16="http://schemas.microsoft.com/office/drawing/2014/main" id="{27AC0567-5392-6C84-5C17-EFA1D192A711}"/>
              </a:ext>
            </a:extLst>
          </p:cNvPr>
          <p:cNvSpPr/>
          <p:nvPr/>
        </p:nvSpPr>
        <p:spPr>
          <a:xfrm>
            <a:off x="6396202" y="1225576"/>
            <a:ext cx="5520748" cy="354179"/>
          </a:xfrm>
          <a:prstGeom prst="round2SameRect">
            <a:avLst>
              <a:gd name="adj1" fmla="val 36412"/>
              <a:gd name="adj2" fmla="val 0"/>
            </a:avLst>
          </a:prstGeom>
          <a:solidFill>
            <a:srgbClr val="002F7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고령자 간병인지원 가입 플랜</a:t>
            </a:r>
            <a:endParaRPr lang="en-US" altLang="ko-KR" sz="1400" b="1" spc="-12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SemiBold" panose="020B0200000000000000" pitchFamily="34" charset="-128"/>
              <a:ea typeface="Noto Sans KR SemiBold" panose="020B0200000000000000" pitchFamily="34" charset="-128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566766-EC71-65EA-86A7-A1D669F87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112899"/>
              </p:ext>
            </p:extLst>
          </p:nvPr>
        </p:nvGraphicFramePr>
        <p:xfrm>
          <a:off x="462024" y="1225576"/>
          <a:ext cx="532775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750">
                  <a:extLst>
                    <a:ext uri="{9D8B030D-6E8A-4147-A177-3AD203B41FA5}">
                      <a16:colId xmlns:a16="http://schemas.microsoft.com/office/drawing/2014/main" val="4160220971"/>
                    </a:ext>
                  </a:extLst>
                </a:gridCol>
              </a:tblGrid>
              <a:tr h="36065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90</a:t>
                      </a:r>
                      <a:r>
                        <a:rPr lang="ko-KR" altLang="en-US" sz="1800" b="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고령자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유병자도 가입 가능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!</a:t>
                      </a:r>
                    </a:p>
                    <a:p>
                      <a:pPr algn="l" latinLnBrk="1"/>
                      <a:r>
                        <a:rPr lang="ko-KR" altLang="en-US" sz="1800" b="1" u="sng" dirty="0">
                          <a:solidFill>
                            <a:srgbClr val="002F70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고령자 간병인지원일당 보장 플랜</a:t>
                      </a:r>
                    </a:p>
                  </a:txBody>
                  <a:tcPr marL="137160" marR="137160" marT="137160" marB="137160" anchor="b">
                    <a:lnL w="381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5017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32ABAC3B-4B06-B544-0DAB-1B9A5342A8E2}"/>
              </a:ext>
            </a:extLst>
          </p:cNvPr>
          <p:cNvSpPr txBox="1"/>
          <p:nvPr/>
        </p:nvSpPr>
        <p:spPr>
          <a:xfrm>
            <a:off x="656165" y="2233196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F70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간병인지원일당 비교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2F70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70" name="그래픽 69">
            <a:extLst>
              <a:ext uri="{FF2B5EF4-FFF2-40B4-BE49-F238E27FC236}">
                <a16:creationId xmlns:a16="http://schemas.microsoft.com/office/drawing/2014/main" id="{687B02C6-1DB4-6185-2BD9-99E1DF854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24" y="2294473"/>
            <a:ext cx="216000" cy="216000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2B7CE65-CF2A-33BE-C7FB-E471EC9B0B88}"/>
              </a:ext>
            </a:extLst>
          </p:cNvPr>
          <p:cNvGraphicFramePr>
            <a:graphicFrameLocks noGrp="1"/>
          </p:cNvGraphicFramePr>
          <p:nvPr/>
        </p:nvGraphicFramePr>
        <p:xfrm>
          <a:off x="462024" y="2633027"/>
          <a:ext cx="5376775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355">
                  <a:extLst>
                    <a:ext uri="{9D8B030D-6E8A-4147-A177-3AD203B41FA5}">
                      <a16:colId xmlns:a16="http://schemas.microsoft.com/office/drawing/2014/main" val="2006055092"/>
                    </a:ext>
                  </a:extLst>
                </a:gridCol>
                <a:gridCol w="1075355">
                  <a:extLst>
                    <a:ext uri="{9D8B030D-6E8A-4147-A177-3AD203B41FA5}">
                      <a16:colId xmlns:a16="http://schemas.microsoft.com/office/drawing/2014/main" val="164099157"/>
                    </a:ext>
                  </a:extLst>
                </a:gridCol>
                <a:gridCol w="1075355">
                  <a:extLst>
                    <a:ext uri="{9D8B030D-6E8A-4147-A177-3AD203B41FA5}">
                      <a16:colId xmlns:a16="http://schemas.microsoft.com/office/drawing/2014/main" val="3639938628"/>
                    </a:ext>
                  </a:extLst>
                </a:gridCol>
                <a:gridCol w="1075355">
                  <a:extLst>
                    <a:ext uri="{9D8B030D-6E8A-4147-A177-3AD203B41FA5}">
                      <a16:colId xmlns:a16="http://schemas.microsoft.com/office/drawing/2014/main" val="4231342301"/>
                    </a:ext>
                  </a:extLst>
                </a:gridCol>
                <a:gridCol w="1075355">
                  <a:extLst>
                    <a:ext uri="{9D8B030D-6E8A-4147-A177-3AD203B41FA5}">
                      <a16:colId xmlns:a16="http://schemas.microsoft.com/office/drawing/2014/main" val="18358798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현대해상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사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B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사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C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사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9249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가입연령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DC221E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90</a:t>
                      </a:r>
                      <a:r>
                        <a:rPr lang="ko-KR" altLang="en-US" sz="1400" dirty="0">
                          <a:solidFill>
                            <a:srgbClr val="DC221E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80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7308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AB6211-B90B-43AD-7D44-80AB2A546E4F}"/>
              </a:ext>
            </a:extLst>
          </p:cNvPr>
          <p:cNvSpPr txBox="1"/>
          <p:nvPr/>
        </p:nvSpPr>
        <p:spPr>
          <a:xfrm>
            <a:off x="462024" y="5187042"/>
            <a:ext cx="5376774" cy="1077218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i="1" dirty="0">
                <a:ln>
                  <a:solidFill>
                    <a:srgbClr val="002F70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간병인지원</a:t>
            </a:r>
            <a:r>
              <a:rPr lang="en-US" altLang="ko-KR" sz="3200" b="1" i="1" dirty="0">
                <a:ln>
                  <a:solidFill>
                    <a:srgbClr val="002F70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/</a:t>
            </a:r>
            <a:r>
              <a:rPr lang="ko-KR" altLang="en-US" sz="3200" b="1" i="1" dirty="0">
                <a:ln>
                  <a:solidFill>
                    <a:srgbClr val="002F70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사용일당</a:t>
            </a:r>
            <a:endParaRPr lang="en-US" altLang="ko-KR" sz="3200" b="1" i="1" dirty="0">
              <a:ln>
                <a:solidFill>
                  <a:srgbClr val="002F70"/>
                </a:solidFill>
              </a:ln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  <a:p>
            <a:pPr algn="ctr"/>
            <a:r>
              <a:rPr lang="ko-KR" altLang="en-US" sz="3200" b="1" i="1" dirty="0">
                <a:ln>
                  <a:solidFill>
                    <a:srgbClr val="002F70"/>
                  </a:solidFill>
                </a:ln>
                <a:solidFill>
                  <a:srgbClr val="002F70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납입면제 적용</a:t>
            </a:r>
            <a:r>
              <a:rPr lang="ko-KR" altLang="en-US" sz="3200" b="1" i="1" dirty="0">
                <a:ln>
                  <a:solidFill>
                    <a:srgbClr val="002F70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3200" b="1" i="1" dirty="0">
                <a:ln>
                  <a:solidFill>
                    <a:srgbClr val="002F70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OK!</a:t>
            </a:r>
            <a:endParaRPr lang="ko-KR" altLang="en-US" b="1" i="1" dirty="0">
              <a:ln>
                <a:solidFill>
                  <a:srgbClr val="002F70"/>
                </a:solidFill>
              </a:ln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650A3-D5C6-7BF7-C240-252BF39F5E3C}"/>
              </a:ext>
            </a:extLst>
          </p:cNvPr>
          <p:cNvSpPr txBox="1"/>
          <p:nvPr/>
        </p:nvSpPr>
        <p:spPr>
          <a:xfrm>
            <a:off x="656165" y="3596312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F70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알아볼 필요 없이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F70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F70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간병인을 보내주는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2F70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EB107B2C-7404-16EF-A815-0376DAF17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24" y="3657589"/>
            <a:ext cx="216000" cy="216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1B08B03-527B-622F-CDCB-C1D973C2AD47}"/>
              </a:ext>
            </a:extLst>
          </p:cNvPr>
          <p:cNvSpPr/>
          <p:nvPr/>
        </p:nvSpPr>
        <p:spPr>
          <a:xfrm>
            <a:off x="462024" y="3991257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2F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2F70"/>
                </a:solidFill>
                <a:latin typeface="페이퍼로지 6 SemiBold" pitchFamily="2" charset="-127"/>
                <a:ea typeface="페이퍼로지 6 SemiBold" pitchFamily="2" charset="-127"/>
              </a:rPr>
              <a:t>현물지급</a:t>
            </a:r>
            <a:endParaRPr lang="en-US" altLang="ko-KR" dirty="0">
              <a:solidFill>
                <a:srgbClr val="002F7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en-US" altLang="ko-KR" dirty="0">
                <a:solidFill>
                  <a:srgbClr val="DC221E"/>
                </a:solidFill>
                <a:latin typeface="페이퍼로지 8 ExtraBold" pitchFamily="2" charset="-127"/>
                <a:ea typeface="페이퍼로지 8 ExtraBold" pitchFamily="2" charset="-127"/>
              </a:rPr>
              <a:t>20</a:t>
            </a:r>
            <a:r>
              <a:rPr lang="ko-KR" altLang="en-US" dirty="0" err="1">
                <a:solidFill>
                  <a:srgbClr val="DC221E"/>
                </a:solidFill>
                <a:latin typeface="페이퍼로지 8 ExtraBold" pitchFamily="2" charset="-127"/>
                <a:ea typeface="페이퍼로지 8 ExtraBold" pitchFamily="2" charset="-127"/>
              </a:rPr>
              <a:t>년</a:t>
            </a:r>
            <a:r>
              <a:rPr lang="ko-KR" altLang="en-US" dirty="0" err="1">
                <a:solidFill>
                  <a:srgbClr val="002F70"/>
                </a:solidFill>
                <a:latin typeface="페이퍼로지 6 SemiBold" pitchFamily="2" charset="-127"/>
                <a:ea typeface="페이퍼로지 6 SemiBold" pitchFamily="2" charset="-127"/>
              </a:rPr>
              <a:t>갱신</a:t>
            </a:r>
            <a:endParaRPr lang="ko-KR" altLang="en-US" dirty="0">
              <a:solidFill>
                <a:srgbClr val="002F7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FBED12-0636-4058-3CDA-BA8D05053134}"/>
              </a:ext>
            </a:extLst>
          </p:cNvPr>
          <p:cNvSpPr/>
          <p:nvPr/>
        </p:nvSpPr>
        <p:spPr>
          <a:xfrm>
            <a:off x="4127723" y="3991257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2F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2F70"/>
                </a:solidFill>
                <a:latin typeface="페이퍼로지 6 SemiBold" pitchFamily="2" charset="-127"/>
                <a:ea typeface="페이퍼로지 6 SemiBold" pitchFamily="2" charset="-127"/>
              </a:rPr>
              <a:t>고령자</a:t>
            </a:r>
            <a:br>
              <a:rPr lang="en-US" altLang="ko-KR" dirty="0">
                <a:solidFill>
                  <a:srgbClr val="002F70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ko-KR" altLang="en-US" dirty="0">
                <a:solidFill>
                  <a:srgbClr val="DC221E"/>
                </a:solidFill>
                <a:latin typeface="페이퍼로지 8 ExtraBold" pitchFamily="2" charset="-127"/>
                <a:ea typeface="페이퍼로지 8 ExtraBold" pitchFamily="2" charset="-127"/>
              </a:rPr>
              <a:t>동일</a:t>
            </a:r>
            <a:r>
              <a:rPr lang="ko-KR" altLang="en-US" dirty="0">
                <a:solidFill>
                  <a:srgbClr val="002F70"/>
                </a:solidFill>
                <a:latin typeface="페이퍼로지 6 SemiBold" pitchFamily="2" charset="-127"/>
                <a:ea typeface="페이퍼로지 6 SemiBold" pitchFamily="2" charset="-127"/>
              </a:rPr>
              <a:t>조건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2B5391-8AA0-D933-4296-B90ABD65A902}"/>
              </a:ext>
            </a:extLst>
          </p:cNvPr>
          <p:cNvSpPr/>
          <p:nvPr/>
        </p:nvSpPr>
        <p:spPr>
          <a:xfrm>
            <a:off x="2294873" y="3991257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2F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2F70"/>
                </a:solidFill>
                <a:latin typeface="페이퍼로지 6 SemiBold" pitchFamily="2" charset="-127"/>
                <a:ea typeface="페이퍼로지 6 SemiBold" pitchFamily="2" charset="-127"/>
              </a:rPr>
              <a:t>감액면책</a:t>
            </a:r>
            <a:br>
              <a:rPr lang="en-US" altLang="ko-KR" dirty="0">
                <a:solidFill>
                  <a:srgbClr val="002F70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ko-KR" altLang="en-US" dirty="0">
                <a:solidFill>
                  <a:srgbClr val="DC221E"/>
                </a:solidFill>
                <a:latin typeface="페이퍼로지 8 ExtraBold" pitchFamily="2" charset="-127"/>
                <a:ea typeface="페이퍼로지 8 ExtraBold" pitchFamily="2" charset="-127"/>
              </a:rPr>
              <a:t>없음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6B9C4ACB-CBBE-02AA-4412-69AA5197E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450629"/>
              </p:ext>
            </p:extLst>
          </p:nvPr>
        </p:nvGraphicFramePr>
        <p:xfrm>
          <a:off x="6583173" y="4395042"/>
          <a:ext cx="5146801" cy="7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845">
                  <a:extLst>
                    <a:ext uri="{9D8B030D-6E8A-4147-A177-3AD203B41FA5}">
                      <a16:colId xmlns:a16="http://schemas.microsoft.com/office/drawing/2014/main" val="3089384407"/>
                    </a:ext>
                  </a:extLst>
                </a:gridCol>
                <a:gridCol w="1524978">
                  <a:extLst>
                    <a:ext uri="{9D8B030D-6E8A-4147-A177-3AD203B41FA5}">
                      <a16:colId xmlns:a16="http://schemas.microsoft.com/office/drawing/2014/main" val="220212827"/>
                    </a:ext>
                  </a:extLst>
                </a:gridCol>
                <a:gridCol w="1524978">
                  <a:extLst>
                    <a:ext uri="{9D8B030D-6E8A-4147-A177-3AD203B41FA5}">
                      <a16:colId xmlns:a16="http://schemas.microsoft.com/office/drawing/2014/main" val="362389859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[3.10.10] 20</a:t>
                      </a:r>
                      <a:r>
                        <a:rPr lang="ko-KR" altLang="en-US" sz="115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년 갱신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남성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여성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08816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75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139,530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127,380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22629"/>
                  </a:ext>
                </a:extLst>
              </a:tr>
            </a:tbl>
          </a:graphicData>
        </a:graphic>
      </p:graphicFrame>
      <p:sp>
        <p:nvSpPr>
          <p:cNvPr id="15" name="사각형: 둥근 위쪽 모서리 91">
            <a:extLst>
              <a:ext uri="{FF2B5EF4-FFF2-40B4-BE49-F238E27FC236}">
                <a16:creationId xmlns:a16="http://schemas.microsoft.com/office/drawing/2014/main" id="{44335212-9BCA-1732-9D8C-843B600089F1}"/>
              </a:ext>
            </a:extLst>
          </p:cNvPr>
          <p:cNvSpPr/>
          <p:nvPr/>
        </p:nvSpPr>
        <p:spPr>
          <a:xfrm>
            <a:off x="6583174" y="1781740"/>
            <a:ext cx="5146802" cy="625558"/>
          </a:xfrm>
          <a:prstGeom prst="round2SameRect">
            <a:avLst>
              <a:gd name="adj1" fmla="val 36412"/>
              <a:gd name="adj2" fmla="val 0"/>
            </a:avLst>
          </a:prstGeom>
          <a:solidFill>
            <a:srgbClr val="002F7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            상해</a:t>
            </a:r>
            <a:r>
              <a:rPr lang="en-US" altLang="ko-KR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/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질병 간병인지원</a:t>
            </a:r>
            <a:r>
              <a:rPr lang="en-US" altLang="ko-KR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(1~180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일</a:t>
            </a:r>
            <a:r>
              <a:rPr lang="en-US" altLang="ko-KR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): 20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년 갱신 현물</a:t>
            </a:r>
            <a:endParaRPr lang="en-US" altLang="ko-KR" sz="1400" b="1" spc="-12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SemiBold" panose="020B0200000000000000" pitchFamily="34" charset="-128"/>
              <a:ea typeface="Noto Sans KR SemiBold" panose="020B0200000000000000" pitchFamily="34" charset="-128"/>
            </a:endParaRPr>
          </a:p>
        </p:txBody>
      </p:sp>
      <p:pic>
        <p:nvPicPr>
          <p:cNvPr id="21" name="그래픽 20" descr="수면 단색으로 채워진">
            <a:extLst>
              <a:ext uri="{FF2B5EF4-FFF2-40B4-BE49-F238E27FC236}">
                <a16:creationId xmlns:a16="http://schemas.microsoft.com/office/drawing/2014/main" id="{943AD258-5323-6FA8-E733-C7BA12BB44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2494" y="1830282"/>
            <a:ext cx="540000" cy="540000"/>
          </a:xfrm>
          <a:prstGeom prst="rect">
            <a:avLst/>
          </a:prstGeom>
        </p:spPr>
      </p:pic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4CC875F4-DC3A-60D5-E501-7D9DE778F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542093"/>
              </p:ext>
            </p:extLst>
          </p:nvPr>
        </p:nvGraphicFramePr>
        <p:xfrm>
          <a:off x="6583174" y="2571750"/>
          <a:ext cx="5146801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019">
                  <a:extLst>
                    <a:ext uri="{9D8B030D-6E8A-4147-A177-3AD203B41FA5}">
                      <a16:colId xmlns:a16="http://schemas.microsoft.com/office/drawing/2014/main" val="1192009278"/>
                    </a:ext>
                  </a:extLst>
                </a:gridCol>
                <a:gridCol w="963594">
                  <a:extLst>
                    <a:ext uri="{9D8B030D-6E8A-4147-A177-3AD203B41FA5}">
                      <a16:colId xmlns:a16="http://schemas.microsoft.com/office/drawing/2014/main" val="2296124234"/>
                    </a:ext>
                  </a:extLst>
                </a:gridCol>
                <a:gridCol w="963594">
                  <a:extLst>
                    <a:ext uri="{9D8B030D-6E8A-4147-A177-3AD203B41FA5}">
                      <a16:colId xmlns:a16="http://schemas.microsoft.com/office/drawing/2014/main" val="3302216845"/>
                    </a:ext>
                  </a:extLst>
                </a:gridCol>
                <a:gridCol w="963594">
                  <a:extLst>
                    <a:ext uri="{9D8B030D-6E8A-4147-A177-3AD203B41FA5}">
                      <a16:colId xmlns:a16="http://schemas.microsoft.com/office/drawing/2014/main" val="216728953"/>
                    </a:ext>
                  </a:extLst>
                </a:gridCol>
              </a:tblGrid>
              <a:tr h="3600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간병인사용</a:t>
                      </a:r>
                      <a:r>
                        <a:rPr lang="en-US" altLang="ko-KR" sz="120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(181~365</a:t>
                      </a:r>
                      <a:r>
                        <a:rPr lang="ko-KR" altLang="en-US" sz="120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r>
                        <a:rPr lang="en-US" altLang="ko-KR" sz="120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가입금액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rgbClr val="002F70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rgbClr val="002F70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2740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~70</a:t>
                      </a:r>
                      <a:r>
                        <a:rPr lang="ko-KR" altLang="en-US" sz="110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71~80</a:t>
                      </a:r>
                      <a:r>
                        <a:rPr lang="ko-KR" altLang="en-US" sz="110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81~90</a:t>
                      </a:r>
                      <a:r>
                        <a:rPr lang="ko-KR" altLang="en-US" sz="110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9453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요양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,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정신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,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한방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,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의원 제외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20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20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589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간호간병통합서비스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4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74062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CA56C367-8E75-DC6A-3186-FD03A5B100B4}"/>
              </a:ext>
            </a:extLst>
          </p:cNvPr>
          <p:cNvSpPr txBox="1"/>
          <p:nvPr/>
        </p:nvSpPr>
        <p:spPr>
          <a:xfrm>
            <a:off x="6583173" y="4011750"/>
            <a:ext cx="514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기본계약 </a:t>
            </a:r>
            <a:r>
              <a:rPr lang="en-US" altLang="ko-KR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천만</a:t>
            </a:r>
            <a:r>
              <a:rPr lang="en-US" altLang="ko-KR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납면</a:t>
            </a:r>
            <a:r>
              <a:rPr lang="ko-KR" altLang="en-US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10</a:t>
            </a:r>
            <a:r>
              <a:rPr lang="ko-KR" altLang="en-US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만</a:t>
            </a:r>
            <a:r>
              <a:rPr lang="en-US" altLang="ko-KR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무해지</a:t>
            </a:r>
            <a:r>
              <a:rPr lang="en-US" altLang="ko-KR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1</a:t>
            </a:r>
            <a:r>
              <a:rPr lang="ko-KR" altLang="en-US" sz="105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급 기준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0C38B459-0591-FEC6-514F-3D6085A4C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257527"/>
              </p:ext>
            </p:extLst>
          </p:nvPr>
        </p:nvGraphicFramePr>
        <p:xfrm>
          <a:off x="6583172" y="5329651"/>
          <a:ext cx="5146801" cy="7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845">
                  <a:extLst>
                    <a:ext uri="{9D8B030D-6E8A-4147-A177-3AD203B41FA5}">
                      <a16:colId xmlns:a16="http://schemas.microsoft.com/office/drawing/2014/main" val="3089384407"/>
                    </a:ext>
                  </a:extLst>
                </a:gridCol>
                <a:gridCol w="1524978">
                  <a:extLst>
                    <a:ext uri="{9D8B030D-6E8A-4147-A177-3AD203B41FA5}">
                      <a16:colId xmlns:a16="http://schemas.microsoft.com/office/drawing/2014/main" val="220212827"/>
                    </a:ext>
                  </a:extLst>
                </a:gridCol>
                <a:gridCol w="1524978">
                  <a:extLst>
                    <a:ext uri="{9D8B030D-6E8A-4147-A177-3AD203B41FA5}">
                      <a16:colId xmlns:a16="http://schemas.microsoft.com/office/drawing/2014/main" val="362389859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[</a:t>
                      </a:r>
                      <a:r>
                        <a:rPr lang="ko-KR" altLang="en-US" sz="1150" b="0" dirty="0" err="1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내삶엔</a:t>
                      </a:r>
                      <a:r>
                        <a:rPr lang="ko-KR" altLang="en-US" sz="115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</a:t>
                      </a:r>
                      <a:r>
                        <a:rPr lang="en-US" altLang="ko-KR" sz="115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3.8.8.8] 20</a:t>
                      </a:r>
                      <a:r>
                        <a:rPr lang="ko-KR" altLang="en-US" sz="115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년 갱신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남성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002F7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여성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08816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85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162,600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139,450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2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226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C5FB6E3-E051-A70A-D802-3A4231AB050F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12BEDC-6B0A-48A2-5AD5-AF1C619C665C}"/>
              </a:ext>
            </a:extLst>
          </p:cNvPr>
          <p:cNvSpPr txBox="1"/>
          <p:nvPr/>
        </p:nvSpPr>
        <p:spPr>
          <a:xfrm>
            <a:off x="572650" y="510111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판매플랜</a:t>
            </a:r>
          </a:p>
        </p:txBody>
      </p:sp>
    </p:spTree>
    <p:extLst>
      <p:ext uri="{BB962C8B-B14F-4D97-AF65-F5344CB8AC3E}">
        <p14:creationId xmlns:p14="http://schemas.microsoft.com/office/powerpoint/2010/main" val="2307418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258500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0854A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DB</a:t>
            </a:r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0854A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손보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마니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&amp;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또 통합보험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1852F37-4A77-8DA3-1161-D35EF7B3A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1677" y="988138"/>
            <a:ext cx="9888646" cy="55653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4619E2-F544-6E89-0ED8-1D7D8C220FDD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C9577-EA04-FEC0-5EFF-8FC22FF05E08}"/>
              </a:ext>
            </a:extLst>
          </p:cNvPr>
          <p:cNvSpPr txBox="1"/>
          <p:nvPr/>
        </p:nvSpPr>
        <p:spPr>
          <a:xfrm>
            <a:off x="572650" y="510111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판매플랜</a:t>
            </a:r>
          </a:p>
        </p:txBody>
      </p:sp>
    </p:spTree>
    <p:extLst>
      <p:ext uri="{BB962C8B-B14F-4D97-AF65-F5344CB8AC3E}">
        <p14:creationId xmlns:p14="http://schemas.microsoft.com/office/powerpoint/2010/main" val="3548800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40809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09178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하나손보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하나더베스트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운전자상해종합보험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3" name="사각형: 둥근 모서리 80">
            <a:extLst>
              <a:ext uri="{FF2B5EF4-FFF2-40B4-BE49-F238E27FC236}">
                <a16:creationId xmlns:a16="http://schemas.microsoft.com/office/drawing/2014/main" id="{B1E84BAD-61CF-753C-5E30-F45046D914F7}"/>
              </a:ext>
            </a:extLst>
          </p:cNvPr>
          <p:cNvSpPr/>
          <p:nvPr/>
        </p:nvSpPr>
        <p:spPr>
          <a:xfrm>
            <a:off x="6396203" y="1547521"/>
            <a:ext cx="5520748" cy="48783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사각형: 둥근 위쪽 모서리 91">
            <a:extLst>
              <a:ext uri="{FF2B5EF4-FFF2-40B4-BE49-F238E27FC236}">
                <a16:creationId xmlns:a16="http://schemas.microsoft.com/office/drawing/2014/main" id="{9EBF91B7-27D0-8670-2434-1867A9A8CFA8}"/>
              </a:ext>
            </a:extLst>
          </p:cNvPr>
          <p:cNvSpPr/>
          <p:nvPr/>
        </p:nvSpPr>
        <p:spPr>
          <a:xfrm>
            <a:off x="6396202" y="1225576"/>
            <a:ext cx="5520748" cy="354179"/>
          </a:xfrm>
          <a:prstGeom prst="round2SameRect">
            <a:avLst>
              <a:gd name="adj1" fmla="val 36412"/>
              <a:gd name="adj2" fmla="val 0"/>
            </a:avLst>
          </a:prstGeom>
          <a:solidFill>
            <a:srgbClr val="009178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 err="1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통통플랜｜통합골절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 </a:t>
            </a:r>
            <a:r>
              <a:rPr lang="en-US" altLang="ko-KR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+ 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통합상해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D051CFF-7795-F08B-269C-95C2D6C0D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016192"/>
              </p:ext>
            </p:extLst>
          </p:nvPr>
        </p:nvGraphicFramePr>
        <p:xfrm>
          <a:off x="6583175" y="1778546"/>
          <a:ext cx="5146801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3671551345"/>
                    </a:ext>
                  </a:extLst>
                </a:gridCol>
                <a:gridCol w="1546801">
                  <a:extLst>
                    <a:ext uri="{9D8B030D-6E8A-4147-A177-3AD203B41FA5}">
                      <a16:colId xmlns:a16="http://schemas.microsoft.com/office/drawing/2014/main" val="385652382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 err="1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담보명</a:t>
                      </a:r>
                      <a:endParaRPr lang="ko-KR" altLang="en-US" sz="1150" b="0" dirty="0">
                        <a:solidFill>
                          <a:srgbClr val="009178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가입금액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785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 err="1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통합골절진단비</a:t>
                      </a:r>
                      <a:endParaRPr lang="ko-KR" altLang="en-US" sz="1150" dirty="0">
                        <a:solidFill>
                          <a:srgbClr val="009178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</a:t>
                      </a:r>
                      <a:r>
                        <a:rPr lang="ko-KR" altLang="en-US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천만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3694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통합상해진단비</a:t>
                      </a:r>
                      <a:r>
                        <a:rPr lang="en-US" altLang="ko-KR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경증</a:t>
                      </a:r>
                      <a:r>
                        <a:rPr lang="en-US" altLang="ko-KR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/</a:t>
                      </a:r>
                      <a:r>
                        <a:rPr lang="ko-KR" altLang="en-US" sz="1150" dirty="0" err="1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중등증</a:t>
                      </a:r>
                      <a:r>
                        <a:rPr lang="en-US" altLang="ko-KR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/</a:t>
                      </a:r>
                      <a:r>
                        <a:rPr lang="ko-KR" altLang="en-US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중증</a:t>
                      </a:r>
                      <a:r>
                        <a:rPr lang="en-US" altLang="ko-KR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, </a:t>
                      </a:r>
                      <a:r>
                        <a:rPr lang="ko-KR" altLang="en-US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부위별 연간 </a:t>
                      </a:r>
                      <a:r>
                        <a:rPr lang="en-US" altLang="ko-KR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</a:t>
                      </a:r>
                      <a:r>
                        <a:rPr lang="ko-KR" altLang="en-US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회</a:t>
                      </a:r>
                      <a:r>
                        <a:rPr lang="en-US" altLang="ko-KR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150" dirty="0">
                        <a:solidFill>
                          <a:srgbClr val="009178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3</a:t>
                      </a:r>
                      <a:r>
                        <a:rPr lang="ko-KR" altLang="en-US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만</a:t>
                      </a:r>
                      <a:r>
                        <a:rPr lang="en-US" altLang="ko-KR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/30</a:t>
                      </a:r>
                      <a:r>
                        <a:rPr lang="ko-KR" altLang="en-US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만</a:t>
                      </a:r>
                      <a:r>
                        <a:rPr lang="en-US" altLang="ko-KR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/500</a:t>
                      </a:r>
                      <a:r>
                        <a:rPr lang="ko-KR" altLang="en-US" sz="115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3788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관절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무릎및고관절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수술비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1297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무릎인대파열및연골손상수술비</a:t>
                      </a:r>
                      <a:endParaRPr lang="ko-KR" altLang="en-US" sz="1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0662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골절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치아파절제외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부목치료비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5122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골절철심제거수술비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연간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회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급여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50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842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깁스치료비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20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1216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상해응급실내원비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응급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5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66648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2B08169-58A7-2F0C-189B-3DE9F6795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842061"/>
              </p:ext>
            </p:extLst>
          </p:nvPr>
        </p:nvGraphicFramePr>
        <p:xfrm>
          <a:off x="6583174" y="5130742"/>
          <a:ext cx="5146801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31">
                  <a:extLst>
                    <a:ext uri="{9D8B030D-6E8A-4147-A177-3AD203B41FA5}">
                      <a16:colId xmlns:a16="http://schemas.microsoft.com/office/drawing/2014/main" val="3089384407"/>
                    </a:ext>
                  </a:extLst>
                </a:gridCol>
                <a:gridCol w="1491290">
                  <a:extLst>
                    <a:ext uri="{9D8B030D-6E8A-4147-A177-3AD203B41FA5}">
                      <a16:colId xmlns:a16="http://schemas.microsoft.com/office/drawing/2014/main" val="220212827"/>
                    </a:ext>
                  </a:extLst>
                </a:gridCol>
                <a:gridCol w="1491290">
                  <a:extLst>
                    <a:ext uri="{9D8B030D-6E8A-4147-A177-3AD203B41FA5}">
                      <a16:colId xmlns:a16="http://schemas.microsoft.com/office/drawing/2014/main" val="659502115"/>
                    </a:ext>
                  </a:extLst>
                </a:gridCol>
                <a:gridCol w="1491290">
                  <a:extLst>
                    <a:ext uri="{9D8B030D-6E8A-4147-A177-3AD203B41FA5}">
                      <a16:colId xmlns:a16="http://schemas.microsoft.com/office/drawing/2014/main" val="36238985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40</a:t>
                      </a:r>
                      <a:r>
                        <a:rPr lang="ko-KR" altLang="en-US" sz="1100" b="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50</a:t>
                      </a:r>
                      <a:r>
                        <a:rPr lang="ko-KR" altLang="en-US" sz="1100" b="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60</a:t>
                      </a:r>
                      <a:r>
                        <a:rPr lang="ko-KR" altLang="en-US" sz="1100" b="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0881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남성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27,104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31,714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36,900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953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여성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23,062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29,852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37,079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2262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7500E7-175A-CD18-EF89-813196428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607397"/>
              </p:ext>
            </p:extLst>
          </p:nvPr>
        </p:nvGraphicFramePr>
        <p:xfrm>
          <a:off x="462024" y="1225576"/>
          <a:ext cx="532775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750">
                  <a:extLst>
                    <a:ext uri="{9D8B030D-6E8A-4147-A177-3AD203B41FA5}">
                      <a16:colId xmlns:a16="http://schemas.microsoft.com/office/drawing/2014/main" val="4160220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통합골절에 통합상해를 더한 </a:t>
                      </a:r>
                      <a:r>
                        <a:rPr lang="ko-KR" altLang="en-US" sz="1800" b="0" dirty="0" err="1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통통플랜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!</a:t>
                      </a:r>
                    </a:p>
                    <a:p>
                      <a:pPr algn="l" latinLnBrk="1"/>
                      <a:r>
                        <a:rPr lang="ko-KR" altLang="en-US" sz="1800" b="1" u="sng" dirty="0">
                          <a:solidFill>
                            <a:srgbClr val="009178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한 사고의 여러 골절</a:t>
                      </a:r>
                      <a:r>
                        <a:rPr lang="en-US" altLang="ko-KR" sz="1800" b="1" u="sng" dirty="0">
                          <a:solidFill>
                            <a:srgbClr val="009178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, </a:t>
                      </a:r>
                      <a:r>
                        <a:rPr lang="ko-KR" altLang="en-US" sz="1800" b="1" u="sng" dirty="0">
                          <a:solidFill>
                            <a:srgbClr val="009178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각각 합산 보장</a:t>
                      </a:r>
                      <a:r>
                        <a:rPr lang="en-US" altLang="ko-KR" sz="1800" b="1" u="sng" dirty="0">
                          <a:solidFill>
                            <a:srgbClr val="009178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!</a:t>
                      </a:r>
                      <a:endParaRPr lang="ko-KR" altLang="en-US" sz="1800" b="1" u="sng" dirty="0">
                        <a:solidFill>
                          <a:srgbClr val="009178"/>
                        </a:solidFill>
                        <a:latin typeface="페이퍼로지 9 Black" pitchFamily="2" charset="-127"/>
                        <a:ea typeface="페이퍼로지 9 Black" pitchFamily="2" charset="-127"/>
                      </a:endParaRPr>
                    </a:p>
                  </a:txBody>
                  <a:tcPr marL="137160" marR="137160" marT="137160" marB="137160" anchor="b">
                    <a:lnL w="3810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50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F4992C-873C-D18F-FB4E-BA74A303D6A2}"/>
              </a:ext>
            </a:extLst>
          </p:cNvPr>
          <p:cNvSpPr txBox="1"/>
          <p:nvPr/>
        </p:nvSpPr>
        <p:spPr>
          <a:xfrm>
            <a:off x="6583174" y="6102742"/>
            <a:ext cx="514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상해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급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자가용운전자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20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년납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20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년만기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상해사망 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천만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기본계약 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100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만 포함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505CB9-3D4A-B67E-694C-2B62797C24D6}"/>
              </a:ext>
            </a:extLst>
          </p:cNvPr>
          <p:cNvSpPr txBox="1"/>
          <p:nvPr/>
        </p:nvSpPr>
        <p:spPr>
          <a:xfrm>
            <a:off x="656165" y="2233196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통합골절 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+ 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통합상해 → </a:t>
            </a:r>
            <a:r>
              <a:rPr lang="ko-KR" altLang="en-US" sz="16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통통플랜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9178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148F48D7-267E-7D1A-FB57-760056F2B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24" y="2294473"/>
            <a:ext cx="216000" cy="216000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5DB0A2A7-03A2-48BB-8C40-EAA6695D9475}"/>
              </a:ext>
            </a:extLst>
          </p:cNvPr>
          <p:cNvGrpSpPr/>
          <p:nvPr/>
        </p:nvGrpSpPr>
        <p:grpSpPr>
          <a:xfrm>
            <a:off x="462025" y="2633027"/>
            <a:ext cx="2791716" cy="1180148"/>
            <a:chOff x="462024" y="2633027"/>
            <a:chExt cx="2971641" cy="1180148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522345D-A6A6-2493-2229-BC7CD03C0060}"/>
                </a:ext>
              </a:extLst>
            </p:cNvPr>
            <p:cNvSpPr/>
            <p:nvPr/>
          </p:nvSpPr>
          <p:spPr>
            <a:xfrm>
              <a:off x="462024" y="2633027"/>
              <a:ext cx="2971641" cy="1180148"/>
            </a:xfrm>
            <a:prstGeom prst="rect">
              <a:avLst/>
            </a:prstGeom>
            <a:solidFill>
              <a:srgbClr val="009178">
                <a:alpha val="10000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0DD7D2-BAB4-A71C-B613-97FDC3EE4B90}"/>
                </a:ext>
              </a:extLst>
            </p:cNvPr>
            <p:cNvSpPr txBox="1"/>
            <p:nvPr/>
          </p:nvSpPr>
          <p:spPr>
            <a:xfrm>
              <a:off x="942232" y="2707575"/>
              <a:ext cx="2011224" cy="1031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 err="1">
                  <a:solidFill>
                    <a:srgbClr val="009178"/>
                  </a:solidFill>
                  <a:latin typeface="페이퍼로지 6 SemiBold" pitchFamily="2" charset="-127"/>
                  <a:ea typeface="페이퍼로지 6 SemiBold" pitchFamily="2" charset="-127"/>
                </a:rPr>
                <a:t>통합골절진단비</a:t>
              </a:r>
              <a:endParaRPr lang="en-US" altLang="ko-KR" sz="12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/>
              <a:endParaRPr lang="en-US" altLang="ko-KR" sz="3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/>
              <a:r>
                <a:rPr lang="ko-KR" altLang="en-US" sz="1600" dirty="0">
                  <a:solidFill>
                    <a:srgbClr val="009178"/>
                  </a:solidFill>
                  <a:latin typeface="페이퍼로지 6 SemiBold" pitchFamily="2" charset="-127"/>
                  <a:ea typeface="페이퍼로지 6 SemiBold" pitchFamily="2" charset="-127"/>
                </a:rPr>
                <a:t>가입금액 </a:t>
              </a:r>
              <a:r>
                <a:rPr lang="en-US" altLang="ko-KR" sz="1600" dirty="0">
                  <a:solidFill>
                    <a:srgbClr val="009178"/>
                  </a:solidFill>
                  <a:latin typeface="페이퍼로지 6 SemiBold" pitchFamily="2" charset="-127"/>
                  <a:ea typeface="페이퍼로지 6 SemiBold" pitchFamily="2" charset="-127"/>
                </a:rPr>
                <a:t>1,000</a:t>
              </a:r>
              <a:r>
                <a:rPr lang="ko-KR" altLang="en-US" sz="1600" dirty="0">
                  <a:solidFill>
                    <a:srgbClr val="009178"/>
                  </a:solidFill>
                  <a:latin typeface="페이퍼로지 6 SemiBold" pitchFamily="2" charset="-127"/>
                  <a:ea typeface="페이퍼로지 6 SemiBold" pitchFamily="2" charset="-127"/>
                </a:rPr>
                <a:t>만</a:t>
              </a:r>
              <a:endParaRPr lang="en-US" altLang="ko-KR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/>
              <a:br>
                <a:rPr lang="en-US" altLang="ko-KR" sz="1200" dirty="0">
                  <a:solidFill>
                    <a:srgbClr val="009178"/>
                  </a:solidFill>
                  <a:latin typeface="페이퍼로지 4 Regular" pitchFamily="2" charset="-127"/>
                  <a:ea typeface="페이퍼로지 4 Regular" pitchFamily="2" charset="-127"/>
                </a:rPr>
              </a:br>
              <a:r>
                <a:rPr lang="ko-KR" altLang="en-US" sz="9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골절진단지급률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X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가입금액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가입금액 한도 내 다발골절 합산 지급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432657-4AC9-FC98-22BC-D8994032CE7D}"/>
              </a:ext>
            </a:extLst>
          </p:cNvPr>
          <p:cNvSpPr/>
          <p:nvPr/>
        </p:nvSpPr>
        <p:spPr>
          <a:xfrm>
            <a:off x="3304284" y="2633027"/>
            <a:ext cx="2791716" cy="1180148"/>
          </a:xfrm>
          <a:prstGeom prst="rect">
            <a:avLst/>
          </a:prstGeom>
          <a:solidFill>
            <a:srgbClr val="009178">
              <a:alpha val="1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rgbClr val="009178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D9A447-2E40-8AE9-3617-D74C3C2B4A61}"/>
              </a:ext>
            </a:extLst>
          </p:cNvPr>
          <p:cNvSpPr txBox="1"/>
          <p:nvPr/>
        </p:nvSpPr>
        <p:spPr>
          <a:xfrm>
            <a:off x="3755417" y="2707575"/>
            <a:ext cx="188945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통합상해진단비</a:t>
            </a:r>
            <a:endParaRPr lang="en-US" altLang="ko-KR" sz="1200" dirty="0">
              <a:solidFill>
                <a:srgbClr val="009178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endParaRPr lang="en-US" altLang="ko-KR" sz="300" dirty="0">
              <a:solidFill>
                <a:srgbClr val="009178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en-US" altLang="ko-KR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3</a:t>
            </a:r>
            <a:r>
              <a:rPr lang="ko-KR" altLang="en-US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/</a:t>
            </a:r>
            <a:r>
              <a:rPr lang="ko-KR" altLang="en-US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30</a:t>
            </a:r>
            <a:r>
              <a:rPr lang="ko-KR" altLang="en-US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/</a:t>
            </a:r>
            <a:r>
              <a:rPr lang="ko-KR" altLang="en-US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500</a:t>
            </a:r>
            <a:r>
              <a:rPr lang="ko-KR" altLang="en-US" sz="16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만</a:t>
            </a:r>
            <a:endParaRPr lang="en-US" altLang="ko-KR" sz="1600" dirty="0">
              <a:solidFill>
                <a:srgbClr val="009178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br>
              <a:rPr lang="en-US" altLang="ko-KR" sz="1200" dirty="0">
                <a:solidFill>
                  <a:srgbClr val="009178"/>
                </a:solidFill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경증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중등증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중증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부위별 연간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회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03EB9A-DF10-3215-5962-AAAF7237E5F6}"/>
              </a:ext>
            </a:extLst>
          </p:cNvPr>
          <p:cNvSpPr txBox="1"/>
          <p:nvPr/>
        </p:nvSpPr>
        <p:spPr>
          <a:xfrm>
            <a:off x="656165" y="3935729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골절진단비 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vs </a:t>
            </a:r>
            <a:r>
              <a:rPr lang="ko-KR" altLang="en-US" sz="16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통합골절진단비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9178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40" name="그래픽 39">
            <a:extLst>
              <a:ext uri="{FF2B5EF4-FFF2-40B4-BE49-F238E27FC236}">
                <a16:creationId xmlns:a16="http://schemas.microsoft.com/office/drawing/2014/main" id="{82650083-5D87-BCFA-7CC6-AD64BD4B5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24" y="3997006"/>
            <a:ext cx="216000" cy="216000"/>
          </a:xfrm>
          <a:prstGeom prst="rect">
            <a:avLst/>
          </a:prstGeom>
        </p:spPr>
      </p:pic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095E1547-6C44-10F4-F9F6-C795D5882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282764"/>
              </p:ext>
            </p:extLst>
          </p:nvPr>
        </p:nvGraphicFramePr>
        <p:xfrm>
          <a:off x="462024" y="4363871"/>
          <a:ext cx="5633976" cy="2062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992">
                  <a:extLst>
                    <a:ext uri="{9D8B030D-6E8A-4147-A177-3AD203B41FA5}">
                      <a16:colId xmlns:a16="http://schemas.microsoft.com/office/drawing/2014/main" val="730547508"/>
                    </a:ext>
                  </a:extLst>
                </a:gridCol>
                <a:gridCol w="1877992">
                  <a:extLst>
                    <a:ext uri="{9D8B030D-6E8A-4147-A177-3AD203B41FA5}">
                      <a16:colId xmlns:a16="http://schemas.microsoft.com/office/drawing/2014/main" val="914227935"/>
                    </a:ext>
                  </a:extLst>
                </a:gridCol>
                <a:gridCol w="1877992">
                  <a:extLst>
                    <a:ext uri="{9D8B030D-6E8A-4147-A177-3AD203B41FA5}">
                      <a16:colId xmlns:a16="http://schemas.microsoft.com/office/drawing/2014/main" val="4175146476"/>
                    </a:ext>
                  </a:extLst>
                </a:gridCol>
              </a:tblGrid>
              <a:tr h="4203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17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골절진단비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17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통합골절진단비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1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269344"/>
                  </a:ext>
                </a:extLst>
              </a:tr>
              <a:tr h="54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최대 가입금액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치아파절</a:t>
                      </a: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포함 </a:t>
                      </a: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20</a:t>
                      </a: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  <a:b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12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치아파절</a:t>
                      </a: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제외 </a:t>
                      </a: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30</a:t>
                      </a: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1,000</a:t>
                      </a: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17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82542"/>
                  </a:ext>
                </a:extLst>
              </a:tr>
              <a:tr h="54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지급방식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가입금액 지급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골절진단지급률</a:t>
                      </a:r>
                      <a:b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X </a:t>
                      </a: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가입금액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17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989379"/>
                  </a:ext>
                </a:extLst>
              </a:tr>
              <a:tr h="54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한 사고로</a:t>
                      </a:r>
                      <a:b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</a:t>
                      </a: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가지 이상 골절 시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회 지급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각각의 보험금 합산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17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7741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69C1EB-A9B9-8C17-475B-2A51CDE9D82F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6BA86-EE7E-6275-467D-64E0C872EDF8}"/>
              </a:ext>
            </a:extLst>
          </p:cNvPr>
          <p:cNvSpPr txBox="1"/>
          <p:nvPr/>
        </p:nvSpPr>
        <p:spPr>
          <a:xfrm>
            <a:off x="572650" y="510111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판매플랜</a:t>
            </a:r>
          </a:p>
        </p:txBody>
      </p:sp>
    </p:spTree>
    <p:extLst>
      <p:ext uri="{BB962C8B-B14F-4D97-AF65-F5344CB8AC3E}">
        <p14:creationId xmlns:p14="http://schemas.microsoft.com/office/powerpoint/2010/main" val="249950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318356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DC3513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롯데손보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0854A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비급여 암 통합치료 플랜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" name="사각형: 둥근 모서리 80">
            <a:extLst>
              <a:ext uri="{FF2B5EF4-FFF2-40B4-BE49-F238E27FC236}">
                <a16:creationId xmlns:a16="http://schemas.microsoft.com/office/drawing/2014/main" id="{436C1A3C-7770-9B9B-B85C-4CF74E87EEDB}"/>
              </a:ext>
            </a:extLst>
          </p:cNvPr>
          <p:cNvSpPr/>
          <p:nvPr/>
        </p:nvSpPr>
        <p:spPr>
          <a:xfrm>
            <a:off x="6396203" y="1547521"/>
            <a:ext cx="5520748" cy="48783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사각형: 둥근 위쪽 모서리 91">
            <a:extLst>
              <a:ext uri="{FF2B5EF4-FFF2-40B4-BE49-F238E27FC236}">
                <a16:creationId xmlns:a16="http://schemas.microsoft.com/office/drawing/2014/main" id="{27AC0567-5392-6C84-5C17-EFA1D192A711}"/>
              </a:ext>
            </a:extLst>
          </p:cNvPr>
          <p:cNvSpPr/>
          <p:nvPr/>
        </p:nvSpPr>
        <p:spPr>
          <a:xfrm>
            <a:off x="6396202" y="1225576"/>
            <a:ext cx="5520748" cy="354179"/>
          </a:xfrm>
          <a:prstGeom prst="round2SameRect">
            <a:avLst>
              <a:gd name="adj1" fmla="val 36412"/>
              <a:gd name="adj2" fmla="val 0"/>
            </a:avLst>
          </a:prstGeom>
          <a:solidFill>
            <a:srgbClr val="DC351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비통치 최초 가입 추천 플랜</a:t>
            </a:r>
            <a:endParaRPr lang="en-US" altLang="ko-KR" sz="1400" b="1" spc="-12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SemiBold" panose="020B0200000000000000" pitchFamily="34" charset="-128"/>
              <a:ea typeface="Noto Sans KR SemiBold" panose="020B0200000000000000" pitchFamily="34" charset="-128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566766-EC71-65EA-86A7-A1D669F87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462022"/>
              </p:ext>
            </p:extLst>
          </p:nvPr>
        </p:nvGraphicFramePr>
        <p:xfrm>
          <a:off x="462024" y="1225576"/>
          <a:ext cx="532775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750">
                  <a:extLst>
                    <a:ext uri="{9D8B030D-6E8A-4147-A177-3AD203B41FA5}">
                      <a16:colId xmlns:a16="http://schemas.microsoft.com/office/drawing/2014/main" val="4160220971"/>
                    </a:ext>
                  </a:extLst>
                </a:gridCol>
              </a:tblGrid>
              <a:tr h="36065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비급여 암 치료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, 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상급종합 보장까지 더해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pPr algn="l" latinLnBrk="1"/>
                      <a:r>
                        <a:rPr lang="ko-KR" altLang="en-US" sz="1800" b="1" u="sng" dirty="0">
                          <a:solidFill>
                            <a:srgbClr val="DC3513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연간 최대 </a:t>
                      </a:r>
                      <a:r>
                        <a:rPr lang="en-US" altLang="ko-KR" sz="1800" b="1" u="sng" dirty="0">
                          <a:solidFill>
                            <a:srgbClr val="DC3513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2</a:t>
                      </a:r>
                      <a:r>
                        <a:rPr lang="ko-KR" altLang="en-US" sz="1800" b="1" u="sng" dirty="0">
                          <a:solidFill>
                            <a:srgbClr val="DC3513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억원</a:t>
                      </a:r>
                      <a:r>
                        <a:rPr lang="en-US" altLang="ko-KR" sz="1800" b="1" u="sng" dirty="0">
                          <a:solidFill>
                            <a:srgbClr val="DC3513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!</a:t>
                      </a:r>
                      <a:endParaRPr lang="ko-KR" altLang="en-US" sz="1800" b="1" u="sng" dirty="0">
                        <a:solidFill>
                          <a:srgbClr val="DC3513"/>
                        </a:solidFill>
                        <a:latin typeface="페이퍼로지 9 Black" pitchFamily="2" charset="-127"/>
                        <a:ea typeface="페이퍼로지 9 Black" pitchFamily="2" charset="-127"/>
                      </a:endParaRPr>
                    </a:p>
                  </a:txBody>
                  <a:tcPr marL="137160" marR="137160" marT="137160" marB="137160" anchor="b">
                    <a:lnL w="3810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501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3C30A00-AD5B-4EF8-F5B1-2417F7CEB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45518"/>
              </p:ext>
            </p:extLst>
          </p:nvPr>
        </p:nvGraphicFramePr>
        <p:xfrm>
          <a:off x="6580285" y="2083878"/>
          <a:ext cx="5146801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3671551345"/>
                    </a:ext>
                  </a:extLst>
                </a:gridCol>
                <a:gridCol w="1546801">
                  <a:extLst>
                    <a:ext uri="{9D8B030D-6E8A-4147-A177-3AD203B41FA5}">
                      <a16:colId xmlns:a16="http://schemas.microsoft.com/office/drawing/2014/main" val="385652382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DC3513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담보명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DC3513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가입금액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785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암 </a:t>
                      </a:r>
                      <a:r>
                        <a:rPr lang="ko-KR" altLang="en-US" sz="1200" b="0" i="0" u="none" strike="noStrike" dirty="0" err="1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비급여통합치료비</a:t>
                      </a:r>
                      <a:r>
                        <a:rPr lang="en-US" altLang="ko-KR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연간</a:t>
                      </a:r>
                      <a:r>
                        <a:rPr lang="en-US" altLang="ko-KR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억원한도</a:t>
                      </a:r>
                      <a:r>
                        <a:rPr lang="en-US" altLang="ko-KR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DC3513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rgbClr val="DC3513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억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36942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상급종합병원 암 </a:t>
                      </a:r>
                      <a:r>
                        <a:rPr lang="ko-KR" altLang="en-US" sz="1200" b="0" i="0" u="none" strike="noStrike" dirty="0" err="1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비급여통합치료비</a:t>
                      </a:r>
                      <a:r>
                        <a:rPr lang="en-US" altLang="ko-KR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연간</a:t>
                      </a:r>
                      <a:r>
                        <a:rPr lang="en-US" altLang="ko-KR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억원한도</a:t>
                      </a:r>
                      <a:r>
                        <a:rPr lang="en-US" altLang="ko-KR" sz="1200" b="0" i="0" u="none" strike="noStrike" dirty="0">
                          <a:solidFill>
                            <a:srgbClr val="DC3513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DC3513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rgbClr val="DC3513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억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51221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갱</a:t>
                      </a:r>
                      <a:r>
                        <a:rPr lang="en-US" altLang="ko-KR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) </a:t>
                      </a:r>
                      <a:r>
                        <a:rPr lang="ko-KR" altLang="en-US" sz="1200" b="0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상해중환자실입원비</a:t>
                      </a:r>
                      <a:r>
                        <a:rPr lang="en-US" altLang="ko-KR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(1-30</a:t>
                      </a:r>
                      <a:r>
                        <a:rPr lang="ko-KR" altLang="en-US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일</a:t>
                      </a:r>
                      <a:r>
                        <a:rPr lang="en-US" altLang="ko-KR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29538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32ABAC3B-4B06-B544-0DAB-1B9A5342A8E2}"/>
              </a:ext>
            </a:extLst>
          </p:cNvPr>
          <p:cNvSpPr txBox="1"/>
          <p:nvPr/>
        </p:nvSpPr>
        <p:spPr>
          <a:xfrm>
            <a:off x="656165" y="2233196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DC3513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비급여 암 치료 플랜의 핵심 담보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DC3513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70" name="그래픽 69">
            <a:extLst>
              <a:ext uri="{FF2B5EF4-FFF2-40B4-BE49-F238E27FC236}">
                <a16:creationId xmlns:a16="http://schemas.microsoft.com/office/drawing/2014/main" id="{687B02C6-1DB4-6185-2BD9-99E1DF854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24" y="2294473"/>
            <a:ext cx="216000" cy="216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F67D115-8C7B-E670-6379-95040022A435}"/>
              </a:ext>
            </a:extLst>
          </p:cNvPr>
          <p:cNvSpPr/>
          <p:nvPr/>
        </p:nvSpPr>
        <p:spPr>
          <a:xfrm>
            <a:off x="462025" y="2633027"/>
            <a:ext cx="2791716" cy="1180148"/>
          </a:xfrm>
          <a:prstGeom prst="rect">
            <a:avLst/>
          </a:prstGeom>
          <a:solidFill>
            <a:srgbClr val="DC3513">
              <a:alpha val="3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rgbClr val="009178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50B8F-0898-9B54-BD8A-B45DE6F11293}"/>
              </a:ext>
            </a:extLst>
          </p:cNvPr>
          <p:cNvSpPr txBox="1"/>
          <p:nvPr/>
        </p:nvSpPr>
        <p:spPr>
          <a:xfrm>
            <a:off x="913158" y="2907628"/>
            <a:ext cx="188945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암 비급여 통합치료비</a:t>
            </a:r>
            <a:endParaRPr lang="en-US" altLang="ko-KR" sz="1200" dirty="0">
              <a:solidFill>
                <a:srgbClr val="DC3513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endParaRPr lang="en-US" altLang="ko-KR" sz="300" dirty="0">
              <a:solidFill>
                <a:srgbClr val="DC3513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ko-KR" altLang="en-US" sz="14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연간 최대</a:t>
            </a:r>
            <a:r>
              <a:rPr lang="ko-KR" altLang="en-US" sz="16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20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1</a:t>
            </a:r>
            <a:r>
              <a:rPr lang="ko-KR" altLang="en-US" sz="20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억원</a:t>
            </a:r>
            <a:endParaRPr lang="en-US" altLang="ko-KR" sz="1600" dirty="0">
              <a:solidFill>
                <a:srgbClr val="DC3513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594245-8B75-98A9-1048-1CA34C7D1E4F}"/>
              </a:ext>
            </a:extLst>
          </p:cNvPr>
          <p:cNvSpPr/>
          <p:nvPr/>
        </p:nvSpPr>
        <p:spPr>
          <a:xfrm>
            <a:off x="3304284" y="2633027"/>
            <a:ext cx="2791716" cy="1180148"/>
          </a:xfrm>
          <a:prstGeom prst="rect">
            <a:avLst/>
          </a:prstGeom>
          <a:solidFill>
            <a:srgbClr val="DC3513">
              <a:alpha val="3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rgbClr val="009178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D7CB-ADF9-AA32-4367-1D785F08D248}"/>
              </a:ext>
            </a:extLst>
          </p:cNvPr>
          <p:cNvSpPr txBox="1"/>
          <p:nvPr/>
        </p:nvSpPr>
        <p:spPr>
          <a:xfrm>
            <a:off x="3755417" y="2815295"/>
            <a:ext cx="188945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상급종합병원</a:t>
            </a:r>
            <a:br>
              <a:rPr lang="en-US" altLang="ko-KR" sz="12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ko-KR" altLang="en-US" sz="12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암 비급여 통합치료비</a:t>
            </a:r>
            <a:endParaRPr lang="en-US" altLang="ko-KR" sz="1200" dirty="0">
              <a:solidFill>
                <a:srgbClr val="DC3513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endParaRPr lang="en-US" altLang="ko-KR" sz="300" dirty="0">
              <a:solidFill>
                <a:srgbClr val="DC3513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ko-KR" altLang="en-US" sz="14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연간 최대</a:t>
            </a:r>
            <a:r>
              <a:rPr lang="ko-KR" altLang="en-US" sz="16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20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1</a:t>
            </a:r>
            <a:r>
              <a:rPr lang="ko-KR" altLang="en-US" sz="20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억원</a:t>
            </a:r>
            <a:endParaRPr lang="en-US" altLang="ko-KR" sz="1600" dirty="0">
              <a:solidFill>
                <a:srgbClr val="DC3513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C8B50-9167-8C94-872B-E7E527CC3765}"/>
              </a:ext>
            </a:extLst>
          </p:cNvPr>
          <p:cNvSpPr txBox="1"/>
          <p:nvPr/>
        </p:nvSpPr>
        <p:spPr>
          <a:xfrm>
            <a:off x="659177" y="4281216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DC3513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비급여 치료별로 얼마나 받을 수 있을까요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DC3513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?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DC3513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D2FEB697-3DEF-A52B-AC0A-4FB4144DF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036" y="4342493"/>
            <a:ext cx="216000" cy="216000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D2EA1BE-1FB6-54B3-D33D-7D2C469E1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839240"/>
              </p:ext>
            </p:extLst>
          </p:nvPr>
        </p:nvGraphicFramePr>
        <p:xfrm>
          <a:off x="6580284" y="4698143"/>
          <a:ext cx="5146802" cy="14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458">
                  <a:extLst>
                    <a:ext uri="{9D8B030D-6E8A-4147-A177-3AD203B41FA5}">
                      <a16:colId xmlns:a16="http://schemas.microsoft.com/office/drawing/2014/main" val="3089384407"/>
                    </a:ext>
                  </a:extLst>
                </a:gridCol>
                <a:gridCol w="2099672">
                  <a:extLst>
                    <a:ext uri="{9D8B030D-6E8A-4147-A177-3AD203B41FA5}">
                      <a16:colId xmlns:a16="http://schemas.microsoft.com/office/drawing/2014/main" val="220212827"/>
                    </a:ext>
                  </a:extLst>
                </a:gridCol>
                <a:gridCol w="2099672">
                  <a:extLst>
                    <a:ext uri="{9D8B030D-6E8A-4147-A177-3AD203B41FA5}">
                      <a16:colId xmlns:a16="http://schemas.microsoft.com/office/drawing/2014/main" val="362389859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DC3513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DC3513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남성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DC3513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여성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08816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41,976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31,855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9530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60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54,507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32,423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C3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2262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598E66E-109B-26AB-7F86-757363697A82}"/>
              </a:ext>
            </a:extLst>
          </p:cNvPr>
          <p:cNvSpPr txBox="1"/>
          <p:nvPr/>
        </p:nvSpPr>
        <p:spPr>
          <a:xfrm>
            <a:off x="6580284" y="4436533"/>
            <a:ext cx="514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간편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3.10.10(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비갱신형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무해지형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납입면제형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) 20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년납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90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세만기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상해 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급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기본계약 최소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58AAA7-89F3-074E-0A86-BD3B55AF4CC9}"/>
              </a:ext>
            </a:extLst>
          </p:cNvPr>
          <p:cNvSpPr/>
          <p:nvPr/>
        </p:nvSpPr>
        <p:spPr>
          <a:xfrm>
            <a:off x="467926" y="4698143"/>
            <a:ext cx="1821085" cy="1280478"/>
          </a:xfrm>
          <a:prstGeom prst="rect">
            <a:avLst/>
          </a:prstGeom>
          <a:solidFill>
            <a:schemeClr val="bg1"/>
          </a:solidFill>
          <a:ln w="19050">
            <a:solidFill>
              <a:srgbClr val="DC35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다빈치</a:t>
            </a:r>
            <a:r>
              <a:rPr lang="en-US" altLang="ko-KR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300" dirty="0" err="1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레보아이</a:t>
            </a:r>
            <a:endParaRPr lang="en-US" altLang="ko-KR" sz="1300" dirty="0">
              <a:solidFill>
                <a:srgbClr val="DC3513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ko-KR" altLang="en-US" sz="1300" dirty="0" err="1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로봇암수술</a:t>
            </a:r>
            <a:r>
              <a:rPr lang="en-US" altLang="ko-KR" sz="8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800" dirty="0" err="1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특정암</a:t>
            </a:r>
            <a:r>
              <a:rPr lang="ko-KR" altLang="en-US" sz="8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 제외</a:t>
            </a:r>
            <a:r>
              <a:rPr lang="en-US" altLang="ko-KR" sz="8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en-US" altLang="ko-KR" sz="130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endParaRPr lang="en-US" altLang="ko-KR" sz="50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ko-KR" altLang="en-US" sz="10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최대</a:t>
            </a:r>
            <a:r>
              <a:rPr lang="ko-KR" altLang="en-US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6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4,000</a:t>
            </a:r>
            <a:r>
              <a:rPr lang="ko-KR" altLang="en-US" sz="16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만</a:t>
            </a:r>
            <a:br>
              <a:rPr lang="en-US" altLang="ko-KR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en-US" altLang="ko-KR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(2,000</a:t>
            </a:r>
            <a:r>
              <a:rPr lang="ko-KR" altLang="en-US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만 </a:t>
            </a:r>
            <a:r>
              <a:rPr lang="en-US" altLang="ko-KR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+ 2,000</a:t>
            </a:r>
            <a:r>
              <a:rPr lang="ko-KR" altLang="en-US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만</a:t>
            </a:r>
            <a:r>
              <a:rPr lang="en-US" altLang="ko-KR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30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FACC20-F0EE-4C03-9677-FD3CC200F5AC}"/>
              </a:ext>
            </a:extLst>
          </p:cNvPr>
          <p:cNvSpPr/>
          <p:nvPr/>
        </p:nvSpPr>
        <p:spPr>
          <a:xfrm>
            <a:off x="2371420" y="4698143"/>
            <a:ext cx="1821085" cy="1280478"/>
          </a:xfrm>
          <a:prstGeom prst="rect">
            <a:avLst/>
          </a:prstGeom>
          <a:solidFill>
            <a:schemeClr val="bg1"/>
          </a:solidFill>
          <a:ln w="19050">
            <a:solidFill>
              <a:srgbClr val="DC35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표적항암약</a:t>
            </a:r>
            <a:br>
              <a:rPr lang="en-US" altLang="ko-KR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물허가치료</a:t>
            </a:r>
            <a:endParaRPr lang="en-US" altLang="ko-KR" sz="130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endParaRPr lang="en-US" altLang="ko-KR" sz="50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ko-KR" altLang="en-US" sz="10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최대</a:t>
            </a:r>
            <a:r>
              <a:rPr lang="ko-KR" altLang="en-US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6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8,000</a:t>
            </a:r>
            <a:r>
              <a:rPr lang="ko-KR" altLang="en-US" sz="16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만</a:t>
            </a:r>
            <a:br>
              <a:rPr lang="en-US" altLang="ko-KR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en-US" altLang="ko-KR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(2,000</a:t>
            </a:r>
            <a:r>
              <a:rPr lang="ko-KR" altLang="en-US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만 </a:t>
            </a:r>
            <a:r>
              <a:rPr lang="en-US" altLang="ko-KR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+ 6,000</a:t>
            </a:r>
            <a:r>
              <a:rPr lang="ko-KR" altLang="en-US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만</a:t>
            </a:r>
            <a:r>
              <a:rPr lang="en-US" altLang="ko-KR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30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F981639-5365-3403-1556-DD437B35CE5D}"/>
              </a:ext>
            </a:extLst>
          </p:cNvPr>
          <p:cNvSpPr/>
          <p:nvPr/>
        </p:nvSpPr>
        <p:spPr>
          <a:xfrm>
            <a:off x="4274915" y="4700893"/>
            <a:ext cx="1821085" cy="1280478"/>
          </a:xfrm>
          <a:prstGeom prst="rect">
            <a:avLst/>
          </a:prstGeom>
          <a:solidFill>
            <a:schemeClr val="bg1"/>
          </a:solidFill>
          <a:ln w="19050">
            <a:solidFill>
              <a:srgbClr val="DC35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err="1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특정면역항암</a:t>
            </a:r>
            <a:br>
              <a:rPr lang="en-US" altLang="ko-KR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약물허가 치료</a:t>
            </a:r>
            <a:endParaRPr lang="en-US" altLang="ko-KR" sz="130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endParaRPr lang="en-US" altLang="ko-KR" sz="50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ko-KR" altLang="en-US" sz="105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최대</a:t>
            </a:r>
            <a:r>
              <a:rPr lang="ko-KR" altLang="en-US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en-US" altLang="ko-KR" sz="16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14,000</a:t>
            </a:r>
            <a:r>
              <a:rPr lang="ko-KR" altLang="en-US" sz="1600" dirty="0">
                <a:solidFill>
                  <a:srgbClr val="DC3513"/>
                </a:solidFill>
                <a:latin typeface="페이퍼로지 6 SemiBold" pitchFamily="2" charset="-127"/>
                <a:ea typeface="페이퍼로지 6 SemiBold" pitchFamily="2" charset="-127"/>
              </a:rPr>
              <a:t>만</a:t>
            </a:r>
            <a:br>
              <a:rPr lang="en-US" altLang="ko-KR" sz="13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en-US" altLang="ko-KR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(2,000</a:t>
            </a:r>
            <a:r>
              <a:rPr lang="ko-KR" altLang="en-US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만 </a:t>
            </a:r>
            <a:r>
              <a:rPr lang="en-US" altLang="ko-KR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+ 6,000</a:t>
            </a:r>
            <a:r>
              <a:rPr lang="ko-KR" altLang="en-US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만 </a:t>
            </a:r>
            <a:r>
              <a:rPr lang="en-US" altLang="ko-KR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+ 6,000</a:t>
            </a:r>
            <a:r>
              <a:rPr lang="ko-KR" altLang="en-US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만</a:t>
            </a:r>
            <a:r>
              <a:rPr lang="en-US" altLang="ko-KR" sz="900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300" dirty="0">
              <a:solidFill>
                <a:srgbClr val="000000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74256-960B-6FD1-10AD-375A35E00990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474AA0-74F8-33F5-FCC7-2846E76EF92D}"/>
              </a:ext>
            </a:extLst>
          </p:cNvPr>
          <p:cNvSpPr txBox="1"/>
          <p:nvPr/>
        </p:nvSpPr>
        <p:spPr>
          <a:xfrm>
            <a:off x="572650" y="510111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판매플랜</a:t>
            </a:r>
          </a:p>
        </p:txBody>
      </p:sp>
    </p:spTree>
    <p:extLst>
      <p:ext uri="{BB962C8B-B14F-4D97-AF65-F5344CB8AC3E}">
        <p14:creationId xmlns:p14="http://schemas.microsoft.com/office/powerpoint/2010/main" val="4038785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46887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0854A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DB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0854A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생명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간편한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(3·3·5) </a:t>
            </a:r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내가고른건강보험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갱신형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  <p:sp>
        <p:nvSpPr>
          <p:cNvPr id="2" name="사각형: 둥근 모서리 80">
            <a:extLst>
              <a:ext uri="{FF2B5EF4-FFF2-40B4-BE49-F238E27FC236}">
                <a16:creationId xmlns:a16="http://schemas.microsoft.com/office/drawing/2014/main" id="{436C1A3C-7770-9B9B-B85C-4CF74E87EEDB}"/>
              </a:ext>
            </a:extLst>
          </p:cNvPr>
          <p:cNvSpPr/>
          <p:nvPr/>
        </p:nvSpPr>
        <p:spPr>
          <a:xfrm>
            <a:off x="6396203" y="1547521"/>
            <a:ext cx="5520748" cy="48783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사각형: 둥근 위쪽 모서리 91">
            <a:extLst>
              <a:ext uri="{FF2B5EF4-FFF2-40B4-BE49-F238E27FC236}">
                <a16:creationId xmlns:a16="http://schemas.microsoft.com/office/drawing/2014/main" id="{27AC0567-5392-6C84-5C17-EFA1D192A711}"/>
              </a:ext>
            </a:extLst>
          </p:cNvPr>
          <p:cNvSpPr/>
          <p:nvPr/>
        </p:nvSpPr>
        <p:spPr>
          <a:xfrm>
            <a:off x="6396202" y="1225576"/>
            <a:ext cx="5520748" cy="354179"/>
          </a:xfrm>
          <a:prstGeom prst="round2SameRect">
            <a:avLst>
              <a:gd name="adj1" fmla="val 36412"/>
              <a:gd name="adj2" fmla="val 0"/>
            </a:avLst>
          </a:prstGeom>
          <a:solidFill>
            <a:srgbClr val="00854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고령자 혈관질환 플랜</a:t>
            </a:r>
            <a:endParaRPr lang="en-US" altLang="ko-KR" sz="1400" b="1" spc="-12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SemiBold" panose="020B0200000000000000" pitchFamily="34" charset="-128"/>
              <a:ea typeface="Noto Sans KR SemiBold" panose="020B0200000000000000" pitchFamily="34" charset="-128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566766-EC71-65EA-86A7-A1D669F87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37612"/>
              </p:ext>
            </p:extLst>
          </p:nvPr>
        </p:nvGraphicFramePr>
        <p:xfrm>
          <a:off x="462024" y="1225576"/>
          <a:ext cx="532775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750">
                  <a:extLst>
                    <a:ext uri="{9D8B030D-6E8A-4147-A177-3AD203B41FA5}">
                      <a16:colId xmlns:a16="http://schemas.microsoft.com/office/drawing/2014/main" val="4160220971"/>
                    </a:ext>
                  </a:extLst>
                </a:gridCol>
              </a:tblGrid>
              <a:tr h="36065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b="0" dirty="0">
                          <a:solidFill>
                            <a:srgbClr val="DC221E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85</a:t>
                      </a:r>
                      <a:r>
                        <a:rPr lang="ko-KR" altLang="en-US" sz="1800" b="0" dirty="0">
                          <a:solidFill>
                            <a:srgbClr val="DC221E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고령자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유병자도 가입 가능한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pPr algn="l" latinLnBrk="1"/>
                      <a:r>
                        <a:rPr lang="ko-KR" altLang="en-US" sz="1800" b="1" u="sng" dirty="0">
                          <a:solidFill>
                            <a:srgbClr val="00854A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뇌</a:t>
                      </a:r>
                      <a:r>
                        <a:rPr lang="en-US" altLang="ko-KR" sz="1800" b="1" u="sng" dirty="0">
                          <a:solidFill>
                            <a:srgbClr val="00854A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·</a:t>
                      </a:r>
                      <a:r>
                        <a:rPr lang="ko-KR" altLang="en-US" sz="1800" b="1" u="sng" dirty="0">
                          <a:solidFill>
                            <a:srgbClr val="00854A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심 </a:t>
                      </a:r>
                      <a:r>
                        <a:rPr lang="en-US" altLang="ko-KR" sz="1800" b="1" u="sng" dirty="0">
                          <a:solidFill>
                            <a:srgbClr val="00854A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1,000</a:t>
                      </a:r>
                      <a:r>
                        <a:rPr lang="ko-KR" altLang="en-US" sz="1800" b="1" u="sng" dirty="0">
                          <a:solidFill>
                            <a:srgbClr val="00854A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만원 가입 가능 플랜</a:t>
                      </a:r>
                    </a:p>
                  </a:txBody>
                  <a:tcPr marL="137160" marR="137160" marT="137160" marB="137160" anchor="b">
                    <a:lnL w="3810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501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3C30A00-AD5B-4EF8-F5B1-2417F7CEB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887214"/>
              </p:ext>
            </p:extLst>
          </p:nvPr>
        </p:nvGraphicFramePr>
        <p:xfrm>
          <a:off x="6583176" y="1915288"/>
          <a:ext cx="5146801" cy="17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3671551345"/>
                    </a:ext>
                  </a:extLst>
                </a:gridCol>
                <a:gridCol w="1546801">
                  <a:extLst>
                    <a:ext uri="{9D8B030D-6E8A-4147-A177-3AD203B41FA5}">
                      <a16:colId xmlns:a16="http://schemas.microsoft.com/office/drawing/2014/main" val="385652382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담보명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가입금액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7855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주계약</a:t>
                      </a:r>
                      <a:endParaRPr lang="en-US" altLang="ko-KR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Pretendard Light" panose="02000403000000020004" pitchFamily="50" charset="-127"/>
                      </a:endParaRP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36942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뇌혈관질환진단비</a:t>
                      </a:r>
                      <a:r>
                        <a:rPr lang="en-US" altLang="ko-KR" sz="10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계약자적립액 미지급형</a:t>
                      </a:r>
                      <a:r>
                        <a:rPr lang="en-US" altLang="ko-KR" sz="10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Pretendard Light" panose="02000403000000020004" pitchFamily="50" charset="-127"/>
                      </a:endParaRP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천만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5122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허혈성심장질환진단비</a:t>
                      </a:r>
                      <a:r>
                        <a:rPr lang="en-US" altLang="ko-KR" sz="10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계약자적립액 미지급형</a:t>
                      </a:r>
                      <a:r>
                        <a:rPr lang="en-US" altLang="ko-KR" sz="10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  <a:cs typeface="Pretendard Light" panose="02000403000000020004" pitchFamily="50" charset="-127"/>
                      </a:endParaRPr>
                    </a:p>
                  </a:txBody>
                  <a:tcPr marL="9525" marR="9525" marT="9525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천만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29538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32ABAC3B-4B06-B544-0DAB-1B9A5342A8E2}"/>
              </a:ext>
            </a:extLst>
          </p:cNvPr>
          <p:cNvSpPr txBox="1"/>
          <p:nvPr/>
        </p:nvSpPr>
        <p:spPr>
          <a:xfrm>
            <a:off x="656165" y="2233196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854A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고령자에게 어필 가능한 핵심 구성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854A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70" name="그래픽 69">
            <a:extLst>
              <a:ext uri="{FF2B5EF4-FFF2-40B4-BE49-F238E27FC236}">
                <a16:creationId xmlns:a16="http://schemas.microsoft.com/office/drawing/2014/main" id="{687B02C6-1DB4-6185-2BD9-99E1DF854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24" y="2294473"/>
            <a:ext cx="216000" cy="216000"/>
          </a:xfrm>
          <a:prstGeom prst="rect">
            <a:avLst/>
          </a:prstGeom>
        </p:spPr>
      </p:pic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11AF3D3E-4302-69A4-AFF1-04F8EC8C9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223750"/>
              </p:ext>
            </p:extLst>
          </p:nvPr>
        </p:nvGraphicFramePr>
        <p:xfrm>
          <a:off x="6583176" y="4981627"/>
          <a:ext cx="5146800" cy="109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5600">
                  <a:extLst>
                    <a:ext uri="{9D8B030D-6E8A-4147-A177-3AD203B41FA5}">
                      <a16:colId xmlns:a16="http://schemas.microsoft.com/office/drawing/2014/main" val="3089384407"/>
                    </a:ext>
                  </a:extLst>
                </a:gridCol>
                <a:gridCol w="1715600">
                  <a:extLst>
                    <a:ext uri="{9D8B030D-6E8A-4147-A177-3AD203B41FA5}">
                      <a16:colId xmlns:a16="http://schemas.microsoft.com/office/drawing/2014/main" val="220212827"/>
                    </a:ext>
                  </a:extLst>
                </a:gridCol>
                <a:gridCol w="1715600">
                  <a:extLst>
                    <a:ext uri="{9D8B030D-6E8A-4147-A177-3AD203B41FA5}">
                      <a16:colId xmlns:a16="http://schemas.microsoft.com/office/drawing/2014/main" val="362389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3.3.5 </a:t>
                      </a:r>
                      <a:r>
                        <a:rPr lang="ko-KR" altLang="en-US" sz="12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건강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남성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여성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0881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75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35,793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28,818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23288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85</a:t>
                      </a:r>
                      <a:r>
                        <a:rPr lang="ko-KR" altLang="en-US" sz="120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34,227</a:t>
                      </a:r>
                      <a:r>
                        <a:rPr lang="ko-KR" altLang="en-US" sz="120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26,801</a:t>
                      </a:r>
                      <a:r>
                        <a:rPr lang="ko-KR" altLang="en-US" sz="120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DC22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22629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A10E8402-F31B-4E62-56FB-C146FBF3C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275190"/>
              </p:ext>
            </p:extLst>
          </p:nvPr>
        </p:nvGraphicFramePr>
        <p:xfrm>
          <a:off x="462024" y="2987206"/>
          <a:ext cx="5376774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87">
                  <a:extLst>
                    <a:ext uri="{9D8B030D-6E8A-4147-A177-3AD203B41FA5}">
                      <a16:colId xmlns:a16="http://schemas.microsoft.com/office/drawing/2014/main" val="3722797936"/>
                    </a:ext>
                  </a:extLst>
                </a:gridCol>
                <a:gridCol w="2688387">
                  <a:extLst>
                    <a:ext uri="{9D8B030D-6E8A-4147-A177-3AD203B41FA5}">
                      <a16:colId xmlns:a16="http://schemas.microsoft.com/office/drawing/2014/main" val="15529852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가입 가능 연령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u="sng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85</a:t>
                      </a:r>
                      <a:r>
                        <a:rPr lang="ko-KR" altLang="en-US" sz="1600" b="0" u="sng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4966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뇌혈관질환 진단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1,000</a:t>
                      </a:r>
                      <a:r>
                        <a:rPr lang="ko-KR" altLang="en-US" sz="1600" b="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51478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허혈성심장질환</a:t>
                      </a:r>
                      <a:r>
                        <a:rPr lang="ko-KR" altLang="en-US" sz="14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진단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1,000</a:t>
                      </a:r>
                      <a:r>
                        <a:rPr lang="ko-KR" altLang="en-US" sz="1600" b="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91347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유병자도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DC221E"/>
                          </a:solidFill>
                          <a:latin typeface="페이퍼로지 8 ExtraBold" pitchFamily="2" charset="-127"/>
                          <a:ea typeface="페이퍼로지 8 ExtraBold" pitchFamily="2" charset="-127"/>
                        </a:rPr>
                        <a:t>OK!</a:t>
                      </a:r>
                      <a:endParaRPr lang="ko-KR" altLang="en-US" sz="1600" b="0" dirty="0">
                        <a:solidFill>
                          <a:srgbClr val="DC221E"/>
                        </a:solidFill>
                        <a:latin typeface="페이퍼로지 8 ExtraBold" pitchFamily="2" charset="-127"/>
                        <a:ea typeface="페이퍼로지 8 ExtraBold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246709"/>
                  </a:ext>
                </a:extLst>
              </a:tr>
            </a:tbl>
          </a:graphicData>
        </a:graphic>
      </p:graphicFrame>
      <p:sp>
        <p:nvSpPr>
          <p:cNvPr id="22" name="사각형: 둥근 위쪽 모서리 91">
            <a:extLst>
              <a:ext uri="{FF2B5EF4-FFF2-40B4-BE49-F238E27FC236}">
                <a16:creationId xmlns:a16="http://schemas.microsoft.com/office/drawing/2014/main" id="{76F0A04D-9190-97D5-4866-AF33EB5C6BF1}"/>
              </a:ext>
            </a:extLst>
          </p:cNvPr>
          <p:cNvSpPr/>
          <p:nvPr/>
        </p:nvSpPr>
        <p:spPr>
          <a:xfrm>
            <a:off x="462024" y="2633027"/>
            <a:ext cx="5376774" cy="354179"/>
          </a:xfrm>
          <a:prstGeom prst="round2SameRect">
            <a:avLst>
              <a:gd name="adj1" fmla="val 36412"/>
              <a:gd name="adj2" fmla="val 0"/>
            </a:avLst>
          </a:prstGeom>
          <a:solidFill>
            <a:srgbClr val="00854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rgbClr val="FFFF00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뇌</a:t>
            </a:r>
            <a:r>
              <a:rPr lang="en-US" altLang="ko-KR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rgbClr val="FFFF00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·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rgbClr val="FFFF00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심장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 </a:t>
            </a:r>
            <a:r>
              <a:rPr lang="ko-KR" altLang="en-US" sz="1400" b="1" spc="-120" dirty="0" err="1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진단비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 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rgbClr val="FFFF00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핵심 구성</a:t>
            </a:r>
            <a:endParaRPr lang="en-US" altLang="ko-KR" sz="1400" b="1" spc="-12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rgbClr val="FFFF00"/>
              </a:solidFill>
              <a:latin typeface="Noto Sans KR SemiBold" panose="020B0200000000000000" pitchFamily="34" charset="-128"/>
              <a:ea typeface="Noto Sans KR SemiBold" panose="020B0200000000000000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DE8FA-BFBD-F329-9262-8523490EBF56}"/>
              </a:ext>
            </a:extLst>
          </p:cNvPr>
          <p:cNvSpPr txBox="1"/>
          <p:nvPr/>
        </p:nvSpPr>
        <p:spPr>
          <a:xfrm>
            <a:off x="656165" y="4952636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854A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뇌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854A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854A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심 타사 가입 한도는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854A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?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854A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3D7B0E2F-DEC5-27E3-6195-54118B764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24" y="5013913"/>
            <a:ext cx="216000" cy="21600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1E3B695-CDB5-70FD-7C78-634D64F3E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701097"/>
              </p:ext>
            </p:extLst>
          </p:nvPr>
        </p:nvGraphicFramePr>
        <p:xfrm>
          <a:off x="462024" y="5352467"/>
          <a:ext cx="5376775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355">
                  <a:extLst>
                    <a:ext uri="{9D8B030D-6E8A-4147-A177-3AD203B41FA5}">
                      <a16:colId xmlns:a16="http://schemas.microsoft.com/office/drawing/2014/main" val="2006055092"/>
                    </a:ext>
                  </a:extLst>
                </a:gridCol>
                <a:gridCol w="1075355">
                  <a:extLst>
                    <a:ext uri="{9D8B030D-6E8A-4147-A177-3AD203B41FA5}">
                      <a16:colId xmlns:a16="http://schemas.microsoft.com/office/drawing/2014/main" val="164099157"/>
                    </a:ext>
                  </a:extLst>
                </a:gridCol>
                <a:gridCol w="1075355">
                  <a:extLst>
                    <a:ext uri="{9D8B030D-6E8A-4147-A177-3AD203B41FA5}">
                      <a16:colId xmlns:a16="http://schemas.microsoft.com/office/drawing/2014/main" val="3639938628"/>
                    </a:ext>
                  </a:extLst>
                </a:gridCol>
                <a:gridCol w="1075355">
                  <a:extLst>
                    <a:ext uri="{9D8B030D-6E8A-4147-A177-3AD203B41FA5}">
                      <a16:colId xmlns:a16="http://schemas.microsoft.com/office/drawing/2014/main" val="4231342301"/>
                    </a:ext>
                  </a:extLst>
                </a:gridCol>
                <a:gridCol w="1075355">
                  <a:extLst>
                    <a:ext uri="{9D8B030D-6E8A-4147-A177-3AD203B41FA5}">
                      <a16:colId xmlns:a16="http://schemas.microsoft.com/office/drawing/2014/main" val="18358798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DB</a:t>
                      </a:r>
                      <a:r>
                        <a:rPr lang="ko-KR" altLang="en-US" sz="1200" b="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</a:t>
                      </a: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B</a:t>
                      </a:r>
                      <a:r>
                        <a:rPr lang="ko-KR" altLang="en-US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C</a:t>
                      </a:r>
                      <a:r>
                        <a:rPr lang="ko-KR" altLang="en-US" sz="12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손보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9249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00854A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간편심사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DC221E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1,000</a:t>
                      </a:r>
                      <a:r>
                        <a:rPr lang="ko-KR" altLang="en-US" sz="1400" dirty="0">
                          <a:solidFill>
                            <a:srgbClr val="DC221E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730856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A0AFB9-3D7E-7A07-6D47-36A1C7A275AA}"/>
              </a:ext>
            </a:extLst>
          </p:cNvPr>
          <p:cNvSpPr/>
          <p:nvPr/>
        </p:nvSpPr>
        <p:spPr>
          <a:xfrm>
            <a:off x="10067925" y="3854207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85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00854A"/>
                </a:solidFill>
                <a:latin typeface="페이퍼로지 6 SemiBold" pitchFamily="2" charset="-127"/>
                <a:ea typeface="페이퍼로지 6 SemiBold" pitchFamily="2" charset="-127"/>
              </a:rPr>
              <a:t>최저보험료</a:t>
            </a:r>
            <a:endParaRPr lang="en-US" altLang="ko-KR" sz="1300" dirty="0">
              <a:solidFill>
                <a:srgbClr val="00854A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en-US" altLang="ko-KR" sz="1300" dirty="0">
                <a:solidFill>
                  <a:srgbClr val="DC221E"/>
                </a:solidFill>
                <a:latin typeface="페이퍼로지 6 SemiBold" pitchFamily="2" charset="-127"/>
                <a:ea typeface="페이퍼로지 6 SemiBold" pitchFamily="2" charset="-127"/>
              </a:rPr>
              <a:t>2</a:t>
            </a:r>
            <a:r>
              <a:rPr lang="ko-KR" altLang="en-US" sz="1300" dirty="0">
                <a:solidFill>
                  <a:srgbClr val="DC221E"/>
                </a:solidFill>
                <a:latin typeface="페이퍼로지 6 SemiBold" pitchFamily="2" charset="-127"/>
                <a:ea typeface="페이퍼로지 6 SemiBold" pitchFamily="2" charset="-127"/>
              </a:rPr>
              <a:t>만원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AE36DE-CF0D-8AC1-AC78-0C176C44B6CE}"/>
              </a:ext>
            </a:extLst>
          </p:cNvPr>
          <p:cNvSpPr/>
          <p:nvPr/>
        </p:nvSpPr>
        <p:spPr>
          <a:xfrm>
            <a:off x="6596584" y="3854207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85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rgbClr val="00854A"/>
                </a:solidFill>
                <a:latin typeface="페이퍼로지 6 SemiBold" pitchFamily="2" charset="-127"/>
                <a:ea typeface="페이퍼로지 6 SemiBold" pitchFamily="2" charset="-127"/>
              </a:rPr>
              <a:t>10</a:t>
            </a:r>
            <a:r>
              <a:rPr lang="ko-KR" altLang="en-US" sz="1300" dirty="0">
                <a:solidFill>
                  <a:srgbClr val="00854A"/>
                </a:solidFill>
                <a:latin typeface="페이퍼로지 6 SemiBold" pitchFamily="2" charset="-127"/>
                <a:ea typeface="페이퍼로지 6 SemiBold" pitchFamily="2" charset="-127"/>
              </a:rPr>
              <a:t>년 만기</a:t>
            </a:r>
            <a:endParaRPr lang="en-US" altLang="ko-KR" sz="1300" dirty="0">
              <a:solidFill>
                <a:srgbClr val="00854A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ko-KR" altLang="en-US" sz="1300" dirty="0">
                <a:solidFill>
                  <a:srgbClr val="00854A"/>
                </a:solidFill>
                <a:latin typeface="페이퍼로지 6 SemiBold" pitchFamily="2" charset="-127"/>
                <a:ea typeface="페이퍼로지 6 SemiBold" pitchFamily="2" charset="-127"/>
              </a:rPr>
              <a:t>갱신형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442C12-2863-A034-B1E6-8CE5453D2C1C}"/>
              </a:ext>
            </a:extLst>
          </p:cNvPr>
          <p:cNvSpPr/>
          <p:nvPr/>
        </p:nvSpPr>
        <p:spPr>
          <a:xfrm>
            <a:off x="8332254" y="3854207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85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err="1">
                <a:solidFill>
                  <a:srgbClr val="00854A"/>
                </a:solidFill>
                <a:latin typeface="페이퍼로지 6 SemiBold" pitchFamily="2" charset="-127"/>
                <a:ea typeface="페이퍼로지 6 SemiBold" pitchFamily="2" charset="-127"/>
              </a:rPr>
              <a:t>전기납</a:t>
            </a:r>
            <a:endParaRPr lang="en-US" altLang="ko-KR" sz="1300" dirty="0">
              <a:solidFill>
                <a:srgbClr val="00854A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/>
            <a:r>
              <a:rPr lang="en-US" altLang="ko-KR" sz="1300" dirty="0">
                <a:solidFill>
                  <a:srgbClr val="00854A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300" dirty="0">
                <a:solidFill>
                  <a:srgbClr val="00854A"/>
                </a:solidFill>
                <a:latin typeface="페이퍼로지 6 SemiBold" pitchFamily="2" charset="-127"/>
                <a:ea typeface="페이퍼로지 6 SemiBold" pitchFamily="2" charset="-127"/>
              </a:rPr>
              <a:t>최대 </a:t>
            </a:r>
            <a:r>
              <a:rPr lang="en-US" altLang="ko-KR" sz="1300" dirty="0">
                <a:solidFill>
                  <a:srgbClr val="00854A"/>
                </a:solidFill>
                <a:latin typeface="페이퍼로지 6 SemiBold" pitchFamily="2" charset="-127"/>
                <a:ea typeface="페이퍼로지 6 SemiBold" pitchFamily="2" charset="-127"/>
              </a:rPr>
              <a:t>100</a:t>
            </a:r>
            <a:r>
              <a:rPr lang="ko-KR" altLang="en-US" sz="1300" dirty="0">
                <a:solidFill>
                  <a:srgbClr val="00854A"/>
                </a:solidFill>
                <a:latin typeface="페이퍼로지 6 SemiBold" pitchFamily="2" charset="-127"/>
                <a:ea typeface="페이퍼로지 6 SemiBold" pitchFamily="2" charset="-127"/>
              </a:rPr>
              <a:t>세</a:t>
            </a:r>
            <a:r>
              <a:rPr lang="en-US" altLang="ko-KR" sz="1300" dirty="0">
                <a:solidFill>
                  <a:srgbClr val="00854A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300" dirty="0">
              <a:solidFill>
                <a:srgbClr val="00854A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0062D-723D-FD44-3E6B-708269FCF884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5322E-D0BB-0C06-55D4-8991E9B1FE57}"/>
              </a:ext>
            </a:extLst>
          </p:cNvPr>
          <p:cNvSpPr txBox="1"/>
          <p:nvPr/>
        </p:nvSpPr>
        <p:spPr>
          <a:xfrm>
            <a:off x="572650" y="510111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판매플랜</a:t>
            </a:r>
          </a:p>
        </p:txBody>
      </p:sp>
    </p:spTree>
    <p:extLst>
      <p:ext uri="{BB962C8B-B14F-4D97-AF65-F5344CB8AC3E}">
        <p14:creationId xmlns:p14="http://schemas.microsoft.com/office/powerpoint/2010/main" val="2064366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3FEE20D-745E-6DE3-285D-0D9CAA9E9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4" y="2233196"/>
            <a:ext cx="5376774" cy="4002616"/>
          </a:xfrm>
          <a:prstGeom prst="rect">
            <a:avLst/>
          </a:prstGeom>
        </p:spPr>
      </p:pic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374974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03CDC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삼성생명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암 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PASS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플랜 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10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월 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31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일 종료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!</a:t>
            </a:r>
          </a:p>
        </p:txBody>
      </p:sp>
      <p:sp>
        <p:nvSpPr>
          <p:cNvPr id="2" name="사각형: 둥근 모서리 80">
            <a:extLst>
              <a:ext uri="{FF2B5EF4-FFF2-40B4-BE49-F238E27FC236}">
                <a16:creationId xmlns:a16="http://schemas.microsoft.com/office/drawing/2014/main" id="{436C1A3C-7770-9B9B-B85C-4CF74E87EEDB}"/>
              </a:ext>
            </a:extLst>
          </p:cNvPr>
          <p:cNvSpPr/>
          <p:nvPr/>
        </p:nvSpPr>
        <p:spPr>
          <a:xfrm>
            <a:off x="6396203" y="1547521"/>
            <a:ext cx="5520748" cy="48783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사각형: 둥근 위쪽 모서리 91">
            <a:extLst>
              <a:ext uri="{FF2B5EF4-FFF2-40B4-BE49-F238E27FC236}">
                <a16:creationId xmlns:a16="http://schemas.microsoft.com/office/drawing/2014/main" id="{27AC0567-5392-6C84-5C17-EFA1D192A711}"/>
              </a:ext>
            </a:extLst>
          </p:cNvPr>
          <p:cNvSpPr/>
          <p:nvPr/>
        </p:nvSpPr>
        <p:spPr>
          <a:xfrm>
            <a:off x="6396202" y="1225576"/>
            <a:ext cx="5520748" cy="354179"/>
          </a:xfrm>
          <a:prstGeom prst="round2SameRect">
            <a:avLst>
              <a:gd name="adj1" fmla="val 36412"/>
              <a:gd name="adj2" fmla="val 0"/>
            </a:avLst>
          </a:prstGeom>
          <a:solidFill>
            <a:srgbClr val="003CDC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아파도 암 하나만큼은 제대로 준비하자</a:t>
            </a:r>
            <a:r>
              <a:rPr lang="en-US" altLang="ko-KR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!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566766-EC71-65EA-86A7-A1D669F87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228676"/>
              </p:ext>
            </p:extLst>
          </p:nvPr>
        </p:nvGraphicFramePr>
        <p:xfrm>
          <a:off x="462024" y="1225576"/>
          <a:ext cx="532775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750">
                  <a:extLst>
                    <a:ext uri="{9D8B030D-6E8A-4147-A177-3AD203B41FA5}">
                      <a16:colId xmlns:a16="http://schemas.microsoft.com/office/drawing/2014/main" val="4160220971"/>
                    </a:ext>
                  </a:extLst>
                </a:gridCol>
              </a:tblGrid>
              <a:tr h="36065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뇌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심혈관 병력 때문에 </a:t>
                      </a:r>
                      <a:r>
                        <a:rPr lang="ko-KR" altLang="en-US" sz="1800" b="0" dirty="0" err="1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암보험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가입을 포기했다면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?</a:t>
                      </a:r>
                    </a:p>
                    <a:p>
                      <a:pPr algn="l" latinLnBrk="1"/>
                      <a:r>
                        <a:rPr lang="ko-KR" altLang="en-US" sz="1800" b="1" u="sng" dirty="0">
                          <a:solidFill>
                            <a:srgbClr val="003CDC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삼성생명 암</a:t>
                      </a:r>
                      <a:r>
                        <a:rPr lang="en-US" altLang="ko-KR" sz="1800" b="1" u="sng" dirty="0">
                          <a:solidFill>
                            <a:srgbClr val="003CDC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 PASS </a:t>
                      </a:r>
                      <a:r>
                        <a:rPr lang="ko-KR" altLang="en-US" sz="1800" b="1" u="sng" dirty="0">
                          <a:solidFill>
                            <a:srgbClr val="003CDC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플랜</a:t>
                      </a:r>
                      <a:r>
                        <a:rPr lang="en-US" altLang="ko-KR" sz="1800" b="1" u="sng" dirty="0">
                          <a:solidFill>
                            <a:srgbClr val="003CDC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!</a:t>
                      </a:r>
                      <a:endParaRPr lang="ko-KR" altLang="en-US" sz="1800" b="1" u="sng" dirty="0">
                        <a:solidFill>
                          <a:srgbClr val="003CDC"/>
                        </a:solidFill>
                        <a:latin typeface="페이퍼로지 9 Black" pitchFamily="2" charset="-127"/>
                        <a:ea typeface="페이퍼로지 9 Black" pitchFamily="2" charset="-127"/>
                      </a:endParaRPr>
                    </a:p>
                  </a:txBody>
                  <a:tcPr marL="137160" marR="137160" marT="137160" marB="137160" anchor="b">
                    <a:lnL w="3810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5017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32ABAC3B-4B06-B544-0DAB-1B9A5342A8E2}"/>
              </a:ext>
            </a:extLst>
          </p:cNvPr>
          <p:cNvSpPr txBox="1"/>
          <p:nvPr/>
        </p:nvSpPr>
        <p:spPr>
          <a:xfrm>
            <a:off x="656165" y="2233196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2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6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개월 전 병력이 있어도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? 3.10.5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로 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OK!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3CDC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70" name="그래픽 69">
            <a:extLst>
              <a:ext uri="{FF2B5EF4-FFF2-40B4-BE49-F238E27FC236}">
                <a16:creationId xmlns:a16="http://schemas.microsoft.com/office/drawing/2014/main" id="{687B02C6-1DB4-6185-2BD9-99E1DF854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24" y="2294473"/>
            <a:ext cx="216000" cy="21600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C078068-F8FD-9913-F128-6DEEA4C68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06193"/>
              </p:ext>
            </p:extLst>
          </p:nvPr>
        </p:nvGraphicFramePr>
        <p:xfrm>
          <a:off x="6583175" y="1778546"/>
          <a:ext cx="5146801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3671551345"/>
                    </a:ext>
                  </a:extLst>
                </a:gridCol>
                <a:gridCol w="1546801">
                  <a:extLst>
                    <a:ext uri="{9D8B030D-6E8A-4147-A177-3AD203B41FA5}">
                      <a16:colId xmlns:a16="http://schemas.microsoft.com/office/drawing/2014/main" val="385652382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 err="1">
                          <a:solidFill>
                            <a:srgbClr val="003CDC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담보명</a:t>
                      </a:r>
                      <a:endParaRPr lang="ko-KR" altLang="en-US" sz="1150" b="0" dirty="0">
                        <a:solidFill>
                          <a:srgbClr val="003CDC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003CDC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가입금액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7855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암진단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소액질병보장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3,000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 600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36942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① 암직접치료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②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갑기암직접치료</a:t>
                      </a:r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1,000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/ 200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51221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③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초기집중보장프리미엄클래스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암주요치료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1,000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8420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④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초기집중보장프리미엄클래스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갑기암주요치료</a:t>
                      </a:r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12164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⑤ </a:t>
                      </a:r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프리미엄클래스암특정치료</a:t>
                      </a:r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2,000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66648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E7C06FD-1676-0EF8-171C-01ECF1CD2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453035"/>
              </p:ext>
            </p:extLst>
          </p:nvPr>
        </p:nvGraphicFramePr>
        <p:xfrm>
          <a:off x="6583174" y="5076260"/>
          <a:ext cx="5146802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458">
                  <a:extLst>
                    <a:ext uri="{9D8B030D-6E8A-4147-A177-3AD203B41FA5}">
                      <a16:colId xmlns:a16="http://schemas.microsoft.com/office/drawing/2014/main" val="3089384407"/>
                    </a:ext>
                  </a:extLst>
                </a:gridCol>
                <a:gridCol w="2099672">
                  <a:extLst>
                    <a:ext uri="{9D8B030D-6E8A-4147-A177-3AD203B41FA5}">
                      <a16:colId xmlns:a16="http://schemas.microsoft.com/office/drawing/2014/main" val="220212827"/>
                    </a:ext>
                  </a:extLst>
                </a:gridCol>
                <a:gridCol w="2099672">
                  <a:extLst>
                    <a:ext uri="{9D8B030D-6E8A-4147-A177-3AD203B41FA5}">
                      <a16:colId xmlns:a16="http://schemas.microsoft.com/office/drawing/2014/main" val="362389859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003CDC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b="0" dirty="0">
                          <a:solidFill>
                            <a:srgbClr val="003CDC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50</a:t>
                      </a:r>
                      <a:r>
                        <a:rPr lang="ko-KR" altLang="en-US" sz="1150" b="0" dirty="0">
                          <a:solidFill>
                            <a:srgbClr val="003CDC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b="0" dirty="0">
                          <a:solidFill>
                            <a:srgbClr val="003CDC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60</a:t>
                      </a:r>
                      <a:r>
                        <a:rPr lang="ko-KR" altLang="en-US" sz="1150" b="0" dirty="0">
                          <a:solidFill>
                            <a:srgbClr val="003CDC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08816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남성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136,612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185,314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953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여성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91,704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95,558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226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480EF33-9C42-2303-4846-5CE37751F79C}"/>
              </a:ext>
            </a:extLst>
          </p:cNvPr>
          <p:cNvSpPr txBox="1"/>
          <p:nvPr/>
        </p:nvSpPr>
        <p:spPr>
          <a:xfrm>
            <a:off x="6583174" y="4814650"/>
            <a:ext cx="514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인생대표건강보험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3.10.5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고지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20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년납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100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세만기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주보험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300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만 포함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BF26BA-FA48-3C8E-D2EF-C0DA2A36607B}"/>
              </a:ext>
            </a:extLst>
          </p:cNvPr>
          <p:cNvSpPr txBox="1"/>
          <p:nvPr/>
        </p:nvSpPr>
        <p:spPr>
          <a:xfrm>
            <a:off x="6583175" y="4234504"/>
            <a:ext cx="5146801" cy="523220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일반암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진단시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 → ①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③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⑤ 특약 납입면제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!</a:t>
            </a:r>
          </a:p>
          <a:p>
            <a:pPr algn="ctr"/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갑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기암 </a:t>
            </a:r>
            <a:r>
              <a:rPr lang="ko-KR" altLang="en-US" sz="1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진단시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 → ②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④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⑤ 특약 납입면제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CDC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78B37-BCEB-4590-B981-5B529A4C199C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06DB0D-8046-478D-DDB6-2EA512BECC2E}"/>
              </a:ext>
            </a:extLst>
          </p:cNvPr>
          <p:cNvSpPr txBox="1"/>
          <p:nvPr/>
        </p:nvSpPr>
        <p:spPr>
          <a:xfrm>
            <a:off x="572650" y="510111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판매플랜</a:t>
            </a:r>
          </a:p>
        </p:txBody>
      </p:sp>
    </p:spTree>
    <p:extLst>
      <p:ext uri="{BB962C8B-B14F-4D97-AF65-F5344CB8AC3E}">
        <p14:creationId xmlns:p14="http://schemas.microsoft.com/office/powerpoint/2010/main" val="1041033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353237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라이나생명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0854A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17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통합신생물수술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특약 출시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" name="사각형: 둥근 모서리 80">
            <a:extLst>
              <a:ext uri="{FF2B5EF4-FFF2-40B4-BE49-F238E27FC236}">
                <a16:creationId xmlns:a16="http://schemas.microsoft.com/office/drawing/2014/main" id="{436C1A3C-7770-9B9B-B85C-4CF74E87EEDB}"/>
              </a:ext>
            </a:extLst>
          </p:cNvPr>
          <p:cNvSpPr/>
          <p:nvPr/>
        </p:nvSpPr>
        <p:spPr>
          <a:xfrm>
            <a:off x="6396203" y="1547521"/>
            <a:ext cx="5520748" cy="48783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사각형: 둥근 위쪽 모서리 91">
            <a:extLst>
              <a:ext uri="{FF2B5EF4-FFF2-40B4-BE49-F238E27FC236}">
                <a16:creationId xmlns:a16="http://schemas.microsoft.com/office/drawing/2014/main" id="{27AC0567-5392-6C84-5C17-EFA1D192A711}"/>
              </a:ext>
            </a:extLst>
          </p:cNvPr>
          <p:cNvSpPr/>
          <p:nvPr/>
        </p:nvSpPr>
        <p:spPr>
          <a:xfrm>
            <a:off x="6396202" y="1225576"/>
            <a:ext cx="5520748" cy="354179"/>
          </a:xfrm>
          <a:prstGeom prst="round2SameRect">
            <a:avLst>
              <a:gd name="adj1" fmla="val 36412"/>
              <a:gd name="adj2" fmla="val 0"/>
            </a:avLst>
          </a:prstGeom>
          <a:solidFill>
            <a:srgbClr val="100A9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 err="1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신생물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 </a:t>
            </a:r>
            <a:r>
              <a:rPr lang="en-US" altLang="ko-KR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2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배 플랜</a:t>
            </a:r>
            <a:endParaRPr lang="en-US" altLang="ko-KR" sz="1400" b="1" spc="-12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SemiBold" panose="020B0200000000000000" pitchFamily="34" charset="-128"/>
              <a:ea typeface="Noto Sans KR SemiBold" panose="020B0200000000000000" pitchFamily="34" charset="-128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566766-EC71-65EA-86A7-A1D669F87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721166"/>
              </p:ext>
            </p:extLst>
          </p:nvPr>
        </p:nvGraphicFramePr>
        <p:xfrm>
          <a:off x="462024" y="1225576"/>
          <a:ext cx="532775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750">
                  <a:extLst>
                    <a:ext uri="{9D8B030D-6E8A-4147-A177-3AD203B41FA5}">
                      <a16:colId xmlns:a16="http://schemas.microsoft.com/office/drawing/2014/main" val="4160220971"/>
                    </a:ext>
                  </a:extLst>
                </a:gridCol>
              </a:tblGrid>
              <a:tr h="36065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양성종양부터 </a:t>
                      </a:r>
                      <a:r>
                        <a:rPr lang="ko-KR" altLang="en-US" sz="1800" b="0" dirty="0" err="1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경계성종양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, 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제자리암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, 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악성종양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암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까지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pPr algn="l" latinLnBrk="1"/>
                      <a:r>
                        <a:rPr lang="ko-KR" altLang="en-US" sz="1800" b="1" u="sng" dirty="0">
                          <a:solidFill>
                            <a:srgbClr val="100A9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신체 부위 별 </a:t>
                      </a:r>
                      <a:r>
                        <a:rPr lang="ko-KR" altLang="en-US" sz="1800" b="1" u="sng" dirty="0" err="1">
                          <a:solidFill>
                            <a:srgbClr val="100A9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통합신생물</a:t>
                      </a:r>
                      <a:r>
                        <a:rPr lang="ko-KR" altLang="en-US" sz="1800" b="1" u="sng" dirty="0">
                          <a:solidFill>
                            <a:srgbClr val="100A9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 수술비</a:t>
                      </a:r>
                      <a:r>
                        <a:rPr lang="en-US" altLang="ko-KR" sz="1800" b="1" u="sng" dirty="0">
                          <a:solidFill>
                            <a:srgbClr val="100A9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 </a:t>
                      </a:r>
                      <a:r>
                        <a:rPr lang="ko-KR" altLang="en-US" sz="1800" b="1" u="sng" dirty="0">
                          <a:solidFill>
                            <a:srgbClr val="100A9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연간 최대 </a:t>
                      </a:r>
                      <a:r>
                        <a:rPr lang="en-US" altLang="ko-KR" sz="1800" b="1" u="sng" dirty="0">
                          <a:solidFill>
                            <a:srgbClr val="100A9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9</a:t>
                      </a:r>
                      <a:r>
                        <a:rPr lang="ko-KR" altLang="en-US" sz="1800" b="1" u="sng" dirty="0">
                          <a:solidFill>
                            <a:srgbClr val="100A94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회</a:t>
                      </a:r>
                    </a:p>
                  </a:txBody>
                  <a:tcPr marL="137160" marR="137160" marT="137160" marB="137160" anchor="b">
                    <a:lnL w="3810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5017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32ABAC3B-4B06-B544-0DAB-1B9A5342A8E2}"/>
              </a:ext>
            </a:extLst>
          </p:cNvPr>
          <p:cNvSpPr txBox="1"/>
          <p:nvPr/>
        </p:nvSpPr>
        <p:spPr>
          <a:xfrm>
            <a:off x="656165" y="2233196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0A94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통합신생물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00A94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 보장범위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100A94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70" name="그래픽 69">
            <a:extLst>
              <a:ext uri="{FF2B5EF4-FFF2-40B4-BE49-F238E27FC236}">
                <a16:creationId xmlns:a16="http://schemas.microsoft.com/office/drawing/2014/main" id="{687B02C6-1DB4-6185-2BD9-99E1DF854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24" y="2294473"/>
            <a:ext cx="216000" cy="216000"/>
          </a:xfrm>
          <a:prstGeom prst="rect">
            <a:avLst/>
          </a:prstGeom>
        </p:spPr>
      </p:pic>
      <p:sp>
        <p:nvSpPr>
          <p:cNvPr id="64" name="직사각형 63">
            <a:extLst>
              <a:ext uri="{FF2B5EF4-FFF2-40B4-BE49-F238E27FC236}">
                <a16:creationId xmlns:a16="http://schemas.microsoft.com/office/drawing/2014/main" id="{00DBBD6F-6443-E6BD-B920-EDDCA82847D6}"/>
              </a:ext>
            </a:extLst>
          </p:cNvPr>
          <p:cNvSpPr/>
          <p:nvPr/>
        </p:nvSpPr>
        <p:spPr>
          <a:xfrm>
            <a:off x="884289" y="2633027"/>
            <a:ext cx="2122558" cy="863626"/>
          </a:xfrm>
          <a:prstGeom prst="rect">
            <a:avLst/>
          </a:prstGeom>
          <a:solidFill>
            <a:schemeClr val="bg1"/>
          </a:solidFill>
          <a:ln w="25400">
            <a:solidFill>
              <a:srgbClr val="100A94"/>
            </a:solidFill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kumimoji="1" lang="ko-KR" altLang="en-US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양성종양</a:t>
            </a:r>
          </a:p>
          <a:p>
            <a:pPr algn="ctr"/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대장용종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자궁근종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갑상선양성결절 등</a:t>
            </a:r>
          </a:p>
          <a:p>
            <a:pPr algn="ctr"/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질병코드 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D10~D36)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A32EE5B-FC36-B4D2-17DF-13DE22BC5FE6}"/>
              </a:ext>
            </a:extLst>
          </p:cNvPr>
          <p:cNvSpPr/>
          <p:nvPr/>
        </p:nvSpPr>
        <p:spPr>
          <a:xfrm>
            <a:off x="3429113" y="2633027"/>
            <a:ext cx="2122558" cy="863626"/>
          </a:xfrm>
          <a:prstGeom prst="rect">
            <a:avLst/>
          </a:prstGeom>
          <a:solidFill>
            <a:schemeClr val="bg1"/>
          </a:solidFill>
          <a:ln w="25400">
            <a:solidFill>
              <a:srgbClr val="100A94"/>
            </a:solidFill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kumimoji="1" lang="ko-KR" altLang="en-US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경계성종양</a:t>
            </a:r>
            <a:endParaRPr kumimoji="1" lang="en-US" altLang="ko-KR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100A94"/>
              </a:solidFill>
              <a:latin typeface="Gmarket Sans TTF Bold" panose="02000000000000000000" pitchFamily="2" charset="-127"/>
              <a:ea typeface="Gmarket Sans TTF Bold" panose="02000000000000000000" pitchFamily="2" charset="-127"/>
            </a:endParaRPr>
          </a:p>
          <a:p>
            <a:pPr algn="ctr"/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난소경계성종양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대장 </a:t>
            </a:r>
            <a:r>
              <a:rPr kumimoji="1" lang="ko-KR" altLang="en-US" sz="10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경계성종양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등 </a:t>
            </a:r>
          </a:p>
          <a:p>
            <a:pPr algn="ctr"/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질병코드 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D37~D48 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중 일부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9AE5F34-C7A1-93C8-43BC-A2A409C4B3E9}"/>
              </a:ext>
            </a:extLst>
          </p:cNvPr>
          <p:cNvSpPr/>
          <p:nvPr/>
        </p:nvSpPr>
        <p:spPr>
          <a:xfrm>
            <a:off x="884289" y="3690496"/>
            <a:ext cx="2122558" cy="863626"/>
          </a:xfrm>
          <a:prstGeom prst="rect">
            <a:avLst/>
          </a:prstGeom>
          <a:solidFill>
            <a:schemeClr val="bg1"/>
          </a:solidFill>
          <a:ln w="25400">
            <a:solidFill>
              <a:srgbClr val="100A94"/>
            </a:solidFill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kumimoji="1" lang="ko-KR" altLang="en-US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제자리암</a:t>
            </a:r>
          </a:p>
          <a:p>
            <a:pPr algn="ctr"/>
            <a:r>
              <a:rPr kumimoji="1" lang="ko-KR" altLang="en-US" sz="10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유방제자리암종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kumimoji="1" lang="ko-KR" altLang="en-US" sz="1000" spc="-80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자궁제자리암종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등</a:t>
            </a:r>
          </a:p>
          <a:p>
            <a:pPr algn="ctr"/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질병코드 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D00~D09)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89BE832-1A92-E882-45D1-9D91B89600BC}"/>
              </a:ext>
            </a:extLst>
          </p:cNvPr>
          <p:cNvSpPr/>
          <p:nvPr/>
        </p:nvSpPr>
        <p:spPr>
          <a:xfrm>
            <a:off x="3429113" y="3690496"/>
            <a:ext cx="2122558" cy="863626"/>
          </a:xfrm>
          <a:prstGeom prst="rect">
            <a:avLst/>
          </a:prstGeom>
          <a:solidFill>
            <a:schemeClr val="bg1"/>
          </a:solidFill>
          <a:ln w="25400">
            <a:solidFill>
              <a:srgbClr val="100A94"/>
            </a:solidFill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kumimoji="1" lang="ko-KR" altLang="en-US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악성종양</a:t>
            </a:r>
            <a:r>
              <a:rPr kumimoji="1" lang="en-US" altLang="ko-KR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(</a:t>
            </a:r>
            <a:r>
              <a:rPr kumimoji="1" lang="ko-KR" altLang="en-US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암</a:t>
            </a:r>
            <a:r>
              <a:rPr kumimoji="1" lang="en-US" altLang="ko-KR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Bold" panose="02000000000000000000" pitchFamily="2" charset="-127"/>
                <a:ea typeface="Gmarket Sans TTF Bold" panose="02000000000000000000" pitchFamily="2" charset="-127"/>
              </a:rPr>
              <a:t>)</a:t>
            </a:r>
          </a:p>
          <a:p>
            <a:pPr algn="ctr"/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폐암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위암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간암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대장암 등</a:t>
            </a:r>
          </a:p>
          <a:p>
            <a:pPr algn="ctr"/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질병코드 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C00~C97 </a:t>
            </a:r>
            <a:r>
              <a:rPr kumimoji="1" lang="ko-KR" altLang="en-US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중 일부</a:t>
            </a:r>
            <a:r>
              <a:rPr kumimoji="1" lang="en-US" altLang="ko-KR" sz="10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100A94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0FE177E5-3386-C734-7933-352D83032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04042"/>
              </p:ext>
            </p:extLst>
          </p:nvPr>
        </p:nvGraphicFramePr>
        <p:xfrm>
          <a:off x="6583175" y="1778546"/>
          <a:ext cx="5146801" cy="29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3671551345"/>
                    </a:ext>
                  </a:extLst>
                </a:gridCol>
                <a:gridCol w="1546801">
                  <a:extLst>
                    <a:ext uri="{9D8B030D-6E8A-4147-A177-3AD203B41FA5}">
                      <a16:colId xmlns:a16="http://schemas.microsoft.com/office/drawing/2014/main" val="385652382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 err="1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담보명</a:t>
                      </a:r>
                      <a:endParaRPr lang="ko-KR" altLang="en-US" sz="1150" b="0" dirty="0">
                        <a:solidFill>
                          <a:srgbClr val="100A94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가입금액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785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주계약</a:t>
                      </a:r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36942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통합신생물수술특약</a:t>
                      </a:r>
                      <a:r>
                        <a:rPr lang="ko-KR" altLang="en-US" sz="120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</a:t>
                      </a:r>
                      <a:br>
                        <a:rPr lang="en-US" altLang="ko-KR" sz="120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</a:br>
                      <a:r>
                        <a:rPr lang="en-US" altLang="ko-KR" sz="900" u="sng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(2,000</a:t>
                      </a:r>
                      <a:r>
                        <a:rPr lang="ko-KR" altLang="en-US" sz="900" u="sng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만 가입시 </a:t>
                      </a:r>
                      <a:r>
                        <a:rPr lang="ko-KR" altLang="en-US" sz="900" u="sng" dirty="0" err="1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통합제경</a:t>
                      </a:r>
                      <a:r>
                        <a:rPr lang="ko-KR" altLang="en-US" sz="900" u="sng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부가 필수</a:t>
                      </a:r>
                      <a:r>
                        <a:rPr lang="en-US" altLang="ko-KR" sz="900" u="sng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200" u="sng" dirty="0">
                        <a:solidFill>
                          <a:srgbClr val="FF0000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A94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2,000</a:t>
                      </a:r>
                      <a:r>
                        <a:rPr lang="ko-KR" altLang="en-US" sz="120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A94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51221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통합제경수술특약</a:t>
                      </a:r>
                      <a:endParaRPr lang="ko-KR" altLang="en-US" sz="1200" dirty="0">
                        <a:solidFill>
                          <a:srgbClr val="100A94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A94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2,000</a:t>
                      </a:r>
                      <a:r>
                        <a:rPr lang="ko-KR" altLang="en-US" sz="120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0A94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842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질병수술특약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002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수술특약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1,000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12164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수술특약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연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회한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1,000</a:t>
                      </a:r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666489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B13BB487-2FE7-82FD-29C6-E2C2129CA17E}"/>
              </a:ext>
            </a:extLst>
          </p:cNvPr>
          <p:cNvSpPr txBox="1"/>
          <p:nvPr/>
        </p:nvSpPr>
        <p:spPr>
          <a:xfrm>
            <a:off x="462024" y="4945455"/>
            <a:ext cx="5376774" cy="126188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i="1" dirty="0">
                <a:ln>
                  <a:solidFill>
                    <a:srgbClr val="100A94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신규 담보 출시 맞이</a:t>
            </a:r>
            <a:r>
              <a:rPr lang="en-US" altLang="ko-KR" sz="2800" b="1" i="1" dirty="0">
                <a:ln>
                  <a:solidFill>
                    <a:srgbClr val="100A94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2800" b="1" i="1" dirty="0">
                <a:ln>
                  <a:solidFill>
                    <a:srgbClr val="100A94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한시적 상향</a:t>
            </a:r>
            <a:r>
              <a:rPr lang="en-US" altLang="ko-KR" sz="2800" b="1" i="1" dirty="0">
                <a:ln>
                  <a:solidFill>
                    <a:srgbClr val="100A94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!</a:t>
            </a:r>
            <a:br>
              <a:rPr lang="en-US" altLang="ko-KR" sz="2800" b="1" i="1" dirty="0">
                <a:ln>
                  <a:solidFill>
                    <a:srgbClr val="100A94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</a:br>
            <a:r>
              <a:rPr lang="ko-KR" altLang="en-US" sz="2800" b="1" i="1" u="sng" dirty="0">
                <a:ln>
                  <a:solidFill>
                    <a:srgbClr val="100A94"/>
                  </a:solidFill>
                </a:ln>
                <a:solidFill>
                  <a:srgbClr val="100A94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최대 </a:t>
            </a:r>
            <a:r>
              <a:rPr lang="en-US" altLang="ko-KR" sz="2800" b="1" i="1" u="sng" dirty="0">
                <a:ln>
                  <a:solidFill>
                    <a:srgbClr val="100A94"/>
                  </a:solidFill>
                </a:ln>
                <a:solidFill>
                  <a:srgbClr val="100A94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2,000</a:t>
            </a:r>
            <a:r>
              <a:rPr lang="ko-KR" altLang="en-US" sz="2800" b="1" i="1" u="sng" dirty="0">
                <a:ln>
                  <a:solidFill>
                    <a:srgbClr val="100A94"/>
                  </a:solidFill>
                </a:ln>
                <a:solidFill>
                  <a:srgbClr val="100A94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만 </a:t>
            </a:r>
            <a:r>
              <a:rPr lang="ko-KR" altLang="en-US" sz="2800" b="1" i="1" dirty="0">
                <a:ln>
                  <a:solidFill>
                    <a:srgbClr val="100A94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가입 가능</a:t>
            </a:r>
            <a:br>
              <a:rPr lang="en-US" altLang="ko-KR" sz="2800" b="1" i="1" dirty="0">
                <a:ln>
                  <a:solidFill>
                    <a:srgbClr val="100A94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</a:br>
            <a:r>
              <a:rPr lang="en-US" altLang="ko-KR" sz="2000" b="1" i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(10</a:t>
            </a:r>
            <a:r>
              <a:rPr lang="ko-KR" altLang="en-US" sz="2000" b="1" i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월 </a:t>
            </a:r>
            <a:r>
              <a:rPr lang="en-US" altLang="ko-KR" sz="2000" b="1" i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31</a:t>
            </a:r>
            <a:r>
              <a:rPr lang="ko-KR" altLang="en-US" sz="2000" b="1" i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일까지</a:t>
            </a:r>
            <a:r>
              <a:rPr lang="en-US" altLang="ko-KR" sz="2000" b="1" i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)</a:t>
            </a:r>
            <a:endParaRPr lang="ko-KR" altLang="en-US" sz="1600" b="1" i="1" dirty="0">
              <a:ln>
                <a:solidFill>
                  <a:srgbClr val="FF0000"/>
                </a:solidFill>
              </a:ln>
              <a:solidFill>
                <a:srgbClr val="FF0000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52022CD-197A-0CAD-20B4-BD17D056F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943264"/>
              </p:ext>
            </p:extLst>
          </p:nvPr>
        </p:nvGraphicFramePr>
        <p:xfrm>
          <a:off x="6583174" y="5076260"/>
          <a:ext cx="5146802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458">
                  <a:extLst>
                    <a:ext uri="{9D8B030D-6E8A-4147-A177-3AD203B41FA5}">
                      <a16:colId xmlns:a16="http://schemas.microsoft.com/office/drawing/2014/main" val="3089384407"/>
                    </a:ext>
                  </a:extLst>
                </a:gridCol>
                <a:gridCol w="2099672">
                  <a:extLst>
                    <a:ext uri="{9D8B030D-6E8A-4147-A177-3AD203B41FA5}">
                      <a16:colId xmlns:a16="http://schemas.microsoft.com/office/drawing/2014/main" val="220212827"/>
                    </a:ext>
                  </a:extLst>
                </a:gridCol>
                <a:gridCol w="2099672">
                  <a:extLst>
                    <a:ext uri="{9D8B030D-6E8A-4147-A177-3AD203B41FA5}">
                      <a16:colId xmlns:a16="http://schemas.microsoft.com/office/drawing/2014/main" val="36238985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b="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40</a:t>
                      </a:r>
                      <a:r>
                        <a:rPr lang="ko-KR" altLang="en-US" sz="1150" b="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b="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50</a:t>
                      </a:r>
                      <a:r>
                        <a:rPr lang="ko-KR" altLang="en-US" sz="1150" b="0" dirty="0">
                          <a:solidFill>
                            <a:srgbClr val="100A94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08816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남성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79,044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84,854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953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여성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85,204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84,241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0A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22629"/>
                  </a:ext>
                </a:extLst>
              </a:tr>
            </a:tbl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CC3EDDD6-7D3C-4CF1-6841-E5A8ECB97828}"/>
              </a:ext>
            </a:extLst>
          </p:cNvPr>
          <p:cNvSpPr txBox="1"/>
          <p:nvPr/>
        </p:nvSpPr>
        <p:spPr>
          <a:xfrm>
            <a:off x="6583174" y="4814650"/>
            <a:ext cx="514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새로담는간편건강보험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3.10.5.5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고지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20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년납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100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세만기</a:t>
            </a:r>
            <a:endParaRPr lang="ko-KR" altLang="en-US" sz="1100" spc="-8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127F3-8241-E91B-DABA-5A373F38418E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F4335-C9AA-5078-356D-EE52D8ADAB67}"/>
              </a:ext>
            </a:extLst>
          </p:cNvPr>
          <p:cNvSpPr txBox="1"/>
          <p:nvPr/>
        </p:nvSpPr>
        <p:spPr>
          <a:xfrm>
            <a:off x="572650" y="510111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판매플랜</a:t>
            </a:r>
          </a:p>
        </p:txBody>
      </p:sp>
    </p:spTree>
    <p:extLst>
      <p:ext uri="{BB962C8B-B14F-4D97-AF65-F5344CB8AC3E}">
        <p14:creationId xmlns:p14="http://schemas.microsoft.com/office/powerpoint/2010/main" val="3663884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클립아트, 그림, 만화 영화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B1157CC-8B2D-DE16-9291-36CEBE510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912" y="1418536"/>
            <a:ext cx="871987" cy="1260000"/>
          </a:xfrm>
          <a:prstGeom prst="rect">
            <a:avLst/>
          </a:prstGeom>
        </p:spPr>
      </p:pic>
      <p:cxnSp>
        <p:nvCxnSpPr>
          <p:cNvPr id="12" name="직선 연결선[R] 7">
            <a:extLst>
              <a:ext uri="{FF2B5EF4-FFF2-40B4-BE49-F238E27FC236}">
                <a16:creationId xmlns:a16="http://schemas.microsoft.com/office/drawing/2014/main" id="{333B8C27-19AA-4348-BC56-62791FB8179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6">
            <a:extLst>
              <a:ext uri="{FF2B5EF4-FFF2-40B4-BE49-F238E27FC236}">
                <a16:creationId xmlns:a16="http://schemas.microsoft.com/office/drawing/2014/main" id="{D82F0BA2-CEAB-4746-9858-FA7C989F168E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FADECF-996B-4314-95A2-E5695770ACA8}"/>
              </a:ext>
            </a:extLst>
          </p:cNvPr>
          <p:cNvSpPr txBox="1"/>
          <p:nvPr/>
        </p:nvSpPr>
        <p:spPr>
          <a:xfrm>
            <a:off x="3569850" y="560911"/>
            <a:ext cx="373211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009178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하나생명</a:t>
            </a:r>
            <a:r>
              <a:rPr kumimoji="1" lang="ko-KR" altLang="en-US" sz="1700" spc="-8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하나로 보장받는 주요치료플랜</a:t>
            </a:r>
            <a:endParaRPr kumimoji="1" lang="en-US" altLang="ko-KR" sz="1700" spc="-80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66" name="사각형: 둥근 모서리 80">
            <a:extLst>
              <a:ext uri="{FF2B5EF4-FFF2-40B4-BE49-F238E27FC236}">
                <a16:creationId xmlns:a16="http://schemas.microsoft.com/office/drawing/2014/main" id="{5FB6F842-70F2-AC01-740E-29A3FAE24C98}"/>
              </a:ext>
            </a:extLst>
          </p:cNvPr>
          <p:cNvSpPr/>
          <p:nvPr/>
        </p:nvSpPr>
        <p:spPr>
          <a:xfrm>
            <a:off x="6396203" y="1547521"/>
            <a:ext cx="5520748" cy="48783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67" name="사각형: 둥근 위쪽 모서리 91">
            <a:extLst>
              <a:ext uri="{FF2B5EF4-FFF2-40B4-BE49-F238E27FC236}">
                <a16:creationId xmlns:a16="http://schemas.microsoft.com/office/drawing/2014/main" id="{717A09A1-B43F-012C-2708-5EF498AA11E4}"/>
              </a:ext>
            </a:extLst>
          </p:cNvPr>
          <p:cNvSpPr/>
          <p:nvPr/>
        </p:nvSpPr>
        <p:spPr>
          <a:xfrm>
            <a:off x="6396202" y="1225576"/>
            <a:ext cx="5520748" cy="354179"/>
          </a:xfrm>
          <a:prstGeom prst="round2SameRect">
            <a:avLst>
              <a:gd name="adj1" fmla="val 36412"/>
              <a:gd name="adj2" fmla="val 0"/>
            </a:avLst>
          </a:prstGeom>
          <a:solidFill>
            <a:srgbClr val="009178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40</a:t>
            </a:r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세 실속 보장 플랜</a:t>
            </a: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280E94F1-A813-AB74-4105-80E6D41D9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506469"/>
              </p:ext>
            </p:extLst>
          </p:nvPr>
        </p:nvGraphicFramePr>
        <p:xfrm>
          <a:off x="6583175" y="1778546"/>
          <a:ext cx="5146801" cy="282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3671551345"/>
                    </a:ext>
                  </a:extLst>
                </a:gridCol>
                <a:gridCol w="1546801">
                  <a:extLst>
                    <a:ext uri="{9D8B030D-6E8A-4147-A177-3AD203B41FA5}">
                      <a16:colId xmlns:a16="http://schemas.microsoft.com/office/drawing/2014/main" val="3856523821"/>
                    </a:ext>
                  </a:extLst>
                </a:gridCol>
              </a:tblGrid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 dirty="0" err="1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담보명</a:t>
                      </a:r>
                      <a:endParaRPr lang="ko-KR" altLang="en-US" sz="1150" b="0" dirty="0">
                        <a:solidFill>
                          <a:srgbClr val="009178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b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가입금액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978551"/>
                  </a:ext>
                </a:extLst>
              </a:tr>
              <a:tr h="481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주계약</a:t>
                      </a:r>
                      <a:endParaRPr lang="ko-KR" altLang="en-US" sz="1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300</a:t>
                      </a:r>
                      <a:r>
                        <a:rPr lang="ko-KR" altLang="en-US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369425"/>
                  </a:ext>
                </a:extLst>
              </a:tr>
              <a:tr h="481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암주요치료특약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치료별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연간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회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1,000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암수술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512211"/>
                  </a:ext>
                </a:extLst>
              </a:tr>
              <a:tr h="481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비급여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전액부담 포함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암주요치료특약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치료별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연간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회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1,000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84208"/>
                  </a:ext>
                </a:extLst>
              </a:tr>
              <a:tr h="481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암주요치료</a:t>
                      </a:r>
                      <a:r>
                        <a:rPr lang="en-US" altLang="ko-KR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항암호르몬약물</a:t>
                      </a:r>
                      <a:r>
                        <a:rPr lang="en-US" altLang="ko-KR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r>
                        <a:rPr lang="ko-KR" altLang="en-US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특약</a:t>
                      </a:r>
                      <a:r>
                        <a:rPr lang="en-US" altLang="ko-KR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치료별 연간</a:t>
                      </a:r>
                      <a:r>
                        <a:rPr lang="en-US" altLang="ko-KR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회</a:t>
                      </a:r>
                      <a:r>
                        <a:rPr lang="en-US" altLang="ko-KR" sz="11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15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300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121643"/>
                  </a:ext>
                </a:extLst>
              </a:tr>
              <a:tr h="481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특정순환계질환주요치료특약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치료별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연간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회</a:t>
                      </a:r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1,000</a:t>
                      </a:r>
                      <a:r>
                        <a:rPr lang="ko-KR" altLang="en-US" sz="1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만</a:t>
                      </a:r>
                      <a:endParaRPr lang="ko-KR" altLang="en-US" sz="1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666489"/>
                  </a:ext>
                </a:extLst>
              </a:tr>
            </a:tbl>
          </a:graphicData>
        </a:graphic>
      </p:graphicFrame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ABD89077-2C27-115F-D319-8110081FE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423887"/>
              </p:ext>
            </p:extLst>
          </p:nvPr>
        </p:nvGraphicFramePr>
        <p:xfrm>
          <a:off x="6583174" y="4737926"/>
          <a:ext cx="5146802" cy="13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458">
                  <a:extLst>
                    <a:ext uri="{9D8B030D-6E8A-4147-A177-3AD203B41FA5}">
                      <a16:colId xmlns:a16="http://schemas.microsoft.com/office/drawing/2014/main" val="3089384407"/>
                    </a:ext>
                  </a:extLst>
                </a:gridCol>
                <a:gridCol w="2099672">
                  <a:extLst>
                    <a:ext uri="{9D8B030D-6E8A-4147-A177-3AD203B41FA5}">
                      <a16:colId xmlns:a16="http://schemas.microsoft.com/office/drawing/2014/main" val="220212827"/>
                    </a:ext>
                  </a:extLst>
                </a:gridCol>
                <a:gridCol w="2099672">
                  <a:extLst>
                    <a:ext uri="{9D8B030D-6E8A-4147-A177-3AD203B41FA5}">
                      <a16:colId xmlns:a16="http://schemas.microsoft.com/office/drawing/2014/main" val="362389859"/>
                    </a:ext>
                  </a:extLst>
                </a:gridCol>
              </a:tblGrid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40</a:t>
                      </a:r>
                      <a:r>
                        <a:rPr lang="ko-KR" altLang="en-US" sz="1100" b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50</a:t>
                      </a:r>
                      <a:r>
                        <a:rPr lang="ko-KR" altLang="en-US" sz="1100" b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세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088169"/>
                  </a:ext>
                </a:extLst>
              </a:tr>
              <a:tr h="453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남성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68,843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82,434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95306"/>
                  </a:ext>
                </a:extLst>
              </a:tr>
              <a:tr h="453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여성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53,338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56,396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22629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5C190F2A-189D-5664-0B33-7EBB3732F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754351"/>
              </p:ext>
            </p:extLst>
          </p:nvPr>
        </p:nvGraphicFramePr>
        <p:xfrm>
          <a:off x="462024" y="1225576"/>
          <a:ext cx="532775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7750">
                  <a:extLst>
                    <a:ext uri="{9D8B030D-6E8A-4147-A177-3AD203B41FA5}">
                      <a16:colId xmlns:a16="http://schemas.microsoft.com/office/drawing/2014/main" val="4160220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b="0" dirty="0">
                          <a:solidFill>
                            <a:srgbClr val="009178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하나생명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주요치료비는 </a:t>
                      </a:r>
                      <a:r>
                        <a:rPr lang="en-US" altLang="ko-KR" sz="1800" b="0" u="sng" dirty="0">
                          <a:solidFill>
                            <a:srgbClr val="DC221E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10</a:t>
                      </a:r>
                      <a:r>
                        <a:rPr lang="ko-KR" altLang="en-US" sz="1800" b="0" u="sng" dirty="0">
                          <a:solidFill>
                            <a:srgbClr val="DC221E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만원부터</a:t>
                      </a:r>
                      <a:r>
                        <a:rPr lang="ko-KR" altLang="en-US" sz="1800" b="0" dirty="0">
                          <a:solidFill>
                            <a:srgbClr val="DC221E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</a:t>
                      </a: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가능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!</a:t>
                      </a:r>
                    </a:p>
                    <a:p>
                      <a:pPr algn="l" latinLnBrk="1"/>
                      <a:r>
                        <a:rPr lang="en-US" altLang="ko-KR" sz="1800" b="1" u="sng" dirty="0">
                          <a:solidFill>
                            <a:srgbClr val="009178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3</a:t>
                      </a:r>
                      <a:r>
                        <a:rPr lang="ko-KR" altLang="en-US" sz="1800" b="1" u="sng" dirty="0">
                          <a:solidFill>
                            <a:srgbClr val="009178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대 주치 </a:t>
                      </a:r>
                      <a:r>
                        <a:rPr lang="ko-KR" altLang="en-US" sz="1800" b="1" u="sng" dirty="0">
                          <a:solidFill>
                            <a:srgbClr val="DC221E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만기</a:t>
                      </a:r>
                      <a:r>
                        <a:rPr lang="ko-KR" altLang="en-US" sz="1800" b="1" u="sng" dirty="0">
                          <a:solidFill>
                            <a:srgbClr val="009178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까지 </a:t>
                      </a:r>
                      <a:r>
                        <a:rPr lang="ko-KR" altLang="en-US" sz="1800" b="1" u="sng" dirty="0">
                          <a:solidFill>
                            <a:srgbClr val="DC221E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치료별</a:t>
                      </a:r>
                      <a:r>
                        <a:rPr lang="ko-KR" altLang="en-US" sz="1800" b="1" u="sng" dirty="0">
                          <a:solidFill>
                            <a:srgbClr val="009178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로 </a:t>
                      </a:r>
                      <a:r>
                        <a:rPr lang="ko-KR" altLang="en-US" sz="1800" b="1" u="sng" dirty="0">
                          <a:solidFill>
                            <a:srgbClr val="DC221E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각각</a:t>
                      </a:r>
                      <a:r>
                        <a:rPr lang="ko-KR" altLang="en-US" sz="1800" b="1" u="sng" dirty="0">
                          <a:solidFill>
                            <a:srgbClr val="009178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 보장</a:t>
                      </a:r>
                      <a:r>
                        <a:rPr lang="en-US" altLang="ko-KR" sz="1800" b="1" u="sng" dirty="0">
                          <a:solidFill>
                            <a:srgbClr val="009178"/>
                          </a:solidFill>
                          <a:latin typeface="페이퍼로지 9 Black" pitchFamily="2" charset="-127"/>
                          <a:ea typeface="페이퍼로지 9 Black" pitchFamily="2" charset="-127"/>
                        </a:rPr>
                        <a:t>!</a:t>
                      </a:r>
                      <a:endParaRPr lang="ko-KR" altLang="en-US" sz="1800" b="1" u="sng" dirty="0">
                        <a:solidFill>
                          <a:srgbClr val="009178"/>
                        </a:solidFill>
                        <a:latin typeface="페이퍼로지 9 Black" pitchFamily="2" charset="-127"/>
                        <a:ea typeface="페이퍼로지 9 Black" pitchFamily="2" charset="-127"/>
                      </a:endParaRPr>
                    </a:p>
                  </a:txBody>
                  <a:tcPr marL="137160" marR="137160" marT="137160" marB="137160" anchor="b">
                    <a:lnL w="38100" cap="flat" cmpd="sng" algn="ctr">
                      <a:solidFill>
                        <a:srgbClr val="0091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15017"/>
                  </a:ext>
                </a:extLst>
              </a:tr>
            </a:tbl>
          </a:graphicData>
        </a:graphic>
      </p:graphicFrame>
      <p:sp>
        <p:nvSpPr>
          <p:cNvPr id="87" name="TextBox 86">
            <a:extLst>
              <a:ext uri="{FF2B5EF4-FFF2-40B4-BE49-F238E27FC236}">
                <a16:creationId xmlns:a16="http://schemas.microsoft.com/office/drawing/2014/main" id="{8F0750F9-4E81-0A62-2A68-7F95B5410D13}"/>
              </a:ext>
            </a:extLst>
          </p:cNvPr>
          <p:cNvSpPr txBox="1"/>
          <p:nvPr/>
        </p:nvSpPr>
        <p:spPr>
          <a:xfrm>
            <a:off x="6583175" y="6063427"/>
            <a:ext cx="5146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하나로누리는건강보험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90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세 만기</a:t>
            </a:r>
            <a:r>
              <a:rPr lang="en-US" altLang="ko-KR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, 20</a:t>
            </a:r>
            <a:r>
              <a:rPr lang="ko-KR" altLang="en-US" sz="1100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년납</a:t>
            </a:r>
            <a:r>
              <a:rPr lang="ko-KR" altLang="en-US" sz="11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 기준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7EE86C-71D9-1E12-3813-5FDA21AE0C7E}"/>
              </a:ext>
            </a:extLst>
          </p:cNvPr>
          <p:cNvSpPr txBox="1"/>
          <p:nvPr/>
        </p:nvSpPr>
        <p:spPr>
          <a:xfrm>
            <a:off x="462024" y="5779577"/>
            <a:ext cx="5327750" cy="64633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i="1" dirty="0">
                <a:ln>
                  <a:solidFill>
                    <a:srgbClr val="009178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하나생명은 </a:t>
            </a:r>
            <a:r>
              <a:rPr lang="ko-KR" altLang="en-US" sz="3600" b="1" i="1" u="sng" dirty="0" err="1">
                <a:ln>
                  <a:solidFill>
                    <a:srgbClr val="DC221E"/>
                  </a:solidFill>
                </a:ln>
                <a:solidFill>
                  <a:srgbClr val="DC221E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카드납도</a:t>
            </a:r>
            <a:r>
              <a:rPr lang="ko-KR" altLang="en-US" sz="3600" b="1" i="1" dirty="0">
                <a:ln>
                  <a:solidFill>
                    <a:srgbClr val="009178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 가능</a:t>
            </a:r>
            <a:r>
              <a:rPr lang="en-US" altLang="ko-KR" sz="3600" b="1" i="1" dirty="0">
                <a:ln>
                  <a:solidFill>
                    <a:srgbClr val="009178"/>
                  </a:solidFill>
                </a:ln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!</a:t>
            </a:r>
            <a:endParaRPr lang="ko-KR" altLang="en-US" sz="2000" b="1" i="1" dirty="0">
              <a:ln>
                <a:solidFill>
                  <a:srgbClr val="009178"/>
                </a:solidFill>
              </a:ln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D629A0-A57B-99E0-1CC2-37B178B53DC9}"/>
              </a:ext>
            </a:extLst>
          </p:cNvPr>
          <p:cNvSpPr/>
          <p:nvPr/>
        </p:nvSpPr>
        <p:spPr>
          <a:xfrm>
            <a:off x="462024" y="2571750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91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 err="1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암수술</a:t>
            </a:r>
            <a:br>
              <a:rPr lang="en-US" altLang="ko-KR" sz="13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en-US" altLang="ko-KR" sz="13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3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비급여 치료 </a:t>
            </a:r>
            <a:r>
              <a:rPr lang="ko-KR" altLang="en-US" sz="1300" dirty="0" err="1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포함시</a:t>
            </a:r>
            <a:r>
              <a:rPr lang="en-US" altLang="ko-KR" sz="1300" dirty="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300" dirty="0">
              <a:solidFill>
                <a:srgbClr val="009178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D26141-D259-825B-F584-73B351ED0866}"/>
              </a:ext>
            </a:extLst>
          </p:cNvPr>
          <p:cNvSpPr/>
          <p:nvPr/>
        </p:nvSpPr>
        <p:spPr>
          <a:xfrm>
            <a:off x="4127723" y="2571750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91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항암방사선치료</a:t>
            </a:r>
            <a:br>
              <a:rPr lang="en-US" altLang="ko-KR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en-US" altLang="ko-KR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비급여 치료 포함시</a:t>
            </a:r>
            <a:r>
              <a:rPr lang="en-US" altLang="ko-KR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300">
              <a:solidFill>
                <a:srgbClr val="009178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C5EA97-7913-DB7B-AFCA-6DD85DC750C0}"/>
              </a:ext>
            </a:extLst>
          </p:cNvPr>
          <p:cNvSpPr/>
          <p:nvPr/>
        </p:nvSpPr>
        <p:spPr>
          <a:xfrm>
            <a:off x="2294873" y="2571750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91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항암약물치료</a:t>
            </a:r>
            <a:br>
              <a:rPr lang="en-US" altLang="ko-KR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en-US" altLang="ko-KR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비급여 치료 포함시</a:t>
            </a:r>
            <a:r>
              <a:rPr lang="en-US" altLang="ko-KR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300">
              <a:solidFill>
                <a:srgbClr val="009178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7B52DB-375A-DBCA-C657-0AF2C94C3F7F}"/>
              </a:ext>
            </a:extLst>
          </p:cNvPr>
          <p:cNvSpPr/>
          <p:nvPr/>
        </p:nvSpPr>
        <p:spPr>
          <a:xfrm>
            <a:off x="462024" y="4125696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91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특정순환계질환수술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491E9B-D488-D22F-9EE2-C26909DB2A4D}"/>
              </a:ext>
            </a:extLst>
          </p:cNvPr>
          <p:cNvSpPr/>
          <p:nvPr/>
        </p:nvSpPr>
        <p:spPr>
          <a:xfrm>
            <a:off x="4127723" y="4125696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91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중환자실 치료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887E42-5445-4F09-196A-1318D693E6F5}"/>
              </a:ext>
            </a:extLst>
          </p:cNvPr>
          <p:cNvSpPr/>
          <p:nvPr/>
        </p:nvSpPr>
        <p:spPr>
          <a:xfrm>
            <a:off x="2294873" y="4125696"/>
            <a:ext cx="1662051" cy="952500"/>
          </a:xfrm>
          <a:prstGeom prst="rect">
            <a:avLst/>
          </a:prstGeom>
          <a:solidFill>
            <a:schemeClr val="bg1"/>
          </a:solidFill>
          <a:ln w="19050">
            <a:solidFill>
              <a:srgbClr val="0091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혈전주요치료</a:t>
            </a:r>
            <a:br>
              <a:rPr lang="en-US" altLang="ko-KR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</a:br>
            <a:r>
              <a:rPr lang="en-US" altLang="ko-KR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혈전제거</a:t>
            </a:r>
            <a:r>
              <a:rPr lang="en-US" altLang="ko-KR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,</a:t>
            </a:r>
            <a:r>
              <a:rPr lang="ko-KR" altLang="en-US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혈전용해</a:t>
            </a:r>
            <a:r>
              <a:rPr lang="en-US" altLang="ko-KR" sz="1300">
                <a:solidFill>
                  <a:srgbClr val="009178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z="1300">
              <a:solidFill>
                <a:srgbClr val="009178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8BEEC-C749-D485-B84E-0A3EBA10EA41}"/>
              </a:ext>
            </a:extLst>
          </p:cNvPr>
          <p:cNvSpPr txBox="1"/>
          <p:nvPr/>
        </p:nvSpPr>
        <p:spPr>
          <a:xfrm>
            <a:off x="656165" y="2233196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만기까지 최대 </a:t>
            </a:r>
            <a:r>
              <a:rPr lang="en-US" altLang="ko-KR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6</a:t>
            </a:r>
            <a:r>
              <a:rPr lang="ko-KR" altLang="en-US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번</a:t>
            </a:r>
            <a:r>
              <a:rPr lang="en-US" altLang="ko-KR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! </a:t>
            </a:r>
            <a:r>
              <a:rPr lang="ko-KR" altLang="en-US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각각 보장</a:t>
            </a:r>
            <a:r>
              <a:rPr lang="en-US" altLang="ko-KR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!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9178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2FCF1F34-E537-73B4-78B4-C488857FD6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24" y="2294473"/>
            <a:ext cx="216000" cy="21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843236-BDA9-F977-2FBC-B52C16DAA9AF}"/>
              </a:ext>
            </a:extLst>
          </p:cNvPr>
          <p:cNvSpPr txBox="1"/>
          <p:nvPr/>
        </p:nvSpPr>
        <p:spPr>
          <a:xfrm>
            <a:off x="656165" y="3785238"/>
            <a:ext cx="5182633" cy="33855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만기까지 매년 최대 </a:t>
            </a:r>
            <a:r>
              <a:rPr lang="en-US" altLang="ko-KR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4</a:t>
            </a:r>
            <a:r>
              <a:rPr lang="ko-KR" altLang="en-US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번</a:t>
            </a:r>
            <a:r>
              <a:rPr lang="en-US" altLang="ko-KR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! </a:t>
            </a:r>
            <a:r>
              <a:rPr lang="ko-KR" altLang="en-US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각각 보장</a:t>
            </a:r>
            <a:r>
              <a:rPr lang="en-US" altLang="ko-KR" sz="16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!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9178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48DE989A-01F0-C58F-2C3F-4F57F8BC5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24" y="3846515"/>
            <a:ext cx="216000" cy="216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B520FB6-270D-07F9-4678-94C26AD9D582}"/>
              </a:ext>
            </a:extLst>
          </p:cNvPr>
          <p:cNvSpPr txBox="1"/>
          <p:nvPr/>
        </p:nvSpPr>
        <p:spPr>
          <a:xfrm>
            <a:off x="462025" y="5134401"/>
            <a:ext cx="5327749" cy="584775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주요치료비 가입금액 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50% </a:t>
            </a:r>
            <a:r>
              <a:rPr lang="ko-KR" altLang="en-US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DC221E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선지급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DC221E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!</a:t>
            </a:r>
          </a:p>
          <a:p>
            <a:pPr algn="ctr"/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단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암주요치료비는 상급종합병원限</a:t>
            </a: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9178"/>
                </a:solidFill>
                <a:latin typeface="페이퍼로지 7 Bold" pitchFamily="2" charset="-127"/>
                <a:ea typeface="페이퍼로지 7 Bold" pitchFamily="2" charset="-127"/>
                <a:cs typeface="KoPubWorld돋움체 Medium" panose="00000600000000000000" pitchFamily="2" charset="-127"/>
              </a:rPr>
              <a:t>)</a:t>
            </a:r>
            <a:endParaRPr lang="ko-KR" altLang="en-US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9178"/>
              </a:solidFill>
              <a:latin typeface="페이퍼로지 7 Bold" pitchFamily="2" charset="-127"/>
              <a:ea typeface="페이퍼로지 7 Bold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41A63-2565-A23D-7FC0-129CBCD0111F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5E9F42-E6C6-4BA5-5EAF-B99F1FC2F4E8}"/>
              </a:ext>
            </a:extLst>
          </p:cNvPr>
          <p:cNvSpPr txBox="1"/>
          <p:nvPr/>
        </p:nvSpPr>
        <p:spPr>
          <a:xfrm>
            <a:off x="572650" y="510111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판매플랜</a:t>
            </a:r>
          </a:p>
        </p:txBody>
      </p:sp>
    </p:spTree>
    <p:extLst>
      <p:ext uri="{BB962C8B-B14F-4D97-AF65-F5344CB8AC3E}">
        <p14:creationId xmlns:p14="http://schemas.microsoft.com/office/powerpoint/2010/main" val="1119112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BD422-8213-E22D-D888-63EE089C8006}"/>
              </a:ext>
            </a:extLst>
          </p:cNvPr>
          <p:cNvSpPr txBox="1"/>
          <p:nvPr/>
        </p:nvSpPr>
        <p:spPr>
          <a:xfrm>
            <a:off x="0" y="3269762"/>
            <a:ext cx="12192000" cy="739754"/>
          </a:xfrm>
          <a:prstGeom prst="rect">
            <a:avLst/>
          </a:prstGeom>
          <a:noFill/>
        </p:spPr>
        <p:txBody>
          <a:bodyPr wrap="square" lIns="90000" tIns="46800" rIns="90000" bIns="0" rtlCol="0" anchor="t" anchorCtr="0">
            <a:spAutoFit/>
          </a:bodyPr>
          <a:lstStyle/>
          <a:p>
            <a:pPr algn="ctr"/>
            <a:r>
              <a:rPr lang="ko-KR" altLang="en-US" sz="45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생</a:t>
            </a:r>
            <a:r>
              <a:rPr lang="en-US" altLang="ko-KR" sz="45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·</a:t>
            </a:r>
            <a:r>
              <a:rPr lang="ko-KR" altLang="en-US" sz="45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손보 보종별 판매현황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189A7F9-7E18-BAF8-BD4F-61719F65A50F}"/>
              </a:ext>
            </a:extLst>
          </p:cNvPr>
          <p:cNvSpPr/>
          <p:nvPr/>
        </p:nvSpPr>
        <p:spPr>
          <a:xfrm>
            <a:off x="4182533" y="2777744"/>
            <a:ext cx="3826934" cy="32545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600" spc="-8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상품전략</a:t>
            </a:r>
            <a:endParaRPr lang="en-US" altLang="ko-KR" sz="1300" spc="-8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6258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F8EF669-4722-473E-85DF-6EEADD38F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139854"/>
              </p:ext>
            </p:extLst>
          </p:nvPr>
        </p:nvGraphicFramePr>
        <p:xfrm>
          <a:off x="622800" y="1516896"/>
          <a:ext cx="10946400" cy="11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1892248388"/>
                    </a:ext>
                  </a:extLst>
                </a:gridCol>
                <a:gridCol w="2095200">
                  <a:extLst>
                    <a:ext uri="{9D8B030D-6E8A-4147-A177-3AD203B41FA5}">
                      <a16:colId xmlns:a16="http://schemas.microsoft.com/office/drawing/2014/main" val="1783901274"/>
                    </a:ext>
                  </a:extLst>
                </a:gridCol>
                <a:gridCol w="4082400">
                  <a:extLst>
                    <a:ext uri="{9D8B030D-6E8A-4147-A177-3AD203B41FA5}">
                      <a16:colId xmlns:a16="http://schemas.microsoft.com/office/drawing/2014/main" val="3204204409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13193027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9836752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순위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보험사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상품명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보험료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건수</a:t>
                      </a:r>
                    </a:p>
                  </a:txBody>
                  <a:tcPr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8333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endParaRPr lang="ko-KR" altLang="en-US" sz="1200" b="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120" noProof="0" dirty="0">
                          <a:solidFill>
                            <a:srgbClr val="003CDC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삼성생명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가족대표건강보험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30,490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305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768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endParaRPr lang="ko-KR" altLang="en-US" sz="1200" b="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120" noProof="0" dirty="0">
                          <a:solidFill>
                            <a:srgbClr val="665DCF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신한라이프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통합건강보험 원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(ONE)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27,982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311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6188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endParaRPr lang="ko-KR" altLang="en-US" sz="1200" b="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120" noProof="0" dirty="0">
                          <a:solidFill>
                            <a:srgbClr val="F3732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한화생명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실속가득 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H</a:t>
                      </a: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통합보험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21,236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388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347413"/>
                  </a:ext>
                </a:extLst>
              </a:tr>
            </a:tbl>
          </a:graphicData>
        </a:graphic>
      </p:graphicFrame>
      <p:sp>
        <p:nvSpPr>
          <p:cNvPr id="14" name="사각형: 둥근 위쪽 모서리 91">
            <a:extLst>
              <a:ext uri="{FF2B5EF4-FFF2-40B4-BE49-F238E27FC236}">
                <a16:creationId xmlns:a16="http://schemas.microsoft.com/office/drawing/2014/main" id="{BC5272DD-1D3D-437C-B1E5-9BF2DC364129}"/>
              </a:ext>
            </a:extLst>
          </p:cNvPr>
          <p:cNvSpPr/>
          <p:nvPr/>
        </p:nvSpPr>
        <p:spPr>
          <a:xfrm>
            <a:off x="622800" y="1228896"/>
            <a:ext cx="1800000" cy="288000"/>
          </a:xfrm>
          <a:prstGeom prst="round2SameRect">
            <a:avLst>
              <a:gd name="adj1" fmla="val 36412"/>
              <a:gd name="adj2" fmla="val 0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종합건강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36D03238-58E7-45DE-BB24-B69C40592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23555"/>
              </p:ext>
            </p:extLst>
          </p:nvPr>
        </p:nvGraphicFramePr>
        <p:xfrm>
          <a:off x="622800" y="3244896"/>
          <a:ext cx="10946400" cy="11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1892248388"/>
                    </a:ext>
                  </a:extLst>
                </a:gridCol>
                <a:gridCol w="2095200">
                  <a:extLst>
                    <a:ext uri="{9D8B030D-6E8A-4147-A177-3AD203B41FA5}">
                      <a16:colId xmlns:a16="http://schemas.microsoft.com/office/drawing/2014/main" val="1783901274"/>
                    </a:ext>
                  </a:extLst>
                </a:gridCol>
                <a:gridCol w="4082400">
                  <a:extLst>
                    <a:ext uri="{9D8B030D-6E8A-4147-A177-3AD203B41FA5}">
                      <a16:colId xmlns:a16="http://schemas.microsoft.com/office/drawing/2014/main" val="3204204409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13193027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9836752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순위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보험사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상품명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보험료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건수</a:t>
                      </a:r>
                    </a:p>
                  </a:txBody>
                  <a:tcPr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8333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 err="1">
                          <a:solidFill>
                            <a:srgbClr val="0061A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메트라이프생명</a:t>
                      </a:r>
                      <a:endParaRPr lang="ko-KR" altLang="en-US" sz="1200" kern="1200" spc="-120" noProof="0" dirty="0">
                        <a:solidFill>
                          <a:srgbClr val="0061A0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백만인을 위한 </a:t>
                      </a:r>
                      <a:r>
                        <a:rPr lang="ko-KR" altLang="en-US" sz="1200" kern="1200" spc="-12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달러종신보험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Plus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71,033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314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768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rgbClr val="003CDC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삼성생명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더행복종신보험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55,608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106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6188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rgbClr val="F3732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한화생명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밸류플러스보장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2.0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54,984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186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347413"/>
                  </a:ext>
                </a:extLst>
              </a:tr>
            </a:tbl>
          </a:graphicData>
        </a:graphic>
      </p:graphicFrame>
      <p:sp>
        <p:nvSpPr>
          <p:cNvPr id="16" name="사각형: 둥근 위쪽 모서리 91">
            <a:extLst>
              <a:ext uri="{FF2B5EF4-FFF2-40B4-BE49-F238E27FC236}">
                <a16:creationId xmlns:a16="http://schemas.microsoft.com/office/drawing/2014/main" id="{7C9C21A9-10BA-4B24-9AB9-26BB8677CEEE}"/>
              </a:ext>
            </a:extLst>
          </p:cNvPr>
          <p:cNvSpPr/>
          <p:nvPr/>
        </p:nvSpPr>
        <p:spPr>
          <a:xfrm>
            <a:off x="622800" y="2956896"/>
            <a:ext cx="1800000" cy="288000"/>
          </a:xfrm>
          <a:prstGeom prst="round2SameRect">
            <a:avLst>
              <a:gd name="adj1" fmla="val 36412"/>
              <a:gd name="adj2" fmla="val 0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저해지종신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73407D1B-2476-47E9-8CBC-ED54F4572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799397"/>
              </p:ext>
            </p:extLst>
          </p:nvPr>
        </p:nvGraphicFramePr>
        <p:xfrm>
          <a:off x="622800" y="4972896"/>
          <a:ext cx="10946400" cy="11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1892248388"/>
                    </a:ext>
                  </a:extLst>
                </a:gridCol>
                <a:gridCol w="2095200">
                  <a:extLst>
                    <a:ext uri="{9D8B030D-6E8A-4147-A177-3AD203B41FA5}">
                      <a16:colId xmlns:a16="http://schemas.microsoft.com/office/drawing/2014/main" val="1783901274"/>
                    </a:ext>
                  </a:extLst>
                </a:gridCol>
                <a:gridCol w="4082400">
                  <a:extLst>
                    <a:ext uri="{9D8B030D-6E8A-4147-A177-3AD203B41FA5}">
                      <a16:colId xmlns:a16="http://schemas.microsoft.com/office/drawing/2014/main" val="3204204409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13193027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9836752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순위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보험사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상품명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보험료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건수</a:t>
                      </a:r>
                    </a:p>
                  </a:txBody>
                  <a:tcPr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8333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rgbClr val="EE3124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ABL</a:t>
                      </a:r>
                      <a:r>
                        <a:rPr lang="ko-KR" altLang="en-US" sz="1200" kern="1200" spc="-120" noProof="0" dirty="0">
                          <a:solidFill>
                            <a:srgbClr val="EE3124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생명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우리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WON</a:t>
                      </a:r>
                      <a:r>
                        <a:rPr lang="ko-KR" altLang="en-US" sz="1200" kern="1200" spc="-12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세븐종신보험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97,004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71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58768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rgbClr val="0C419A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농협생명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스텝업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700NH</a:t>
                      </a: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종신보험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90,378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156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6188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rgbClr val="0599D9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동양생명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우리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WON</a:t>
                      </a: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하는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</a:t>
                      </a:r>
                      <a:r>
                        <a:rPr lang="ko-KR" altLang="en-US" sz="1200" kern="1200" spc="-12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년안심종신보험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71,124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125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347413"/>
                  </a:ext>
                </a:extLst>
              </a:tr>
            </a:tbl>
          </a:graphicData>
        </a:graphic>
      </p:graphicFrame>
      <p:sp>
        <p:nvSpPr>
          <p:cNvPr id="18" name="사각형: 둥근 위쪽 모서리 91">
            <a:extLst>
              <a:ext uri="{FF2B5EF4-FFF2-40B4-BE49-F238E27FC236}">
                <a16:creationId xmlns:a16="http://schemas.microsoft.com/office/drawing/2014/main" id="{26F28FA2-D680-4686-8CF6-3C74DAA0A1A6}"/>
              </a:ext>
            </a:extLst>
          </p:cNvPr>
          <p:cNvSpPr/>
          <p:nvPr/>
        </p:nvSpPr>
        <p:spPr>
          <a:xfrm>
            <a:off x="622800" y="4684896"/>
            <a:ext cx="1800000" cy="288000"/>
          </a:xfrm>
          <a:prstGeom prst="round2SameRect">
            <a:avLst>
              <a:gd name="adj1" fmla="val 36412"/>
              <a:gd name="adj2" fmla="val 0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기능성종신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E9FFED-99CC-4E9A-9C09-194C6570AFF2}"/>
              </a:ext>
            </a:extLst>
          </p:cNvPr>
          <p:cNvSpPr txBox="1"/>
          <p:nvPr/>
        </p:nvSpPr>
        <p:spPr>
          <a:xfrm>
            <a:off x="2422800" y="1259110"/>
            <a:ext cx="914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한국보험금융 실적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간편포함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: 2026.10.01 09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시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기준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단위 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천원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건</a:t>
            </a: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169C4306-139E-231E-4FAD-02417B80E3C1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16">
            <a:extLst>
              <a:ext uri="{FF2B5EF4-FFF2-40B4-BE49-F238E27FC236}">
                <a16:creationId xmlns:a16="http://schemas.microsoft.com/office/drawing/2014/main" id="{F2A6CE54-6AF0-F115-7BFE-9206133AF24C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FD33A3-6F5A-4523-ECDA-A2209D1F476E}"/>
              </a:ext>
            </a:extLst>
          </p:cNvPr>
          <p:cNvSpPr txBox="1"/>
          <p:nvPr/>
        </p:nvSpPr>
        <p:spPr>
          <a:xfrm>
            <a:off x="3569850" y="560911"/>
            <a:ext cx="33531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보종별 판매현황 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TOP 3 (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생명보험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A37AE8-21CF-F732-AAA0-B79E1CE2F000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6644C-49F4-D7D8-4F68-BE3923EF0743}"/>
              </a:ext>
            </a:extLst>
          </p:cNvPr>
          <p:cNvSpPr txBox="1"/>
          <p:nvPr/>
        </p:nvSpPr>
        <p:spPr>
          <a:xfrm>
            <a:off x="572650" y="510111"/>
            <a:ext cx="2635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생</a:t>
            </a:r>
            <a:r>
              <a:rPr kumimoji="1" lang="en-US" altLang="ko-KR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·</a:t>
            </a:r>
            <a:r>
              <a:rPr kumimoji="1" lang="ko-KR" altLang="en-US" sz="2000" dirty="0" err="1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손보</a:t>
            </a:r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 </a:t>
            </a:r>
            <a:r>
              <a:rPr kumimoji="1" lang="ko-KR" altLang="en-US" sz="2000" dirty="0" err="1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보종별</a:t>
            </a:r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 판매현황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BFE7F6-CBDE-753B-1826-83738F3B7C1F}"/>
              </a:ext>
            </a:extLst>
          </p:cNvPr>
          <p:cNvSpPr/>
          <p:nvPr/>
        </p:nvSpPr>
        <p:spPr>
          <a:xfrm>
            <a:off x="614407" y="940254"/>
            <a:ext cx="10963186" cy="559374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5DD710-1A88-0BA2-F877-EB1D6770489D}"/>
              </a:ext>
            </a:extLst>
          </p:cNvPr>
          <p:cNvSpPr/>
          <p:nvPr/>
        </p:nvSpPr>
        <p:spPr>
          <a:xfrm>
            <a:off x="962341" y="1108641"/>
            <a:ext cx="10267318" cy="5165196"/>
          </a:xfrm>
          <a:prstGeom prst="rect">
            <a:avLst/>
          </a:prstGeom>
          <a:solidFill>
            <a:srgbClr val="000000">
              <a:alpha val="89804"/>
            </a:srgb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F0000"/>
                </a:solidFill>
                <a:latin typeface="페이퍼로지 6 SemiBold" pitchFamily="2" charset="-127"/>
                <a:ea typeface="페이퍼로지 6 SemiBold" pitchFamily="2" charset="-127"/>
                <a:cs typeface="배달의민족 한나는 열한살 OTF"/>
                <a:sym typeface="배달의민족 한나는 열한살 OTF"/>
              </a:rPr>
              <a:t>업데이트 예정</a:t>
            </a:r>
          </a:p>
        </p:txBody>
      </p:sp>
    </p:spTree>
    <p:extLst>
      <p:ext uri="{BB962C8B-B14F-4D97-AF65-F5344CB8AC3E}">
        <p14:creationId xmlns:p14="http://schemas.microsoft.com/office/powerpoint/2010/main" val="684275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B9B2BAB-3A2F-4511-A6C9-BECC39E1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365680"/>
              </p:ext>
            </p:extLst>
          </p:nvPr>
        </p:nvGraphicFramePr>
        <p:xfrm>
          <a:off x="622800" y="1516896"/>
          <a:ext cx="10946400" cy="11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1892248388"/>
                    </a:ext>
                  </a:extLst>
                </a:gridCol>
                <a:gridCol w="2095200">
                  <a:extLst>
                    <a:ext uri="{9D8B030D-6E8A-4147-A177-3AD203B41FA5}">
                      <a16:colId xmlns:a16="http://schemas.microsoft.com/office/drawing/2014/main" val="1783901274"/>
                    </a:ext>
                  </a:extLst>
                </a:gridCol>
                <a:gridCol w="4082400">
                  <a:extLst>
                    <a:ext uri="{9D8B030D-6E8A-4147-A177-3AD203B41FA5}">
                      <a16:colId xmlns:a16="http://schemas.microsoft.com/office/drawing/2014/main" val="3204204409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13193027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9836752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순위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보험사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상품명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보험료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건수</a:t>
                      </a:r>
                    </a:p>
                  </a:txBody>
                  <a:tcPr marL="0" marR="0" marT="0" marB="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8333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rgbClr val="EF3B24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메리츠화재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통합간편건강보험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77,262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780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768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 err="1">
                          <a:solidFill>
                            <a:srgbClr val="F3732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한화손보</a:t>
                      </a:r>
                      <a:endParaRPr lang="ko-KR" altLang="en-US" sz="1200" kern="1200" spc="-120" noProof="0" dirty="0">
                        <a:solidFill>
                          <a:srgbClr val="F3732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시그니처</a:t>
                      </a: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여성 건강보험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4.0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33,348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421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6188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 err="1">
                          <a:solidFill>
                            <a:srgbClr val="F37321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한화손보</a:t>
                      </a:r>
                      <a:endParaRPr lang="ko-KR" altLang="en-US" sz="1200" kern="1200" spc="-120" noProof="0" dirty="0">
                        <a:solidFill>
                          <a:srgbClr val="F37321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더 경증 간편 건강보험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Ⅱ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26,183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343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347413"/>
                  </a:ext>
                </a:extLst>
              </a:tr>
            </a:tbl>
          </a:graphicData>
        </a:graphic>
      </p:graphicFrame>
      <p:sp>
        <p:nvSpPr>
          <p:cNvPr id="21" name="사각형: 둥근 위쪽 모서리 91">
            <a:extLst>
              <a:ext uri="{FF2B5EF4-FFF2-40B4-BE49-F238E27FC236}">
                <a16:creationId xmlns:a16="http://schemas.microsoft.com/office/drawing/2014/main" id="{A1264176-A8FF-4353-BA01-86A192A8BA8D}"/>
              </a:ext>
            </a:extLst>
          </p:cNvPr>
          <p:cNvSpPr/>
          <p:nvPr/>
        </p:nvSpPr>
        <p:spPr>
          <a:xfrm>
            <a:off x="622800" y="1228896"/>
            <a:ext cx="1800000" cy="288000"/>
          </a:xfrm>
          <a:prstGeom prst="round2SameRect">
            <a:avLst>
              <a:gd name="adj1" fmla="val 36412"/>
              <a:gd name="adj2" fmla="val 0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종합건강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29C4269-EF28-48D8-88EE-361C276C3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559540"/>
              </p:ext>
            </p:extLst>
          </p:nvPr>
        </p:nvGraphicFramePr>
        <p:xfrm>
          <a:off x="622800" y="3244896"/>
          <a:ext cx="10946400" cy="11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1892248388"/>
                    </a:ext>
                  </a:extLst>
                </a:gridCol>
                <a:gridCol w="2095200">
                  <a:extLst>
                    <a:ext uri="{9D8B030D-6E8A-4147-A177-3AD203B41FA5}">
                      <a16:colId xmlns:a16="http://schemas.microsoft.com/office/drawing/2014/main" val="1783901274"/>
                    </a:ext>
                  </a:extLst>
                </a:gridCol>
                <a:gridCol w="4082400">
                  <a:extLst>
                    <a:ext uri="{9D8B030D-6E8A-4147-A177-3AD203B41FA5}">
                      <a16:colId xmlns:a16="http://schemas.microsoft.com/office/drawing/2014/main" val="3204204409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13193027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9836752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순위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보험사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상품명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보험료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건수</a:t>
                      </a:r>
                    </a:p>
                  </a:txBody>
                  <a:tcPr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8333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rgbClr val="F18D00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현대해상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굿앤굿어린이종합보험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10,545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129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768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rgbClr val="EF3B24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메리츠화재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내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Mom</a:t>
                      </a: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같은 어린이보험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2,843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42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6188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rgbClr val="60584C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KB</a:t>
                      </a:r>
                      <a:r>
                        <a:rPr lang="ko-KR" altLang="en-US" sz="1200" kern="1200" spc="-120" noProof="0" dirty="0" err="1">
                          <a:solidFill>
                            <a:srgbClr val="60584C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손보</a:t>
                      </a:r>
                      <a:endParaRPr lang="ko-KR" altLang="en-US" sz="1200" kern="1200" spc="-120" noProof="0" dirty="0">
                        <a:solidFill>
                          <a:srgbClr val="60584C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금쪽같은 자녀보험</a:t>
                      </a: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Plus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2,266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32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347413"/>
                  </a:ext>
                </a:extLst>
              </a:tr>
            </a:tbl>
          </a:graphicData>
        </a:graphic>
      </p:graphicFrame>
      <p:sp>
        <p:nvSpPr>
          <p:cNvPr id="23" name="사각형: 둥근 위쪽 모서리 91">
            <a:extLst>
              <a:ext uri="{FF2B5EF4-FFF2-40B4-BE49-F238E27FC236}">
                <a16:creationId xmlns:a16="http://schemas.microsoft.com/office/drawing/2014/main" id="{B9A0691E-1124-4E91-9D5E-43499C352904}"/>
              </a:ext>
            </a:extLst>
          </p:cNvPr>
          <p:cNvSpPr/>
          <p:nvPr/>
        </p:nvSpPr>
        <p:spPr>
          <a:xfrm>
            <a:off x="622800" y="2956896"/>
            <a:ext cx="1800000" cy="288000"/>
          </a:xfrm>
          <a:prstGeom prst="round2SameRect">
            <a:avLst>
              <a:gd name="adj1" fmla="val 36412"/>
              <a:gd name="adj2" fmla="val 0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어린이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647F673-E970-47E3-92EE-85316493B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593639"/>
              </p:ext>
            </p:extLst>
          </p:nvPr>
        </p:nvGraphicFramePr>
        <p:xfrm>
          <a:off x="622800" y="4972896"/>
          <a:ext cx="10946400" cy="11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1892248388"/>
                    </a:ext>
                  </a:extLst>
                </a:gridCol>
                <a:gridCol w="2095200">
                  <a:extLst>
                    <a:ext uri="{9D8B030D-6E8A-4147-A177-3AD203B41FA5}">
                      <a16:colId xmlns:a16="http://schemas.microsoft.com/office/drawing/2014/main" val="1783901274"/>
                    </a:ext>
                  </a:extLst>
                </a:gridCol>
                <a:gridCol w="4082400">
                  <a:extLst>
                    <a:ext uri="{9D8B030D-6E8A-4147-A177-3AD203B41FA5}">
                      <a16:colId xmlns:a16="http://schemas.microsoft.com/office/drawing/2014/main" val="3204204409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2013193027"/>
                    </a:ext>
                  </a:extLst>
                </a:gridCol>
                <a:gridCol w="1904400">
                  <a:extLst>
                    <a:ext uri="{9D8B030D-6E8A-4147-A177-3AD203B41FA5}">
                      <a16:colId xmlns:a16="http://schemas.microsoft.com/office/drawing/2014/main" val="9836752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순위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보험사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상품명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보험료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건수</a:t>
                      </a:r>
                    </a:p>
                  </a:txBody>
                  <a:tcPr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8333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rgbClr val="EF3B24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메리츠화재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운전자 상해 종합보험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11,505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561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58768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rgbClr val="00854A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  <a:r>
                        <a:rPr lang="ko-KR" altLang="en-US" sz="1200" kern="1200" spc="-120" noProof="0" dirty="0" err="1">
                          <a:solidFill>
                            <a:srgbClr val="00854A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손보</a:t>
                      </a:r>
                      <a:endParaRPr lang="ko-KR" altLang="en-US" sz="1200" kern="1200" spc="-120" noProof="0" dirty="0">
                        <a:solidFill>
                          <a:srgbClr val="00854A"/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참좋은운전자상해보험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11,078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431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6188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3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rgbClr val="003CDC"/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삼성화재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운전자보험 안전운전 파트너 플러스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9,456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12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297</a:t>
                      </a:r>
                      <a:endParaRPr lang="ko-KR" altLang="en-US" sz="1200" kern="1200" spc="-12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347413"/>
                  </a:ext>
                </a:extLst>
              </a:tr>
            </a:tbl>
          </a:graphicData>
        </a:graphic>
      </p:graphicFrame>
      <p:sp>
        <p:nvSpPr>
          <p:cNvPr id="25" name="사각형: 둥근 위쪽 모서리 91">
            <a:extLst>
              <a:ext uri="{FF2B5EF4-FFF2-40B4-BE49-F238E27FC236}">
                <a16:creationId xmlns:a16="http://schemas.microsoft.com/office/drawing/2014/main" id="{F1055856-6BC3-46A1-8EDF-8AB4D7182A53}"/>
              </a:ext>
            </a:extLst>
          </p:cNvPr>
          <p:cNvSpPr/>
          <p:nvPr/>
        </p:nvSpPr>
        <p:spPr>
          <a:xfrm>
            <a:off x="622800" y="4684896"/>
            <a:ext cx="1800000" cy="288000"/>
          </a:xfrm>
          <a:prstGeom prst="round2SameRect">
            <a:avLst>
              <a:gd name="adj1" fmla="val 36412"/>
              <a:gd name="adj2" fmla="val 0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SemiBold" panose="020B0200000000000000" pitchFamily="34" charset="-128"/>
                <a:ea typeface="Noto Sans KR SemiBold" panose="020B0200000000000000" pitchFamily="34" charset="-128"/>
              </a:rPr>
              <a:t>운전자</a:t>
            </a:r>
          </a:p>
        </p:txBody>
      </p:sp>
      <p:cxnSp>
        <p:nvCxnSpPr>
          <p:cNvPr id="4" name="직선 연결선[R] 7">
            <a:extLst>
              <a:ext uri="{FF2B5EF4-FFF2-40B4-BE49-F238E27FC236}">
                <a16:creationId xmlns:a16="http://schemas.microsoft.com/office/drawing/2014/main" id="{8F563AF2-6298-C052-B5F5-38441345C0CD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16">
            <a:extLst>
              <a:ext uri="{FF2B5EF4-FFF2-40B4-BE49-F238E27FC236}">
                <a16:creationId xmlns:a16="http://schemas.microsoft.com/office/drawing/2014/main" id="{8D843167-B9B5-7361-D31F-06D61C4F700C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F6BBB8-2633-4173-493D-69E21ACD529E}"/>
              </a:ext>
            </a:extLst>
          </p:cNvPr>
          <p:cNvSpPr txBox="1"/>
          <p:nvPr/>
        </p:nvSpPr>
        <p:spPr>
          <a:xfrm>
            <a:off x="3569850" y="560911"/>
            <a:ext cx="33531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보종별 판매현황 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TOP 3 (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손해보험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52495-33C6-F097-A7CD-99E648964893}"/>
              </a:ext>
            </a:extLst>
          </p:cNvPr>
          <p:cNvSpPr txBox="1"/>
          <p:nvPr/>
        </p:nvSpPr>
        <p:spPr>
          <a:xfrm>
            <a:off x="2422800" y="1259110"/>
            <a:ext cx="914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한국보험금융 실적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간편포함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: 2026.10.01 09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시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기준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단위 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천원</a:t>
            </a:r>
            <a:r>
              <a:rPr lang="en-US" altLang="ko-KR" sz="1050" spc="-8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050" spc="-80" dirty="0">
                <a:latin typeface="페이퍼로지 4 Regular" pitchFamily="2" charset="-127"/>
                <a:ea typeface="페이퍼로지 4 Regular" pitchFamily="2" charset="-127"/>
              </a:rPr>
              <a:t>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721D9-2020-930D-B59A-A2309242D337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8E47B-180E-10C6-30D3-05DD88997DF7}"/>
              </a:ext>
            </a:extLst>
          </p:cNvPr>
          <p:cNvSpPr txBox="1"/>
          <p:nvPr/>
        </p:nvSpPr>
        <p:spPr>
          <a:xfrm>
            <a:off x="572650" y="510111"/>
            <a:ext cx="2635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생</a:t>
            </a:r>
            <a:r>
              <a:rPr kumimoji="1" lang="en-US" altLang="ko-KR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·</a:t>
            </a:r>
            <a:r>
              <a:rPr kumimoji="1" lang="ko-KR" altLang="en-US" sz="2000" dirty="0" err="1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손보</a:t>
            </a:r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 </a:t>
            </a:r>
            <a:r>
              <a:rPr kumimoji="1" lang="ko-KR" altLang="en-US" sz="2000" dirty="0" err="1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보종별</a:t>
            </a:r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 판매현황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1A0DE0-D921-0A51-F54B-433D8FC60668}"/>
              </a:ext>
            </a:extLst>
          </p:cNvPr>
          <p:cNvSpPr/>
          <p:nvPr/>
        </p:nvSpPr>
        <p:spPr>
          <a:xfrm>
            <a:off x="614407" y="940254"/>
            <a:ext cx="10963186" cy="559374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B7AB17-9E79-EBAE-756E-EFB01520D941}"/>
              </a:ext>
            </a:extLst>
          </p:cNvPr>
          <p:cNvSpPr/>
          <p:nvPr/>
        </p:nvSpPr>
        <p:spPr>
          <a:xfrm>
            <a:off x="962341" y="1108641"/>
            <a:ext cx="10267318" cy="5165196"/>
          </a:xfrm>
          <a:prstGeom prst="rect">
            <a:avLst/>
          </a:prstGeom>
          <a:solidFill>
            <a:srgbClr val="000000">
              <a:alpha val="89804"/>
            </a:srgb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F0000"/>
                </a:solidFill>
                <a:latin typeface="페이퍼로지 6 SemiBold" pitchFamily="2" charset="-127"/>
                <a:ea typeface="페이퍼로지 6 SemiBold" pitchFamily="2" charset="-127"/>
                <a:cs typeface="배달의민족 한나는 열한살 OTF"/>
                <a:sym typeface="배달의민족 한나는 열한살 OTF"/>
              </a:rPr>
              <a:t>업데이트 예정</a:t>
            </a:r>
          </a:p>
        </p:txBody>
      </p:sp>
    </p:spTree>
    <p:extLst>
      <p:ext uri="{BB962C8B-B14F-4D97-AF65-F5344CB8AC3E}">
        <p14:creationId xmlns:p14="http://schemas.microsoft.com/office/powerpoint/2010/main" val="1519627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BD422-8213-E22D-D888-63EE089C8006}"/>
              </a:ext>
            </a:extLst>
          </p:cNvPr>
          <p:cNvSpPr txBox="1"/>
          <p:nvPr/>
        </p:nvSpPr>
        <p:spPr>
          <a:xfrm>
            <a:off x="0" y="3269762"/>
            <a:ext cx="12192000" cy="739754"/>
          </a:xfrm>
          <a:prstGeom prst="rect">
            <a:avLst/>
          </a:prstGeom>
          <a:noFill/>
        </p:spPr>
        <p:txBody>
          <a:bodyPr wrap="square" lIns="90000" tIns="46800" rIns="90000" bIns="0" rtlCol="0" anchor="t" anchorCtr="0">
            <a:spAutoFit/>
          </a:bodyPr>
          <a:lstStyle/>
          <a:p>
            <a:pPr algn="ctr"/>
            <a:r>
              <a:rPr lang="ko-KR" altLang="en-US" sz="45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단기납종신 납기별 환급률</a:t>
            </a:r>
            <a:endParaRPr lang="ko-KR" altLang="en-US" sz="4500" b="1" spc="-12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rgbClr val="FF0000"/>
              </a:solidFill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189A7F9-7E18-BAF8-BD4F-61719F65A50F}"/>
              </a:ext>
            </a:extLst>
          </p:cNvPr>
          <p:cNvSpPr/>
          <p:nvPr/>
        </p:nvSpPr>
        <p:spPr>
          <a:xfrm>
            <a:off x="4182533" y="2777744"/>
            <a:ext cx="3826934" cy="32545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600" spc="-8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상품전략</a:t>
            </a:r>
            <a:endParaRPr lang="en-US" altLang="ko-KR" sz="1600" spc="-8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3279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0BDC0D8-ADE7-47CE-A5B3-EAEBB147C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546671"/>
              </p:ext>
            </p:extLst>
          </p:nvPr>
        </p:nvGraphicFramePr>
        <p:xfrm>
          <a:off x="255052" y="1306652"/>
          <a:ext cx="11681896" cy="2543152"/>
        </p:xfrm>
        <a:graphic>
          <a:graphicData uri="http://schemas.openxmlformats.org/drawingml/2006/table">
            <a:tbl>
              <a:tblPr/>
              <a:tblGrid>
                <a:gridCol w="440948">
                  <a:extLst>
                    <a:ext uri="{9D8B030D-6E8A-4147-A177-3AD203B41FA5}">
                      <a16:colId xmlns:a16="http://schemas.microsoft.com/office/drawing/2014/main" val="1686344028"/>
                    </a:ext>
                  </a:extLst>
                </a:gridCol>
                <a:gridCol w="440948">
                  <a:extLst>
                    <a:ext uri="{9D8B030D-6E8A-4147-A177-3AD203B41FA5}">
                      <a16:colId xmlns:a16="http://schemas.microsoft.com/office/drawing/2014/main" val="166180470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4164995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3995594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8780704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0870681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04264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11904578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6333524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500713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34116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590842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60481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183459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2021581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4178639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77344583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EF3B24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일반심사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ABL</a:t>
                      </a:r>
                      <a:r>
                        <a:rPr lang="ko-KR" alt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생명</a:t>
                      </a:r>
                      <a:endParaRPr lang="en-US" sz="1000" b="0" i="0" kern="1200" spc="-120" dirty="0">
                        <a:solidFill>
                          <a:srgbClr val="EE3124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AIA</a:t>
                      </a:r>
                      <a:r>
                        <a:rPr lang="ko-KR" alt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D31045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DB</a:t>
                      </a:r>
                      <a:r>
                        <a:rPr lang="ko-KR" alt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854A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iM</a:t>
                      </a:r>
                      <a:r>
                        <a:rPr lang="ko-KR" altLang="en-US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00C7A9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KB</a:t>
                      </a:r>
                      <a:r>
                        <a:rPr lang="ko-KR" alt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FFBC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KDB</a:t>
                      </a:r>
                      <a:r>
                        <a:rPr lang="ko-KR" alt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3C7F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C419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농협생명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599D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동양생명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CAF17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61A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메트라이프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3CDC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삼성생명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665DC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신한라이프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85AE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푸본현대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9178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하나생명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3732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한화생명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467606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상품명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안심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+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프라임달러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뉴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알차고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행복한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당당한인생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약속플러스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더블찬스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Ⅱ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마이초이스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우리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하는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알뜰플러스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채우는　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백만인을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위한달러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더행복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모아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MAX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원픽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하나로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연결된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밸류플러스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 </a:t>
                      </a: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종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4691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최고가입나이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64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미판매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67,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56,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63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미판매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미판매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미판매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63,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67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55,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61,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65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66,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796556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적용이율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2.00%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0.75%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2.25%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3.25%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2.40%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2.60%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1.20%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215645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보험료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1,999,000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$1,843.80</a:t>
                      </a:r>
                      <a:endParaRPr lang="ko-KR" altLang="en-US" sz="8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672" marR="7672" marT="7672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1,995,000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2,251,000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2,680,000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672" marR="7672" marT="7672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1,502.20$</a:t>
                      </a:r>
                      <a:endParaRPr lang="ko-KR" altLang="en-US" sz="7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2,365,000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3,018,400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1,662,000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1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1,574,000</a:t>
                      </a:r>
                      <a:r>
                        <a:rPr lang="ko-KR" altLang="en-US" sz="850" b="1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원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1,713,000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086737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환급률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98.2%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94.1%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672" marR="7672" marT="7672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99.7%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99.9%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95.9%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672" marR="7672" marT="7672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98.3%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96.0%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90.0%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96.9%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96.0%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99.4%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934223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124.4%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672" marR="7672" marT="7672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120.4%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121.0%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117.8%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672" marR="7672" marT="7672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124.9%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120.2%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029082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3F611FE-61BD-4A0F-83EB-5929DB248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906552"/>
              </p:ext>
            </p:extLst>
          </p:nvPr>
        </p:nvGraphicFramePr>
        <p:xfrm>
          <a:off x="255052" y="3934634"/>
          <a:ext cx="11681896" cy="2542977"/>
        </p:xfrm>
        <a:graphic>
          <a:graphicData uri="http://schemas.openxmlformats.org/drawingml/2006/table">
            <a:tbl>
              <a:tblPr/>
              <a:tblGrid>
                <a:gridCol w="440948">
                  <a:extLst>
                    <a:ext uri="{9D8B030D-6E8A-4147-A177-3AD203B41FA5}">
                      <a16:colId xmlns:a16="http://schemas.microsoft.com/office/drawing/2014/main" val="2244192403"/>
                    </a:ext>
                  </a:extLst>
                </a:gridCol>
                <a:gridCol w="440948">
                  <a:extLst>
                    <a:ext uri="{9D8B030D-6E8A-4147-A177-3AD203B41FA5}">
                      <a16:colId xmlns:a16="http://schemas.microsoft.com/office/drawing/2014/main" val="25441146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4114252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2569194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063718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119655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6759958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932225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2016303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595704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8454045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19305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55491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4679893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62912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294786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04010852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EF3B24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간편심사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ABL</a:t>
                      </a:r>
                      <a:r>
                        <a:rPr lang="ko-KR" alt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생명</a:t>
                      </a:r>
                      <a:endParaRPr lang="en-US" sz="1000" b="0" i="0" kern="1200" spc="-120" dirty="0">
                        <a:solidFill>
                          <a:srgbClr val="EE3124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AIA</a:t>
                      </a:r>
                      <a:r>
                        <a:rPr lang="ko-KR" alt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D31045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DB</a:t>
                      </a:r>
                      <a:r>
                        <a:rPr lang="ko-KR" alt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854A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iM</a:t>
                      </a:r>
                      <a:r>
                        <a:rPr lang="ko-KR" altLang="en-US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00C7A9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KB</a:t>
                      </a:r>
                      <a:r>
                        <a:rPr lang="ko-KR" alt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FFBC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KDB</a:t>
                      </a:r>
                      <a:r>
                        <a:rPr lang="ko-KR" alt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3C7F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C419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농협생명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599D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동양생명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CAF17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61A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메트라이프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3CDC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삼성생명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665DC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신한라이프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85AE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푸본현대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9178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하나생명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3732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한화생명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80750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상품명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안심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+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프라임달러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뉴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알차고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행복한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당당한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인생간편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약속플러스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더블찬스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Ⅱ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마이초이스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우리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하는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알뜰플러스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채우는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335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간편고지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백만인을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위한달러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간편더사랑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모아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MAX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원픽 간편가입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하나로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연결된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밸류플러스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 </a:t>
                      </a: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종</a:t>
                      </a:r>
                      <a:endParaRPr lang="en-US" alt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95134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최고가입나이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56,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62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미판매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67,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54,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미판매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미판매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미판매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75,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75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63,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67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67,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53,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56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55,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64,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68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153998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적용이율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0.75%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2.25%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1.00%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3.25%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1.00%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2.40%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2.60%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1.20%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69761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보험료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2,162,000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$2,016.70</a:t>
                      </a:r>
                      <a:endParaRPr lang="ko-KR" altLang="en-US" sz="8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2,043,000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2,303,000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2,736,000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672" marR="7672" marT="7672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1,526.70$</a:t>
                      </a:r>
                      <a:endParaRPr lang="ko-KR" altLang="en-US" sz="7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2,475,000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3,107,600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1,713,000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1,674,000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1,782,000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496646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환급률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98.2%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93.0%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99.7%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99.9%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95.8%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672" marR="7672" marT="7672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98.4%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96.0%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90.0%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96.9%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96.0%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99.4%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817788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122.4%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672" marR="7672" marT="7672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122.0%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118.5%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120.5%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119.1%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03792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23654FA-80BD-4D65-8C05-384DA32A0A42}"/>
              </a:ext>
            </a:extLst>
          </p:cNvPr>
          <p:cNvSpPr txBox="1"/>
          <p:nvPr/>
        </p:nvSpPr>
        <p:spPr>
          <a:xfrm>
            <a:off x="227996" y="1071187"/>
            <a:ext cx="117089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기준 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: 40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세 남자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주계약 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억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외화보험 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7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만 달러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900" spc="-80" dirty="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9" name="직선 연결선[R] 7">
            <a:extLst>
              <a:ext uri="{FF2B5EF4-FFF2-40B4-BE49-F238E27FC236}">
                <a16:creationId xmlns:a16="http://schemas.microsoft.com/office/drawing/2014/main" id="{28F85B2B-EBFF-1923-3D10-A0A083BE5DA1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16">
            <a:extLst>
              <a:ext uri="{FF2B5EF4-FFF2-40B4-BE49-F238E27FC236}">
                <a16:creationId xmlns:a16="http://schemas.microsoft.com/office/drawing/2014/main" id="{9A121B22-BC94-EEFC-B0E3-6723656D3A39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75857B-67F7-1682-E6FC-FDCABAD98187}"/>
              </a:ext>
            </a:extLst>
          </p:cNvPr>
          <p:cNvSpPr txBox="1"/>
          <p:nvPr/>
        </p:nvSpPr>
        <p:spPr>
          <a:xfrm>
            <a:off x="3569850" y="560911"/>
            <a:ext cx="289310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단기납종신보험 비교표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(5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년납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72D6E7-26DA-9DFC-60BC-A1C27C1B9342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2A6A3-15D0-64C4-8886-7943BC9EDFAE}"/>
              </a:ext>
            </a:extLst>
          </p:cNvPr>
          <p:cNvSpPr txBox="1"/>
          <p:nvPr/>
        </p:nvSpPr>
        <p:spPr>
          <a:xfrm>
            <a:off x="572650" y="510111"/>
            <a:ext cx="2783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단기납종신 납기별 </a:t>
            </a:r>
            <a:r>
              <a:rPr kumimoji="1" lang="ko-KR" altLang="en-US" sz="2000" dirty="0" err="1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환급률</a:t>
            </a:r>
            <a:endParaRPr kumimoji="1" lang="ko-KR" altLang="en-US" sz="2000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5019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A6E8673-011E-48FF-BDF8-857D9D816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951905"/>
              </p:ext>
            </p:extLst>
          </p:nvPr>
        </p:nvGraphicFramePr>
        <p:xfrm>
          <a:off x="255052" y="1306652"/>
          <a:ext cx="11681896" cy="2543152"/>
        </p:xfrm>
        <a:graphic>
          <a:graphicData uri="http://schemas.openxmlformats.org/drawingml/2006/table">
            <a:tbl>
              <a:tblPr/>
              <a:tblGrid>
                <a:gridCol w="440948">
                  <a:extLst>
                    <a:ext uri="{9D8B030D-6E8A-4147-A177-3AD203B41FA5}">
                      <a16:colId xmlns:a16="http://schemas.microsoft.com/office/drawing/2014/main" val="1686344028"/>
                    </a:ext>
                  </a:extLst>
                </a:gridCol>
                <a:gridCol w="440948">
                  <a:extLst>
                    <a:ext uri="{9D8B030D-6E8A-4147-A177-3AD203B41FA5}">
                      <a16:colId xmlns:a16="http://schemas.microsoft.com/office/drawing/2014/main" val="166180470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4164995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5892541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8780704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0870681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04264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11904578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6333524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500713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34116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590842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60481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183459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2021581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4178639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77344583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EF3B24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일반심사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ABL</a:t>
                      </a:r>
                      <a:r>
                        <a:rPr lang="ko-KR" alt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생명</a:t>
                      </a:r>
                      <a:endParaRPr lang="en-US" sz="1000" b="0" i="0" kern="1200" spc="-120" dirty="0">
                        <a:solidFill>
                          <a:srgbClr val="EE3124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AIA</a:t>
                      </a:r>
                      <a:r>
                        <a:rPr lang="ko-KR" alt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D31045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DB</a:t>
                      </a:r>
                      <a:r>
                        <a:rPr lang="ko-KR" alt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854A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iM</a:t>
                      </a:r>
                      <a:r>
                        <a:rPr lang="ko-KR" altLang="en-US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00C7A9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KB</a:t>
                      </a:r>
                      <a:r>
                        <a:rPr lang="ko-KR" alt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FFBC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KDB</a:t>
                      </a:r>
                      <a:r>
                        <a:rPr lang="ko-KR" alt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3C7F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C419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농협생명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599D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동양생명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CAF17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61A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메트라이프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3CDC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삼성생명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665DC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신한라이프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85AE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푸본현대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9178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하나생명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3732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한화생명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467606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상품명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안심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+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프라임달러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뉴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알차고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행복한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당당한인생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약속플러스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더블찬스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Ⅱ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마이초이스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우리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하는</a:t>
                      </a:r>
                      <a:br>
                        <a:rPr 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알뜰플러스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채우는　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백만인을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위한달러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더행복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모아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MAX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원픽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하나로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연결된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밸류플러스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 </a:t>
                      </a: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종</a:t>
                      </a:r>
                      <a:endParaRPr lang="en-US" alt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4691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최고가입나이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66,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66,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59,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64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미판매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65,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69,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62,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66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62,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66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69,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74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955510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적용이율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0.75%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2.25%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2.25%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3.25%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2.40%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2.60%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1.20%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215645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보험료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1,477,000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$1,353.10</a:t>
                      </a:r>
                      <a:endParaRPr lang="ko-KR" altLang="en-US" sz="8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1,454,000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1,471,000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1,612,000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1,915,000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1,070,000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1,423,000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1,111.60$</a:t>
                      </a:r>
                      <a:endParaRPr lang="ko-KR" altLang="en-US" sz="7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1,751,000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2,249,800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1,243,000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1,185,000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1,258,000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086737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환급률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7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99.1%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90.0%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934223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117.6%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124.9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116.5%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117.4%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116.9%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114.4%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40404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117.6%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117.6%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124.8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117.6%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117.6%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117.2%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02908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E40D2EB-2B0F-41D0-A00A-F1A617130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526524"/>
              </p:ext>
            </p:extLst>
          </p:nvPr>
        </p:nvGraphicFramePr>
        <p:xfrm>
          <a:off x="255052" y="3934634"/>
          <a:ext cx="11681896" cy="2542977"/>
        </p:xfrm>
        <a:graphic>
          <a:graphicData uri="http://schemas.openxmlformats.org/drawingml/2006/table">
            <a:tbl>
              <a:tblPr/>
              <a:tblGrid>
                <a:gridCol w="440948">
                  <a:extLst>
                    <a:ext uri="{9D8B030D-6E8A-4147-A177-3AD203B41FA5}">
                      <a16:colId xmlns:a16="http://schemas.microsoft.com/office/drawing/2014/main" val="2244192403"/>
                    </a:ext>
                  </a:extLst>
                </a:gridCol>
                <a:gridCol w="440948">
                  <a:extLst>
                    <a:ext uri="{9D8B030D-6E8A-4147-A177-3AD203B41FA5}">
                      <a16:colId xmlns:a16="http://schemas.microsoft.com/office/drawing/2014/main" val="25441146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4114252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8801625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063718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119655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6759958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932225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2016303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595704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8454045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19305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55491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4679893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62912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294786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04010852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EF3B24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간편심사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7497" marR="7497" marT="7497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ABL</a:t>
                      </a:r>
                      <a:r>
                        <a:rPr lang="ko-KR" alt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생명</a:t>
                      </a:r>
                      <a:endParaRPr lang="en-US" sz="1000" b="0" i="0" kern="1200" spc="-120" dirty="0">
                        <a:solidFill>
                          <a:srgbClr val="EE3124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AIA</a:t>
                      </a:r>
                      <a:r>
                        <a:rPr lang="ko-KR" alt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D31045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DB</a:t>
                      </a:r>
                      <a:r>
                        <a:rPr lang="ko-KR" alt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854A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iM</a:t>
                      </a:r>
                      <a:r>
                        <a:rPr lang="ko-KR" altLang="en-US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00C7A9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KB</a:t>
                      </a:r>
                      <a:r>
                        <a:rPr lang="ko-KR" alt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FFBC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KDB</a:t>
                      </a:r>
                      <a:r>
                        <a:rPr lang="ko-KR" alt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3C7F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C419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농협생명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599D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동양생명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CAF17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61A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메트라이프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3CDC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삼성생명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665DC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신한라이프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85AE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푸본현대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9178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하나생명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3732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한화생명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80750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상품명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안심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+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프라임달러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뉴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알차고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행복한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당당한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인생간편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약속플러스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더블찬스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Ⅱ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마이초이스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우리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하는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알뜰플러스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채우는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335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간편고지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백만인을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위한달러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간편더사랑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모아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MAX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원픽 간편가입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하나로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연결된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밸류플러스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 </a:t>
                      </a: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종</a:t>
                      </a:r>
                      <a:endParaRPr lang="en-US" alt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95134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최고가입나이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63,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69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73,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73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66,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56,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62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미판매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64,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69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73,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73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63,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67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67,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65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57,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62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69,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74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215461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적용이율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0.75%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2.25%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2.25%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3.25%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2.40%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2.60%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1.20%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69761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보험료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1,601,000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$1,481.20</a:t>
                      </a:r>
                      <a:endParaRPr lang="ko-KR" altLang="en-US" sz="8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1,521,000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1,506,000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1,652,000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1,956,000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1,110,000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1,530,000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1,130.50$</a:t>
                      </a:r>
                      <a:endParaRPr lang="ko-KR" altLang="en-US" sz="7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1,833,000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2,321,100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1,282,000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1,262,000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1,308,000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496646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환급률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7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98.3%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99.7%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90.0%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817788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117.6%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122.8%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116.3%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116.8%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114.4%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116.1%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117.6%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121.8%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116.2%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117.6%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117.6%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117.7%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116.1%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037920"/>
                  </a:ext>
                </a:extLst>
              </a:tr>
            </a:tbl>
          </a:graphicData>
        </a:graphic>
      </p:graphicFrame>
      <p:cxnSp>
        <p:nvCxnSpPr>
          <p:cNvPr id="9" name="직선 연결선[R] 7">
            <a:extLst>
              <a:ext uri="{FF2B5EF4-FFF2-40B4-BE49-F238E27FC236}">
                <a16:creationId xmlns:a16="http://schemas.microsoft.com/office/drawing/2014/main" id="{950D85B2-5DAB-79EB-432B-A3CDEFA0EC38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6">
            <a:extLst>
              <a:ext uri="{FF2B5EF4-FFF2-40B4-BE49-F238E27FC236}">
                <a16:creationId xmlns:a16="http://schemas.microsoft.com/office/drawing/2014/main" id="{748C1582-D99A-CEB9-DC07-A7991B377898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272A8F-29D5-5514-5D57-EE50E64CD132}"/>
              </a:ext>
            </a:extLst>
          </p:cNvPr>
          <p:cNvSpPr txBox="1"/>
          <p:nvPr/>
        </p:nvSpPr>
        <p:spPr>
          <a:xfrm>
            <a:off x="3569850" y="560911"/>
            <a:ext cx="289310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단기납종신보험 비교표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(7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년납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89B747-A52D-D8A9-DF85-B94272353B07}"/>
              </a:ext>
            </a:extLst>
          </p:cNvPr>
          <p:cNvSpPr txBox="1"/>
          <p:nvPr/>
        </p:nvSpPr>
        <p:spPr>
          <a:xfrm>
            <a:off x="255052" y="1071187"/>
            <a:ext cx="116818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기준 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: 40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세 남자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주계약 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억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외화보험 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7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만 달러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900" spc="-80" dirty="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21DFE-CFA4-AC82-CCB2-78A7F73BCBDD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3131C-1224-91F3-91BB-A6E9F09AAD50}"/>
              </a:ext>
            </a:extLst>
          </p:cNvPr>
          <p:cNvSpPr txBox="1"/>
          <p:nvPr/>
        </p:nvSpPr>
        <p:spPr>
          <a:xfrm>
            <a:off x="572650" y="510111"/>
            <a:ext cx="2783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단기납종신 납기별 </a:t>
            </a:r>
            <a:r>
              <a:rPr kumimoji="1" lang="ko-KR" altLang="en-US" sz="2000" dirty="0" err="1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환급률</a:t>
            </a:r>
            <a:endParaRPr kumimoji="1" lang="ko-KR" altLang="en-US" sz="2000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2414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2E670FA-385C-455F-9849-355DEAFB8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308895"/>
              </p:ext>
            </p:extLst>
          </p:nvPr>
        </p:nvGraphicFramePr>
        <p:xfrm>
          <a:off x="255052" y="1306652"/>
          <a:ext cx="11681896" cy="2543152"/>
        </p:xfrm>
        <a:graphic>
          <a:graphicData uri="http://schemas.openxmlformats.org/drawingml/2006/table">
            <a:tbl>
              <a:tblPr/>
              <a:tblGrid>
                <a:gridCol w="440948">
                  <a:extLst>
                    <a:ext uri="{9D8B030D-6E8A-4147-A177-3AD203B41FA5}">
                      <a16:colId xmlns:a16="http://schemas.microsoft.com/office/drawing/2014/main" val="1686344028"/>
                    </a:ext>
                  </a:extLst>
                </a:gridCol>
                <a:gridCol w="440948">
                  <a:extLst>
                    <a:ext uri="{9D8B030D-6E8A-4147-A177-3AD203B41FA5}">
                      <a16:colId xmlns:a16="http://schemas.microsoft.com/office/drawing/2014/main" val="166180470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4164995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342253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8780704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0870681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404264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11904578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6333524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500713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234116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5908427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60481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183459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2021581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41786399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77344583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EF3B24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일반심사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ABL</a:t>
                      </a:r>
                      <a:r>
                        <a:rPr lang="ko-KR" alt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생명</a:t>
                      </a:r>
                      <a:endParaRPr lang="en-US" sz="1000" b="0" i="0" kern="1200" spc="-120" dirty="0">
                        <a:solidFill>
                          <a:srgbClr val="EE3124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AIA</a:t>
                      </a:r>
                      <a:r>
                        <a:rPr lang="ko-KR" alt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D31045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DB</a:t>
                      </a:r>
                      <a:r>
                        <a:rPr lang="ko-KR" alt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854A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iM</a:t>
                      </a:r>
                      <a:r>
                        <a:rPr lang="ko-KR" altLang="en-US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00C7A9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KB</a:t>
                      </a:r>
                      <a:r>
                        <a:rPr lang="ko-KR" alt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FFBC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KDB</a:t>
                      </a:r>
                      <a:r>
                        <a:rPr lang="ko-KR" alt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3C7F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C419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농협생명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599D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동양생명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CAF17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61A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메트라이프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3CDC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삼성생명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665DC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신한라이프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85AE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푸본현대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9178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하나생명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3732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한화생명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467606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상품명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안심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+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프라임달러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뉴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알차고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행복한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당당한인생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약속플러스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더블찬스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Ⅱ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마이초이스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우리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하는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알뜰플러스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채우는　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백만인을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위한달러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더행복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모아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MAX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원픽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하나로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연결된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밸류플러스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 </a:t>
                      </a: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종</a:t>
                      </a:r>
                      <a:endParaRPr lang="en-US" alt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46912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최고가입나이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71,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75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미판매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64,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64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65,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65,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69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미판매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65,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69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66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095169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적용이율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0.75%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2.60%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2.25%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3.25%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2.40%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2.60%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1.20%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215645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보험료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1,032,000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$997.90</a:t>
                      </a:r>
                      <a:endParaRPr lang="ko-KR" altLang="en-US" sz="8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1,017,000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1,144,000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1,351,000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573,000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790,000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1,040,000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809.90$</a:t>
                      </a:r>
                      <a:endParaRPr lang="ko-KR" altLang="en-US" sz="7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1,265,000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1,625,700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863,000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930,000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086737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환급률</a:t>
                      </a:r>
                    </a:p>
                  </a:txBody>
                  <a:tcPr marL="7672" marR="7672" marT="7672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43.9%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39.4%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42.8%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41.5%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39.8%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36.1%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40.0%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38.7%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934223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112.5%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117.8%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110.3%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112.7%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109.7%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112.8%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113.5%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113.5%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120.8%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113.3%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113.5%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113.5%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112.3%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029082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EBA2ECD-07D1-4C3F-83FC-80F614C3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138540"/>
              </p:ext>
            </p:extLst>
          </p:nvPr>
        </p:nvGraphicFramePr>
        <p:xfrm>
          <a:off x="255052" y="3934634"/>
          <a:ext cx="11681896" cy="2542977"/>
        </p:xfrm>
        <a:graphic>
          <a:graphicData uri="http://schemas.openxmlformats.org/drawingml/2006/table">
            <a:tbl>
              <a:tblPr/>
              <a:tblGrid>
                <a:gridCol w="440948">
                  <a:extLst>
                    <a:ext uri="{9D8B030D-6E8A-4147-A177-3AD203B41FA5}">
                      <a16:colId xmlns:a16="http://schemas.microsoft.com/office/drawing/2014/main" val="2244192403"/>
                    </a:ext>
                  </a:extLst>
                </a:gridCol>
                <a:gridCol w="440948">
                  <a:extLst>
                    <a:ext uri="{9D8B030D-6E8A-4147-A177-3AD203B41FA5}">
                      <a16:colId xmlns:a16="http://schemas.microsoft.com/office/drawing/2014/main" val="25441146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4114252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0139414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063718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119655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6759958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932225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2016303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595704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8454045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919305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955491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4679893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662912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294786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04010852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EF3B24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간편심사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7497" marR="7497" marT="7497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ABL</a:t>
                      </a:r>
                      <a:r>
                        <a:rPr lang="ko-KR" altLang="en-US" sz="1000" b="0" i="0" kern="1200" spc="-120" dirty="0">
                          <a:solidFill>
                            <a:srgbClr val="EE3124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생명</a:t>
                      </a:r>
                      <a:endParaRPr lang="en-US" sz="1000" b="0" i="0" kern="1200" spc="-120" dirty="0">
                        <a:solidFill>
                          <a:srgbClr val="EE3124"/>
                        </a:solidFill>
                        <a:latin typeface="페이퍼로지 6 SemiBold" pitchFamily="2" charset="-127"/>
                        <a:ea typeface="페이퍼로지 6 Semi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AIA</a:t>
                      </a:r>
                      <a:r>
                        <a:rPr lang="ko-KR" altLang="en-US" sz="1000" b="0" i="0" u="none" strike="noStrike" dirty="0">
                          <a:solidFill>
                            <a:srgbClr val="D31045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D31045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DB</a:t>
                      </a:r>
                      <a:r>
                        <a:rPr lang="ko-KR" altLang="en-US" sz="1000" b="0" i="0" u="none" strike="noStrike" dirty="0">
                          <a:solidFill>
                            <a:srgbClr val="00854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854A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iM</a:t>
                      </a:r>
                      <a:r>
                        <a:rPr lang="ko-KR" altLang="en-US" sz="1000" b="0" i="0" u="none" strike="noStrike" dirty="0">
                          <a:solidFill>
                            <a:srgbClr val="00C7A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00C7A9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KB</a:t>
                      </a:r>
                      <a:r>
                        <a:rPr lang="ko-KR" altLang="en-US" sz="1000" b="0" i="0" u="none" strike="noStrike" dirty="0">
                          <a:solidFill>
                            <a:srgbClr val="FFBC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라이프</a:t>
                      </a:r>
                      <a:endParaRPr lang="en-US" sz="1000" b="0" i="0" u="none" strike="noStrike" dirty="0">
                        <a:solidFill>
                          <a:srgbClr val="FFBC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KDB</a:t>
                      </a:r>
                      <a:r>
                        <a:rPr lang="ko-KR" altLang="en-US" sz="1000" b="0" i="0" u="none" strike="noStrike" dirty="0">
                          <a:solidFill>
                            <a:srgbClr val="003C7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생명</a:t>
                      </a:r>
                      <a:endParaRPr lang="en-US" sz="1000" b="0" i="0" u="none" strike="noStrike" dirty="0">
                        <a:solidFill>
                          <a:srgbClr val="003C7F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C419A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농협생명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599D9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동양생명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CAF17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라이나생명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61A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메트라이프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3CDC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삼성생명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665DCF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신한라이프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85AE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푸본현대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9178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하나생명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F37321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한화생명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80750"/>
                  </a:ext>
                </a:extLst>
              </a:tr>
              <a:tr h="36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상품명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안심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+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프라임달러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뉴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알차고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행복한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당당한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인생간편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약속플러스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더블찬스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Ⅱ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마이초이스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우리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WON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하는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알뜰플러스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채우는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335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간편고지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백만인을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위한달러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간편더사랑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모아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더드림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Plus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MAX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원픽 간편가입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하나로</a:t>
                      </a:r>
                      <a:b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THE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연결된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밸류플러스</a:t>
                      </a:r>
                      <a:b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 </a:t>
                      </a:r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종</a:t>
                      </a:r>
                      <a:endParaRPr lang="en-US" alt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951343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최고가입나이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69,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75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미판매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64,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64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64,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69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66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67,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70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미판매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60,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65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남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64 </a:t>
                      </a:r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여 </a:t>
                      </a: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69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650414"/>
                  </a:ext>
                </a:extLst>
              </a:tr>
              <a:tr h="54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적용이율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3.00%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0.75%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2.50%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1.50%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2.60%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2.25%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3.25%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1.00%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2.40%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2.60%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1.30%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1.75%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년↓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2.75%</a:t>
                      </a:r>
                      <a:b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</a:t>
                      </a:r>
                      <a:r>
                        <a:rPr lang="ko-KR" altLang="en-US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년↑</a:t>
                      </a:r>
                      <a:r>
                        <a:rPr lang="en-US" altLang="ko-KR" sz="8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1.20%</a:t>
                      </a: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697611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보험료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1,122,000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$1,071.70</a:t>
                      </a:r>
                      <a:endParaRPr lang="ko-KR" altLang="en-US" sz="8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672" marR="7672" marT="7672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1,067,000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1,175,000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1,380,000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591,000</a:t>
                      </a:r>
                      <a:r>
                        <a:rPr lang="ko-KR" altLang="en-US" sz="85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810,000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1,116,000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823.20$</a:t>
                      </a:r>
                      <a:endParaRPr lang="ko-KR" altLang="en-US" sz="75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1,329,000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1,683,100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922,000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972,000</a:t>
                      </a:r>
                      <a:r>
                        <a:rPr lang="ko-KR" altLang="en-US" sz="85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원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496646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환급률</a:t>
                      </a:r>
                    </a:p>
                  </a:txBody>
                  <a:tcPr marL="7497" marR="7497" marT="7497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5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41.4%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42.9%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39.2%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42.7%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41.5%</a:t>
                      </a:r>
                      <a:endParaRPr lang="ko-KR" altLang="en-US" sz="900" b="0" i="0" u="none" strike="noStrike" dirty="0">
                        <a:solidFill>
                          <a:srgbClr val="404040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39.9%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40.6%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36.1%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40.7%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37.8%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41.4%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41,.3%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817788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년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111.6%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115.8%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109.9%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112.5%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109.7%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112.8%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112.0%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113.5%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페이퍼로지 6 SemiBold" pitchFamily="2" charset="-127"/>
                          <a:ea typeface="페이퍼로지 6 SemiBold" pitchFamily="2" charset="-127"/>
                        </a:rPr>
                        <a:t>117.9%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112.2%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113.5%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　</a:t>
                      </a:r>
                    </a:p>
                  </a:txBody>
                  <a:tcPr marL="7497" marR="7497" marT="7497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113.5%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110.7%</a:t>
                      </a:r>
                    </a:p>
                  </a:txBody>
                  <a:tcPr marL="7497" marR="7497" marT="7497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037920"/>
                  </a:ext>
                </a:extLst>
              </a:tr>
            </a:tbl>
          </a:graphicData>
        </a:graphic>
      </p:graphicFrame>
      <p:cxnSp>
        <p:nvCxnSpPr>
          <p:cNvPr id="9" name="직선 연결선[R] 7">
            <a:extLst>
              <a:ext uri="{FF2B5EF4-FFF2-40B4-BE49-F238E27FC236}">
                <a16:creationId xmlns:a16="http://schemas.microsoft.com/office/drawing/2014/main" id="{D303693A-17E0-947E-DCBC-3D013FA62948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16">
            <a:extLst>
              <a:ext uri="{FF2B5EF4-FFF2-40B4-BE49-F238E27FC236}">
                <a16:creationId xmlns:a16="http://schemas.microsoft.com/office/drawing/2014/main" id="{5A28A754-67AA-1544-8485-2B70DD967C81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817AA6-48D9-5CD6-92D6-DB07DD9FE600}"/>
              </a:ext>
            </a:extLst>
          </p:cNvPr>
          <p:cNvSpPr txBox="1"/>
          <p:nvPr/>
        </p:nvSpPr>
        <p:spPr>
          <a:xfrm>
            <a:off x="3569850" y="560911"/>
            <a:ext cx="299665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단기납종신보험 비교표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(10</a:t>
            </a:r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년납</a:t>
            </a:r>
            <a:r>
              <a:rPr kumimoji="1" lang="en-US" altLang="ko-KR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0CC49-0AA2-D65E-F384-61483B715B4C}"/>
              </a:ext>
            </a:extLst>
          </p:cNvPr>
          <p:cNvSpPr txBox="1"/>
          <p:nvPr/>
        </p:nvSpPr>
        <p:spPr>
          <a:xfrm>
            <a:off x="255050" y="1071187"/>
            <a:ext cx="116818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※ 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기준 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: 40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세 남자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주계약 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억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외화보험 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7</a:t>
            </a:r>
            <a:r>
              <a:rPr lang="ko-KR" altLang="en-US" sz="900" spc="-80" dirty="0">
                <a:latin typeface="페이퍼로지 4 Regular" pitchFamily="2" charset="-127"/>
                <a:ea typeface="페이퍼로지 4 Regular" pitchFamily="2" charset="-127"/>
              </a:rPr>
              <a:t>만 달러</a:t>
            </a:r>
            <a:r>
              <a:rPr lang="en-US" altLang="ko-KR" sz="900" spc="-8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900" spc="-80" dirty="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3A9A2-194F-FDB7-BBF2-D4C10EA3F047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E3774-F0B9-A8C4-CF68-8C52DAB6BE29}"/>
              </a:ext>
            </a:extLst>
          </p:cNvPr>
          <p:cNvSpPr txBox="1"/>
          <p:nvPr/>
        </p:nvSpPr>
        <p:spPr>
          <a:xfrm>
            <a:off x="572650" y="510111"/>
            <a:ext cx="2783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단기납종신 납기별 </a:t>
            </a:r>
            <a:r>
              <a:rPr kumimoji="1" lang="ko-KR" altLang="en-US" sz="2000" dirty="0" err="1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환급률</a:t>
            </a:r>
            <a:endParaRPr kumimoji="1" lang="ko-KR" altLang="en-US" sz="2000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418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BD422-8213-E22D-D888-63EE089C8006}"/>
              </a:ext>
            </a:extLst>
          </p:cNvPr>
          <p:cNvSpPr txBox="1"/>
          <p:nvPr/>
        </p:nvSpPr>
        <p:spPr>
          <a:xfrm>
            <a:off x="0" y="3269762"/>
            <a:ext cx="12192000" cy="739754"/>
          </a:xfrm>
          <a:prstGeom prst="rect">
            <a:avLst/>
          </a:prstGeom>
          <a:noFill/>
        </p:spPr>
        <p:txBody>
          <a:bodyPr wrap="square" lIns="90000" tIns="46800" rIns="90000" bIns="0" rtlCol="0" anchor="t" anchorCtr="0">
            <a:spAutoFit/>
          </a:bodyPr>
          <a:lstStyle/>
          <a:p>
            <a:pPr algn="ctr"/>
            <a:r>
              <a:rPr lang="ko-KR" altLang="en-US" sz="45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rgbClr val="D6A64F"/>
                </a:solidFill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한국보험금융</a:t>
            </a:r>
            <a:r>
              <a:rPr lang="ko-KR" altLang="en-US" sz="4500" b="1" spc="-12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온라인교육센터 활용법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189A7F9-7E18-BAF8-BD4F-61719F65A50F}"/>
              </a:ext>
            </a:extLst>
          </p:cNvPr>
          <p:cNvSpPr/>
          <p:nvPr/>
        </p:nvSpPr>
        <p:spPr>
          <a:xfrm>
            <a:off x="4182533" y="2777744"/>
            <a:ext cx="3826934" cy="32545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1600" spc="-8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 Medium" panose="020B0200000000000000" pitchFamily="34" charset="-128"/>
                <a:ea typeface="Noto Sans KR Medium" panose="020B0200000000000000" pitchFamily="34" charset="-128"/>
              </a:rPr>
              <a:t>사용가이드</a:t>
            </a:r>
            <a:endParaRPr lang="en-US" altLang="ko-KR" sz="1600" spc="-8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bg1"/>
              </a:solidFill>
              <a:latin typeface="Noto Sans KR Medium" panose="020B0200000000000000" pitchFamily="34" charset="-128"/>
              <a:ea typeface="Noto Sans KR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5529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7">
            <a:extLst>
              <a:ext uri="{FF2B5EF4-FFF2-40B4-BE49-F238E27FC236}">
                <a16:creationId xmlns:a16="http://schemas.microsoft.com/office/drawing/2014/main" id="{506AF4DF-5878-F05E-E138-9B7CAE0A281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16">
            <a:extLst>
              <a:ext uri="{FF2B5EF4-FFF2-40B4-BE49-F238E27FC236}">
                <a16:creationId xmlns:a16="http://schemas.microsoft.com/office/drawing/2014/main" id="{166C67FF-F13C-345D-FB69-1289F54B2D9A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8D80D9-A9B4-4A79-E760-53834F3B6407}"/>
              </a:ext>
            </a:extLst>
          </p:cNvPr>
          <p:cNvSpPr txBox="1"/>
          <p:nvPr/>
        </p:nvSpPr>
        <p:spPr>
          <a:xfrm>
            <a:off x="3569850" y="560911"/>
            <a:ext cx="22326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온라인교육센터 매뉴얼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4C1FBAE-D9AA-8A81-1D6A-011265C847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5285" y="1425034"/>
            <a:ext cx="8661431" cy="487205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D27885-EA81-F36B-576E-60AD050B5CF2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5E461-0DBC-C888-889B-F740CA20B945}"/>
              </a:ext>
            </a:extLst>
          </p:cNvPr>
          <p:cNvSpPr txBox="1"/>
          <p:nvPr/>
        </p:nvSpPr>
        <p:spPr>
          <a:xfrm>
            <a:off x="572650" y="510111"/>
            <a:ext cx="250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온라인교육센터 활용법</a:t>
            </a:r>
          </a:p>
        </p:txBody>
      </p:sp>
    </p:spTree>
    <p:extLst>
      <p:ext uri="{BB962C8B-B14F-4D97-AF65-F5344CB8AC3E}">
        <p14:creationId xmlns:p14="http://schemas.microsoft.com/office/powerpoint/2010/main" val="2954782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7">
            <a:extLst>
              <a:ext uri="{FF2B5EF4-FFF2-40B4-BE49-F238E27FC236}">
                <a16:creationId xmlns:a16="http://schemas.microsoft.com/office/drawing/2014/main" id="{506AF4DF-5878-F05E-E138-9B7CAE0A281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16">
            <a:extLst>
              <a:ext uri="{FF2B5EF4-FFF2-40B4-BE49-F238E27FC236}">
                <a16:creationId xmlns:a16="http://schemas.microsoft.com/office/drawing/2014/main" id="{166C67FF-F13C-345D-FB69-1289F54B2D9A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8D80D9-A9B4-4A79-E760-53834F3B6407}"/>
              </a:ext>
            </a:extLst>
          </p:cNvPr>
          <p:cNvSpPr txBox="1"/>
          <p:nvPr/>
        </p:nvSpPr>
        <p:spPr>
          <a:xfrm>
            <a:off x="3569850" y="560911"/>
            <a:ext cx="22326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온라인교육센터 매뉴얼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4C1FBAE-D9AA-8A81-1D6A-011265C847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5285" y="1425034"/>
            <a:ext cx="8661431" cy="487205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1B6CF6-99BC-51FE-9964-DB4E70FEF20E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22328-E360-3639-7146-41B38A86BA42}"/>
              </a:ext>
            </a:extLst>
          </p:cNvPr>
          <p:cNvSpPr txBox="1"/>
          <p:nvPr/>
        </p:nvSpPr>
        <p:spPr>
          <a:xfrm>
            <a:off x="572650" y="510111"/>
            <a:ext cx="250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온라인교육센터 활용법</a:t>
            </a:r>
          </a:p>
        </p:txBody>
      </p:sp>
    </p:spTree>
    <p:extLst>
      <p:ext uri="{BB962C8B-B14F-4D97-AF65-F5344CB8AC3E}">
        <p14:creationId xmlns:p14="http://schemas.microsoft.com/office/powerpoint/2010/main" val="851968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7">
            <a:extLst>
              <a:ext uri="{FF2B5EF4-FFF2-40B4-BE49-F238E27FC236}">
                <a16:creationId xmlns:a16="http://schemas.microsoft.com/office/drawing/2014/main" id="{506AF4DF-5878-F05E-E138-9B7CAE0A281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16">
            <a:extLst>
              <a:ext uri="{FF2B5EF4-FFF2-40B4-BE49-F238E27FC236}">
                <a16:creationId xmlns:a16="http://schemas.microsoft.com/office/drawing/2014/main" id="{166C67FF-F13C-345D-FB69-1289F54B2D9A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8D80D9-A9B4-4A79-E760-53834F3B6407}"/>
              </a:ext>
            </a:extLst>
          </p:cNvPr>
          <p:cNvSpPr txBox="1"/>
          <p:nvPr/>
        </p:nvSpPr>
        <p:spPr>
          <a:xfrm>
            <a:off x="3569850" y="560911"/>
            <a:ext cx="22326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온라인교육센터 매뉴얼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4C1FBAE-D9AA-8A81-1D6A-011265C847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5286" y="1425034"/>
            <a:ext cx="8661429" cy="487205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76BE93-30C2-AF58-C11A-83B442C28BF5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B2A4B-CFFE-A2AA-C72C-0C87632A4F34}"/>
              </a:ext>
            </a:extLst>
          </p:cNvPr>
          <p:cNvSpPr txBox="1"/>
          <p:nvPr/>
        </p:nvSpPr>
        <p:spPr>
          <a:xfrm>
            <a:off x="572650" y="510111"/>
            <a:ext cx="250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온라인교육센터 활용법</a:t>
            </a:r>
          </a:p>
        </p:txBody>
      </p:sp>
    </p:spTree>
    <p:extLst>
      <p:ext uri="{BB962C8B-B14F-4D97-AF65-F5344CB8AC3E}">
        <p14:creationId xmlns:p14="http://schemas.microsoft.com/office/powerpoint/2010/main" val="3693668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7">
            <a:extLst>
              <a:ext uri="{FF2B5EF4-FFF2-40B4-BE49-F238E27FC236}">
                <a16:creationId xmlns:a16="http://schemas.microsoft.com/office/drawing/2014/main" id="{506AF4DF-5878-F05E-E138-9B7CAE0A281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16">
            <a:extLst>
              <a:ext uri="{FF2B5EF4-FFF2-40B4-BE49-F238E27FC236}">
                <a16:creationId xmlns:a16="http://schemas.microsoft.com/office/drawing/2014/main" id="{166C67FF-F13C-345D-FB69-1289F54B2D9A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8D80D9-A9B4-4A79-E760-53834F3B6407}"/>
              </a:ext>
            </a:extLst>
          </p:cNvPr>
          <p:cNvSpPr txBox="1"/>
          <p:nvPr/>
        </p:nvSpPr>
        <p:spPr>
          <a:xfrm>
            <a:off x="3569850" y="560911"/>
            <a:ext cx="22326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온라인교육센터 매뉴얼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4C1FBAE-D9AA-8A81-1D6A-011265C847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5286" y="1425034"/>
            <a:ext cx="8661429" cy="487205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D236E5-CF8D-CA4D-FF6C-4A86274A306C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C3612-32E9-32A5-7F86-E6F69108C97E}"/>
              </a:ext>
            </a:extLst>
          </p:cNvPr>
          <p:cNvSpPr txBox="1"/>
          <p:nvPr/>
        </p:nvSpPr>
        <p:spPr>
          <a:xfrm>
            <a:off x="572650" y="510111"/>
            <a:ext cx="250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온라인교육센터 활용법</a:t>
            </a:r>
          </a:p>
        </p:txBody>
      </p:sp>
    </p:spTree>
    <p:extLst>
      <p:ext uri="{BB962C8B-B14F-4D97-AF65-F5344CB8AC3E}">
        <p14:creationId xmlns:p14="http://schemas.microsoft.com/office/powerpoint/2010/main" val="1331374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7">
            <a:extLst>
              <a:ext uri="{FF2B5EF4-FFF2-40B4-BE49-F238E27FC236}">
                <a16:creationId xmlns:a16="http://schemas.microsoft.com/office/drawing/2014/main" id="{506AF4DF-5878-F05E-E138-9B7CAE0A2819}"/>
              </a:ext>
            </a:extLst>
          </p:cNvPr>
          <p:cNvCxnSpPr>
            <a:cxnSpLocks/>
          </p:cNvCxnSpPr>
          <p:nvPr/>
        </p:nvCxnSpPr>
        <p:spPr>
          <a:xfrm>
            <a:off x="656165" y="935621"/>
            <a:ext cx="28575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16">
            <a:extLst>
              <a:ext uri="{FF2B5EF4-FFF2-40B4-BE49-F238E27FC236}">
                <a16:creationId xmlns:a16="http://schemas.microsoft.com/office/drawing/2014/main" id="{166C67FF-F13C-345D-FB69-1289F54B2D9A}"/>
              </a:ext>
            </a:extLst>
          </p:cNvPr>
          <p:cNvCxnSpPr>
            <a:cxnSpLocks/>
          </p:cNvCxnSpPr>
          <p:nvPr/>
        </p:nvCxnSpPr>
        <p:spPr>
          <a:xfrm>
            <a:off x="3653365" y="935621"/>
            <a:ext cx="796598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8D80D9-A9B4-4A79-E760-53834F3B6407}"/>
              </a:ext>
            </a:extLst>
          </p:cNvPr>
          <p:cNvSpPr txBox="1"/>
          <p:nvPr/>
        </p:nvSpPr>
        <p:spPr>
          <a:xfrm>
            <a:off x="3569850" y="560911"/>
            <a:ext cx="22326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700" spc="-80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온라인교육센터 매뉴얼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4C1FBAE-D9AA-8A81-1D6A-011265C847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5287" y="1425034"/>
            <a:ext cx="8661427" cy="487205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0A1755-51EB-74E6-EA5E-669B6E2A08C0}"/>
              </a:ext>
            </a:extLst>
          </p:cNvPr>
          <p:cNvSpPr txBox="1"/>
          <p:nvPr/>
        </p:nvSpPr>
        <p:spPr>
          <a:xfrm>
            <a:off x="585350" y="215034"/>
            <a:ext cx="819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상품전략</a:t>
            </a:r>
            <a:endParaRPr kumimoji="1" lang="ko-Kore-KR" altLang="en-US" sz="1400" b="1" dirty="0">
              <a:latin typeface="페이퍼로지 6 SemiBold" pitchFamily="2" charset="-127"/>
              <a:ea typeface="페이퍼로지 6 SemiBold" pitchFamily="2" charset="-127"/>
              <a:cs typeface="Cafe24 Ssurroun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D1162-EA6B-872B-E5DA-D9F8BCA4CEFF}"/>
              </a:ext>
            </a:extLst>
          </p:cNvPr>
          <p:cNvSpPr txBox="1"/>
          <p:nvPr/>
        </p:nvSpPr>
        <p:spPr>
          <a:xfrm>
            <a:off x="572650" y="510111"/>
            <a:ext cx="250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dirty="0">
                <a:latin typeface="페이퍼로지 6 SemiBold" pitchFamily="2" charset="-127"/>
                <a:ea typeface="페이퍼로지 6 SemiBold" pitchFamily="2" charset="-127"/>
                <a:cs typeface="Cafe24 Ssurround" pitchFamily="2" charset="-127"/>
              </a:rPr>
              <a:t>온라인교육센터 활용법</a:t>
            </a:r>
          </a:p>
        </p:txBody>
      </p:sp>
    </p:spTree>
    <p:extLst>
      <p:ext uri="{BB962C8B-B14F-4D97-AF65-F5344CB8AC3E}">
        <p14:creationId xmlns:p14="http://schemas.microsoft.com/office/powerpoint/2010/main" val="4188345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98FDF4-FD5D-4174-B044-7DFC54A5C72D}"/>
              </a:ext>
            </a:extLst>
          </p:cNvPr>
          <p:cNvSpPr txBox="1"/>
          <p:nvPr/>
        </p:nvSpPr>
        <p:spPr>
          <a:xfrm>
            <a:off x="2468859" y="2598003"/>
            <a:ext cx="72542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4800" spc="-150" dirty="0">
                <a:solidFill>
                  <a:prstClr val="black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감사합니다</a:t>
            </a:r>
            <a:r>
              <a:rPr lang="en-US" altLang="ko-KR" sz="4800" spc="-150" dirty="0">
                <a:solidFill>
                  <a:prstClr val="black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.</a:t>
            </a:r>
            <a:endParaRPr lang="ko-KR" altLang="en-US" sz="4800" spc="-150" dirty="0">
              <a:solidFill>
                <a:prstClr val="black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463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381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80980</TotalTime>
  <Words>4201</Words>
  <Application>Microsoft Office PowerPoint</Application>
  <PresentationFormat>와이드스크린</PresentationFormat>
  <Paragraphs>1318</Paragraphs>
  <Slides>31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53" baseType="lpstr">
      <vt:lpstr>Gmarket Sans TTF Bold</vt:lpstr>
      <vt:lpstr>Gmarket Sans TTF Medium</vt:lpstr>
      <vt:lpstr>G마켓 산스 Light</vt:lpstr>
      <vt:lpstr>G마켓 산스 TTF Bold</vt:lpstr>
      <vt:lpstr>Noto Sans KR</vt:lpstr>
      <vt:lpstr>Noto Sans KR Medium</vt:lpstr>
      <vt:lpstr>Noto Sans KR SemiBold</vt:lpstr>
      <vt:lpstr>Noto Serif KR</vt:lpstr>
      <vt:lpstr>나눔스퀘어 Bold</vt:lpstr>
      <vt:lpstr>마루 부리 아주가는</vt:lpstr>
      <vt:lpstr>맑은 고딕</vt:lpstr>
      <vt:lpstr>에스코어 드림 9 Black</vt:lpstr>
      <vt:lpstr>조선일보명조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페이퍼로지 9 Black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5551</cp:revision>
  <cp:lastPrinted>2026-03-26T07:31:44Z</cp:lastPrinted>
  <dcterms:created xsi:type="dcterms:W3CDTF">2025-02-17T05:51:41Z</dcterms:created>
  <dcterms:modified xsi:type="dcterms:W3CDTF">2026-10-01T01:08:37Z</dcterms:modified>
</cp:coreProperties>
</file>